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88" r:id="rId5"/>
  </p:sldMasterIdLst>
  <p:notesMasterIdLst>
    <p:notesMasterId r:id="rId116"/>
  </p:notesMasterIdLst>
  <p:sldIdLst>
    <p:sldId id="1777" r:id="rId6"/>
    <p:sldId id="2101" r:id="rId7"/>
    <p:sldId id="2104" r:id="rId8"/>
    <p:sldId id="1786" r:id="rId9"/>
    <p:sldId id="1970" r:id="rId10"/>
    <p:sldId id="1863" r:id="rId11"/>
    <p:sldId id="1914" r:id="rId12"/>
    <p:sldId id="1952" r:id="rId13"/>
    <p:sldId id="1971" r:id="rId14"/>
    <p:sldId id="1946" r:id="rId15"/>
    <p:sldId id="2065" r:id="rId16"/>
    <p:sldId id="2066" r:id="rId17"/>
    <p:sldId id="2108" r:id="rId18"/>
    <p:sldId id="1973" r:id="rId19"/>
    <p:sldId id="2061" r:id="rId20"/>
    <p:sldId id="2062" r:id="rId21"/>
    <p:sldId id="2063" r:id="rId22"/>
    <p:sldId id="2064" r:id="rId23"/>
    <p:sldId id="2075" r:id="rId24"/>
    <p:sldId id="2112" r:id="rId25"/>
    <p:sldId id="1974" r:id="rId26"/>
    <p:sldId id="1982" r:id="rId27"/>
    <p:sldId id="1898" r:id="rId28"/>
    <p:sldId id="1980" r:id="rId29"/>
    <p:sldId id="1983" r:id="rId30"/>
    <p:sldId id="1985" r:id="rId31"/>
    <p:sldId id="2003" r:id="rId32"/>
    <p:sldId id="1987" r:id="rId33"/>
    <p:sldId id="1900" r:id="rId34"/>
    <p:sldId id="2012" r:id="rId35"/>
    <p:sldId id="1994" r:id="rId36"/>
    <p:sldId id="2011" r:id="rId37"/>
    <p:sldId id="2109" r:id="rId38"/>
    <p:sldId id="1997" r:id="rId39"/>
    <p:sldId id="2044" r:id="rId40"/>
    <p:sldId id="1999" r:id="rId41"/>
    <p:sldId id="2000" r:id="rId42"/>
    <p:sldId id="2001" r:id="rId43"/>
    <p:sldId id="2002" r:id="rId44"/>
    <p:sldId id="2005" r:id="rId45"/>
    <p:sldId id="2007" r:id="rId46"/>
    <p:sldId id="2010" r:id="rId47"/>
    <p:sldId id="2034" r:id="rId48"/>
    <p:sldId id="2092" r:id="rId49"/>
    <p:sldId id="2080" r:id="rId50"/>
    <p:sldId id="2055" r:id="rId51"/>
    <p:sldId id="2040" r:id="rId52"/>
    <p:sldId id="2047" r:id="rId53"/>
    <p:sldId id="2046" r:id="rId54"/>
    <p:sldId id="2048" r:id="rId55"/>
    <p:sldId id="2049" r:id="rId56"/>
    <p:sldId id="2050" r:id="rId57"/>
    <p:sldId id="2051" r:id="rId58"/>
    <p:sldId id="2052" r:id="rId59"/>
    <p:sldId id="2053" r:id="rId60"/>
    <p:sldId id="2054" r:id="rId61"/>
    <p:sldId id="2082" r:id="rId62"/>
    <p:sldId id="2042" r:id="rId63"/>
    <p:sldId id="2084" r:id="rId64"/>
    <p:sldId id="2085" r:id="rId65"/>
    <p:sldId id="2086" r:id="rId66"/>
    <p:sldId id="2087" r:id="rId67"/>
    <p:sldId id="2088" r:id="rId68"/>
    <p:sldId id="2090" r:id="rId69"/>
    <p:sldId id="2039" r:id="rId70"/>
    <p:sldId id="2099" r:id="rId71"/>
    <p:sldId id="2091" r:id="rId72"/>
    <p:sldId id="2093" r:id="rId73"/>
    <p:sldId id="2094" r:id="rId74"/>
    <p:sldId id="2095" r:id="rId75"/>
    <p:sldId id="2096" r:id="rId76"/>
    <p:sldId id="2083" r:id="rId77"/>
    <p:sldId id="2098" r:id="rId78"/>
    <p:sldId id="2076" r:id="rId79"/>
    <p:sldId id="2077" r:id="rId80"/>
    <p:sldId id="2078" r:id="rId81"/>
    <p:sldId id="2079" r:id="rId82"/>
    <p:sldId id="2081" r:id="rId83"/>
    <p:sldId id="2038" r:id="rId84"/>
    <p:sldId id="2097" r:id="rId85"/>
    <p:sldId id="2035" r:id="rId86"/>
    <p:sldId id="2037" r:id="rId87"/>
    <p:sldId id="2036" r:id="rId88"/>
    <p:sldId id="1988" r:id="rId89"/>
    <p:sldId id="1912" r:id="rId90"/>
    <p:sldId id="1967" r:id="rId91"/>
    <p:sldId id="2013" r:id="rId92"/>
    <p:sldId id="2009" r:id="rId93"/>
    <p:sldId id="2022" r:id="rId94"/>
    <p:sldId id="2014" r:id="rId95"/>
    <p:sldId id="2016" r:id="rId96"/>
    <p:sldId id="2017" r:id="rId97"/>
    <p:sldId id="2029" r:id="rId98"/>
    <p:sldId id="2018" r:id="rId99"/>
    <p:sldId id="2032" r:id="rId100"/>
    <p:sldId id="2020" r:id="rId101"/>
    <p:sldId id="2021" r:id="rId102"/>
    <p:sldId id="2026" r:id="rId103"/>
    <p:sldId id="2025" r:id="rId104"/>
    <p:sldId id="2023" r:id="rId105"/>
    <p:sldId id="2024" r:id="rId106"/>
    <p:sldId id="2027" r:id="rId107"/>
    <p:sldId id="2028" r:id="rId108"/>
    <p:sldId id="2030" r:id="rId109"/>
    <p:sldId id="2031" r:id="rId110"/>
    <p:sldId id="2057" r:id="rId111"/>
    <p:sldId id="2058" r:id="rId112"/>
    <p:sldId id="2059" r:id="rId113"/>
    <p:sldId id="2060" r:id="rId114"/>
    <p:sldId id="1814" r:id="rId115"/>
  </p:sldIdLst>
  <p:sldSz cx="12192000" cy="6858000"/>
  <p:notesSz cx="6858000" cy="9144000"/>
  <p:defaultText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612E071-6E98-4C63-A20B-BC6D66FEDB70}">
          <p14:sldIdLst>
            <p14:sldId id="1777"/>
            <p14:sldId id="2101"/>
            <p14:sldId id="2104"/>
            <p14:sldId id="1786"/>
            <p14:sldId id="1970"/>
            <p14:sldId id="1863"/>
            <p14:sldId id="1914"/>
            <p14:sldId id="1952"/>
            <p14:sldId id="1971"/>
            <p14:sldId id="1946"/>
            <p14:sldId id="2065"/>
            <p14:sldId id="2066"/>
            <p14:sldId id="2108"/>
            <p14:sldId id="1973"/>
            <p14:sldId id="2061"/>
            <p14:sldId id="2062"/>
            <p14:sldId id="2063"/>
            <p14:sldId id="2064"/>
            <p14:sldId id="2075"/>
            <p14:sldId id="2112"/>
            <p14:sldId id="1974"/>
            <p14:sldId id="1982"/>
            <p14:sldId id="1898"/>
            <p14:sldId id="1980"/>
            <p14:sldId id="1983"/>
            <p14:sldId id="1985"/>
            <p14:sldId id="2003"/>
            <p14:sldId id="1987"/>
            <p14:sldId id="1900"/>
            <p14:sldId id="2012"/>
            <p14:sldId id="1994"/>
            <p14:sldId id="2011"/>
            <p14:sldId id="2109"/>
            <p14:sldId id="1997"/>
            <p14:sldId id="2044"/>
            <p14:sldId id="1999"/>
            <p14:sldId id="2000"/>
            <p14:sldId id="2001"/>
            <p14:sldId id="2002"/>
            <p14:sldId id="2005"/>
            <p14:sldId id="2007"/>
            <p14:sldId id="2010"/>
            <p14:sldId id="2034"/>
            <p14:sldId id="2092"/>
            <p14:sldId id="2080"/>
            <p14:sldId id="2055"/>
            <p14:sldId id="2040"/>
            <p14:sldId id="2047"/>
            <p14:sldId id="2046"/>
            <p14:sldId id="2048"/>
            <p14:sldId id="2049"/>
            <p14:sldId id="2050"/>
            <p14:sldId id="2051"/>
            <p14:sldId id="2052"/>
            <p14:sldId id="2053"/>
            <p14:sldId id="2054"/>
            <p14:sldId id="2082"/>
            <p14:sldId id="2042"/>
            <p14:sldId id="2084"/>
            <p14:sldId id="2085"/>
            <p14:sldId id="2086"/>
            <p14:sldId id="2087"/>
            <p14:sldId id="2088"/>
            <p14:sldId id="2090"/>
            <p14:sldId id="2039"/>
            <p14:sldId id="2099"/>
            <p14:sldId id="2091"/>
            <p14:sldId id="2093"/>
            <p14:sldId id="2094"/>
            <p14:sldId id="2095"/>
            <p14:sldId id="2096"/>
            <p14:sldId id="2083"/>
            <p14:sldId id="2098"/>
            <p14:sldId id="2076"/>
            <p14:sldId id="2077"/>
            <p14:sldId id="2078"/>
            <p14:sldId id="2079"/>
            <p14:sldId id="2081"/>
            <p14:sldId id="2038"/>
            <p14:sldId id="2097"/>
            <p14:sldId id="2035"/>
            <p14:sldId id="2037"/>
            <p14:sldId id="2036"/>
            <p14:sldId id="1988"/>
            <p14:sldId id="1912"/>
            <p14:sldId id="1967"/>
            <p14:sldId id="2013"/>
            <p14:sldId id="2009"/>
            <p14:sldId id="2022"/>
            <p14:sldId id="2014"/>
            <p14:sldId id="2016"/>
            <p14:sldId id="2017"/>
            <p14:sldId id="2029"/>
            <p14:sldId id="2018"/>
            <p14:sldId id="2032"/>
            <p14:sldId id="2020"/>
            <p14:sldId id="2021"/>
            <p14:sldId id="2026"/>
            <p14:sldId id="2025"/>
            <p14:sldId id="2023"/>
            <p14:sldId id="2024"/>
            <p14:sldId id="2027"/>
            <p14:sldId id="2028"/>
            <p14:sldId id="2030"/>
            <p14:sldId id="2031"/>
            <p14:sldId id="2057"/>
            <p14:sldId id="2058"/>
            <p14:sldId id="2059"/>
            <p14:sldId id="2060"/>
            <p14:sldId id="1814"/>
          </p14:sldIdLst>
        </p14:section>
        <p14:section name="Untitled Section" id="{CAC1B56E-EFC3-4966-9DC2-0EFA2DD7602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 Chengkai" initials="L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D8B"/>
    <a:srgbClr val="FBFBFB"/>
    <a:srgbClr val="FFFFFF"/>
    <a:srgbClr val="C4A8CF"/>
    <a:srgbClr val="C280FF"/>
    <a:srgbClr val="82E0AA"/>
    <a:srgbClr val="8CC600"/>
    <a:srgbClr val="000000"/>
    <a:srgbClr val="DBA521"/>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C29176-0EFE-6747-A38C-3B79F8776378}" v="2306" dt="2026-07-28T02:40:55.940"/>
    <p1510:client id="{781422F2-7613-9F46-970B-81A0DB4F5950}" v="982" dt="2026-07-28T00:16:30.145"/>
    <p1510:client id="{85098DBA-74CD-76AB-5AE7-FE2414650DE3}" v="1237" dt="2026-07-27T18:27:25.1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48"/>
    <p:restoredTop sz="94912"/>
  </p:normalViewPr>
  <p:slideViewPr>
    <p:cSldViewPr snapToGrid="0">
      <p:cViewPr varScale="1">
        <p:scale>
          <a:sx n="82" d="100"/>
          <a:sy n="82" d="100"/>
        </p:scale>
        <p:origin x="192" y="8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commentAuthors" Target="commentAuthors.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presProps" Target="presProps.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viewProps" Target="viewProps.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tableStyles" Target="tableStyles.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B010D5-5AFD-3948-9DE4-A30F60251501}" type="datetimeFigureOut">
              <a:rPr lang="en-US" smtClean="0"/>
              <a:pPr/>
              <a:t>8/12/26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F238A8-1190-BB46-95A0-C10FA98B630E}" type="slidenum">
              <a:rPr lang="en-US" smtClean="0"/>
              <a:pPr/>
              <a:t>‹#›</a:t>
            </a:fld>
            <a:endParaRPr lang="en-US"/>
          </a:p>
        </p:txBody>
      </p:sp>
    </p:spTree>
    <p:extLst>
      <p:ext uri="{BB962C8B-B14F-4D97-AF65-F5344CB8AC3E}">
        <p14:creationId xmlns:p14="http://schemas.microsoft.com/office/powerpoint/2010/main" val="3810566628"/>
      </p:ext>
    </p:extLst>
  </p:cSld>
  <p:clrMap bg1="lt1" tx1="dk1" bg2="lt2" tx2="dk2" accent1="accent1" accent2="accent2" accent3="accent3" accent4="accent4" accent5="accent5" accent6="accent6" hlink="hlink" folHlink="folHlink"/>
  <p:notesStyle>
    <a:lvl1pPr marL="0" algn="l" defTabSz="1219110" rtl="0" eaLnBrk="1" latinLnBrk="0" hangingPunct="1">
      <a:defRPr sz="1600" kern="1200">
        <a:solidFill>
          <a:schemeClr val="tx1"/>
        </a:solidFill>
        <a:latin typeface="+mn-lt"/>
        <a:ea typeface="+mn-ea"/>
        <a:cs typeface="+mn-cs"/>
      </a:defRPr>
    </a:lvl1pPr>
    <a:lvl2pPr marL="609555" algn="l" defTabSz="1219110" rtl="0" eaLnBrk="1" latinLnBrk="0" hangingPunct="1">
      <a:defRPr sz="1600" kern="1200">
        <a:solidFill>
          <a:schemeClr val="tx1"/>
        </a:solidFill>
        <a:latin typeface="+mn-lt"/>
        <a:ea typeface="+mn-ea"/>
        <a:cs typeface="+mn-cs"/>
      </a:defRPr>
    </a:lvl2pPr>
    <a:lvl3pPr marL="1219110" algn="l" defTabSz="1219110" rtl="0" eaLnBrk="1" latinLnBrk="0" hangingPunct="1">
      <a:defRPr sz="1600" kern="1200">
        <a:solidFill>
          <a:schemeClr val="tx1"/>
        </a:solidFill>
        <a:latin typeface="+mn-lt"/>
        <a:ea typeface="+mn-ea"/>
        <a:cs typeface="+mn-cs"/>
      </a:defRPr>
    </a:lvl3pPr>
    <a:lvl4pPr marL="1828664" algn="l" defTabSz="1219110" rtl="0" eaLnBrk="1" latinLnBrk="0" hangingPunct="1">
      <a:defRPr sz="1600" kern="1200">
        <a:solidFill>
          <a:schemeClr val="tx1"/>
        </a:solidFill>
        <a:latin typeface="+mn-lt"/>
        <a:ea typeface="+mn-ea"/>
        <a:cs typeface="+mn-cs"/>
      </a:defRPr>
    </a:lvl4pPr>
    <a:lvl5pPr marL="2438218" algn="l" defTabSz="1219110" rtl="0" eaLnBrk="1" latinLnBrk="0" hangingPunct="1">
      <a:defRPr sz="1600" kern="1200">
        <a:solidFill>
          <a:schemeClr val="tx1"/>
        </a:solidFill>
        <a:latin typeface="+mn-lt"/>
        <a:ea typeface="+mn-ea"/>
        <a:cs typeface="+mn-cs"/>
      </a:defRPr>
    </a:lvl5pPr>
    <a:lvl6pPr marL="3047772" algn="l" defTabSz="1219110" rtl="0" eaLnBrk="1" latinLnBrk="0" hangingPunct="1">
      <a:defRPr sz="1600" kern="1200">
        <a:solidFill>
          <a:schemeClr val="tx1"/>
        </a:solidFill>
        <a:latin typeface="+mn-lt"/>
        <a:ea typeface="+mn-ea"/>
        <a:cs typeface="+mn-cs"/>
      </a:defRPr>
    </a:lvl6pPr>
    <a:lvl7pPr marL="3657327" algn="l" defTabSz="1219110" rtl="0" eaLnBrk="1" latinLnBrk="0" hangingPunct="1">
      <a:defRPr sz="1600" kern="1200">
        <a:solidFill>
          <a:schemeClr val="tx1"/>
        </a:solidFill>
        <a:latin typeface="+mn-lt"/>
        <a:ea typeface="+mn-ea"/>
        <a:cs typeface="+mn-cs"/>
      </a:defRPr>
    </a:lvl7pPr>
    <a:lvl8pPr marL="4266880" algn="l" defTabSz="1219110" rtl="0" eaLnBrk="1" latinLnBrk="0" hangingPunct="1">
      <a:defRPr sz="1600" kern="1200">
        <a:solidFill>
          <a:schemeClr val="tx1"/>
        </a:solidFill>
        <a:latin typeface="+mn-lt"/>
        <a:ea typeface="+mn-ea"/>
        <a:cs typeface="+mn-cs"/>
      </a:defRPr>
    </a:lvl8pPr>
    <a:lvl9pPr marL="4876435" algn="l" defTabSz="121911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 thank you for being here. My name is Pranav.</a:t>
            </a:r>
          </a:p>
          <a:p>
            <a:endParaRPr lang="en-US" dirty="0"/>
          </a:p>
          <a:p>
            <a:r>
              <a:rPr lang="en-US" dirty="0"/>
              <a:t>Today I’m excited to present my dissertation defense </a:t>
            </a:r>
            <a:r>
              <a:rPr lang="en-US" b="1" dirty="0" err="1"/>
              <a:t>GeneSieve</a:t>
            </a:r>
            <a:r>
              <a:rPr lang="en-US" b="1" dirty="0"/>
              <a:t>. </a:t>
            </a:r>
            <a:endParaRPr lang="en-US" dirty="0"/>
          </a:p>
        </p:txBody>
      </p:sp>
      <p:sp>
        <p:nvSpPr>
          <p:cNvPr id="4" name="Slide Number Placeholder 3"/>
          <p:cNvSpPr>
            <a:spLocks noGrp="1"/>
          </p:cNvSpPr>
          <p:nvPr>
            <p:ph type="sldNum" sz="quarter" idx="10"/>
          </p:nvPr>
        </p:nvSpPr>
        <p:spPr/>
        <p:txBody>
          <a:bodyPr/>
          <a:lstStyle/>
          <a:p>
            <a:fld id="{67FBFE45-2234-4D3A-98BE-68910C7E5167}" type="slidenum">
              <a:rPr lang="en-US" smtClean="0"/>
              <a:t>1</a:t>
            </a:fld>
            <a:endParaRPr lang="en-US"/>
          </a:p>
        </p:txBody>
      </p:sp>
    </p:spTree>
    <p:extLst>
      <p:ext uri="{BB962C8B-B14F-4D97-AF65-F5344CB8AC3E}">
        <p14:creationId xmlns:p14="http://schemas.microsoft.com/office/powerpoint/2010/main" val="558622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2C1D1-8FFF-1449-2D5B-59FE9C170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4B82B-D419-5AE0-197D-1FC38B288D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66E234-F16B-4157-F9CA-2A04DBBAB7A6}"/>
              </a:ext>
            </a:extLst>
          </p:cNvPr>
          <p:cNvSpPr>
            <a:spLocks noGrp="1"/>
          </p:cNvSpPr>
          <p:nvPr>
            <p:ph type="body" idx="1"/>
          </p:nvPr>
        </p:nvSpPr>
        <p:spPr/>
        <p:txBody>
          <a:bodyPr/>
          <a:lstStyle/>
          <a:p>
            <a:r>
              <a:rPr lang="en-US"/>
              <a:t>- joined uta as an undergrad in fall 2021</a:t>
            </a:r>
          </a:p>
          <a:p>
            <a:r>
              <a:rPr lang="en-US"/>
              <a:t>- joined the IDIR Lab June 2024 as an undergraduate research assistant</a:t>
            </a:r>
          </a:p>
          <a:p>
            <a:r>
              <a:rPr lang="en-US"/>
              <a:t>- did a few internships @ big tech along the way</a:t>
            </a:r>
          </a:p>
          <a:p>
            <a:r>
              <a:rPr lang="en-US"/>
              <a:t>- completing fast track masters now </a:t>
            </a:r>
          </a:p>
        </p:txBody>
      </p:sp>
      <p:sp>
        <p:nvSpPr>
          <p:cNvPr id="4" name="Slide Number Placeholder 3">
            <a:extLst>
              <a:ext uri="{FF2B5EF4-FFF2-40B4-BE49-F238E27FC236}">
                <a16:creationId xmlns:a16="http://schemas.microsoft.com/office/drawing/2014/main" id="{46518CE3-737F-45FC-B275-D49B00C3D003}"/>
              </a:ext>
            </a:extLst>
          </p:cNvPr>
          <p:cNvSpPr>
            <a:spLocks noGrp="1"/>
          </p:cNvSpPr>
          <p:nvPr>
            <p:ph type="sldNum" sz="quarter" idx="10"/>
          </p:nvPr>
        </p:nvSpPr>
        <p:spPr/>
        <p:txBody>
          <a:bodyPr/>
          <a:lstStyle/>
          <a:p>
            <a:fld id="{25F238A8-1190-BB46-95A0-C10FA98B630E}" type="slidenum">
              <a:rPr lang="en-US" smtClean="0"/>
              <a:pPr/>
              <a:t>2</a:t>
            </a:fld>
            <a:endParaRPr lang="en-US"/>
          </a:p>
        </p:txBody>
      </p:sp>
    </p:spTree>
    <p:extLst>
      <p:ext uri="{BB962C8B-B14F-4D97-AF65-F5344CB8AC3E}">
        <p14:creationId xmlns:p14="http://schemas.microsoft.com/office/powerpoint/2010/main" val="689403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16C19-9539-A5B9-4A79-A6E9CFA9D0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E89CEC-E399-EF60-4AB7-3C96125797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1529F4-6BC4-41EB-D138-007FA3F351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 want to conclude by thanking all of you for listening and thanking those who supported this journey. This research spanned several years and wouldn’t have been possible without my advisor, committee, colleagues, and the annotators and participants who contributed. I truly appreciate your time and attention today.</a:t>
            </a:r>
          </a:p>
        </p:txBody>
      </p:sp>
      <p:sp>
        <p:nvSpPr>
          <p:cNvPr id="4" name="Slide Number Placeholder 3">
            <a:extLst>
              <a:ext uri="{FF2B5EF4-FFF2-40B4-BE49-F238E27FC236}">
                <a16:creationId xmlns:a16="http://schemas.microsoft.com/office/drawing/2014/main" id="{063C14FE-C67E-735D-431F-CD85F01FADFA}"/>
              </a:ext>
            </a:extLst>
          </p:cNvPr>
          <p:cNvSpPr>
            <a:spLocks noGrp="1"/>
          </p:cNvSpPr>
          <p:nvPr>
            <p:ph type="sldNum" sz="quarter" idx="10"/>
          </p:nvPr>
        </p:nvSpPr>
        <p:spPr/>
        <p:txBody>
          <a:bodyPr/>
          <a:lstStyle/>
          <a:p>
            <a:fld id="{25F238A8-1190-BB46-95A0-C10FA98B630E}" type="slidenum">
              <a:rPr lang="en-US" smtClean="0"/>
              <a:pPr/>
              <a:t>3</a:t>
            </a:fld>
            <a:endParaRPr lang="en-US"/>
          </a:p>
        </p:txBody>
      </p:sp>
    </p:spTree>
    <p:extLst>
      <p:ext uri="{BB962C8B-B14F-4D97-AF65-F5344CB8AC3E}">
        <p14:creationId xmlns:p14="http://schemas.microsoft.com/office/powerpoint/2010/main" val="411958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lang="en-US"/>
              <a:t>- In this talk, I’ll walk you through the aim of </a:t>
            </a:r>
            <a:r>
              <a:rPr lang="en-US" err="1"/>
              <a:t>GeneSieve</a:t>
            </a:r>
            <a:r>
              <a:rPr lang="en-US"/>
              <a:t>, the core data model that powers it, and how </a:t>
            </a:r>
            <a:r>
              <a:rPr lang="en-US" err="1"/>
              <a:t>GeneSieve</a:t>
            </a:r>
            <a:r>
              <a:rPr lang="en-US"/>
              <a:t> uses computational methods and machine learning to achieve its aim. </a:t>
            </a:r>
          </a:p>
          <a:p>
            <a:pPr marL="0" marR="0" lvl="0" indent="0" algn="l" defTabSz="1219110" rtl="0" eaLnBrk="1" fontAlgn="auto" latinLnBrk="0" hangingPunct="1">
              <a:lnSpc>
                <a:spcPct val="100000"/>
              </a:lnSpc>
              <a:spcBef>
                <a:spcPts val="0"/>
              </a:spcBef>
              <a:spcAft>
                <a:spcPts val="0"/>
              </a:spcAft>
              <a:buClrTx/>
              <a:buSzTx/>
              <a:buFontTx/>
              <a:buNone/>
              <a:tabLst/>
              <a:defRPr/>
            </a:pPr>
            <a:r>
              <a:rPr lang="en-US"/>
              <a:t>- how the datasets work and how </a:t>
            </a:r>
            <a:r>
              <a:rPr lang="en-US" err="1"/>
              <a:t>i</a:t>
            </a:r>
            <a:r>
              <a:rPr lang="en-US"/>
              <a:t> built the models in it. </a:t>
            </a:r>
          </a:p>
        </p:txBody>
      </p:sp>
      <p:sp>
        <p:nvSpPr>
          <p:cNvPr id="4" name="Slide Number Placeholder 3"/>
          <p:cNvSpPr>
            <a:spLocks noGrp="1"/>
          </p:cNvSpPr>
          <p:nvPr>
            <p:ph type="sldNum" sz="quarter" idx="10"/>
          </p:nvPr>
        </p:nvSpPr>
        <p:spPr/>
        <p:txBody>
          <a:bodyPr/>
          <a:lstStyle/>
          <a:p>
            <a:fld id="{25F238A8-1190-BB46-95A0-C10FA98B630E}" type="slidenum">
              <a:rPr lang="en-US" smtClean="0"/>
              <a:pPr/>
              <a:t>4</a:t>
            </a:fld>
            <a:endParaRPr lang="en-US"/>
          </a:p>
        </p:txBody>
      </p:sp>
    </p:spTree>
    <p:extLst>
      <p:ext uri="{BB962C8B-B14F-4D97-AF65-F5344CB8AC3E}">
        <p14:creationId xmlns:p14="http://schemas.microsoft.com/office/powerpoint/2010/main" val="980173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D5B8B-23F3-8BD3-E2C6-30BB83DAE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6E9096-42B7-92F7-F11E-72C7626BAB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F0C317-BAC3-28C5-288F-B21B67A39251}"/>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70F4B6C7-97FF-E694-2D9C-46F2DE73E754}"/>
              </a:ext>
            </a:extLst>
          </p:cNvPr>
          <p:cNvSpPr>
            <a:spLocks noGrp="1"/>
          </p:cNvSpPr>
          <p:nvPr>
            <p:ph type="sldNum" sz="quarter" idx="10"/>
          </p:nvPr>
        </p:nvSpPr>
        <p:spPr/>
        <p:txBody>
          <a:bodyPr/>
          <a:lstStyle/>
          <a:p>
            <a:fld id="{25F238A8-1190-BB46-95A0-C10FA98B630E}" type="slidenum">
              <a:rPr lang="en-US" smtClean="0"/>
              <a:pPr/>
              <a:t>5</a:t>
            </a:fld>
            <a:endParaRPr lang="en-US"/>
          </a:p>
        </p:txBody>
      </p:sp>
    </p:spTree>
    <p:extLst>
      <p:ext uri="{BB962C8B-B14F-4D97-AF65-F5344CB8AC3E}">
        <p14:creationId xmlns:p14="http://schemas.microsoft.com/office/powerpoint/2010/main" val="1938135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03F8B-D5A4-E7A5-F018-772FF312B6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CFAC94-9387-0652-67CE-81A67F975B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3058C8-CCD5-7D4A-5A30-57342A88D3E2}"/>
              </a:ext>
            </a:extLst>
          </p:cNvPr>
          <p:cNvSpPr>
            <a:spLocks noGrp="1"/>
          </p:cNvSpPr>
          <p:nvPr>
            <p:ph type="body" idx="1"/>
          </p:nvPr>
        </p:nvSpPr>
        <p:spPr/>
        <p:txBody>
          <a:bodyPr/>
          <a:lstStyle/>
          <a:p>
            <a:r>
              <a:rPr lang="en-US"/>
              <a:t>- joined uta as an undergrad in fall 2021</a:t>
            </a:r>
          </a:p>
          <a:p>
            <a:r>
              <a:rPr lang="en-US"/>
              <a:t>- joined the IDIR Lab June 2024 as an undergraduate research assistant</a:t>
            </a:r>
          </a:p>
          <a:p>
            <a:r>
              <a:rPr lang="en-US"/>
              <a:t>- did a few internships @ big tech along the way</a:t>
            </a:r>
          </a:p>
          <a:p>
            <a:r>
              <a:rPr lang="en-US"/>
              <a:t>- completing fast track masters now </a:t>
            </a:r>
          </a:p>
        </p:txBody>
      </p:sp>
      <p:sp>
        <p:nvSpPr>
          <p:cNvPr id="4" name="Slide Number Placeholder 3">
            <a:extLst>
              <a:ext uri="{FF2B5EF4-FFF2-40B4-BE49-F238E27FC236}">
                <a16:creationId xmlns:a16="http://schemas.microsoft.com/office/drawing/2014/main" id="{37116309-AD5D-A7DC-1E9B-08C669446AEA}"/>
              </a:ext>
            </a:extLst>
          </p:cNvPr>
          <p:cNvSpPr>
            <a:spLocks noGrp="1"/>
          </p:cNvSpPr>
          <p:nvPr>
            <p:ph type="sldNum" sz="quarter" idx="10"/>
          </p:nvPr>
        </p:nvSpPr>
        <p:spPr/>
        <p:txBody>
          <a:bodyPr/>
          <a:lstStyle/>
          <a:p>
            <a:fld id="{25F238A8-1190-BB46-95A0-C10FA98B630E}" type="slidenum">
              <a:rPr lang="en-US" smtClean="0"/>
              <a:pPr/>
              <a:t>6</a:t>
            </a:fld>
            <a:endParaRPr lang="en-US"/>
          </a:p>
        </p:txBody>
      </p:sp>
    </p:spTree>
    <p:extLst>
      <p:ext uri="{BB962C8B-B14F-4D97-AF65-F5344CB8AC3E}">
        <p14:creationId xmlns:p14="http://schemas.microsoft.com/office/powerpoint/2010/main" val="24675164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9634D-37FD-D049-4DEC-475FF3CA09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8C2A8-82AA-69A6-ED20-4E70EFD637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0E3A9A-2C68-9892-AA42-6EA0FE5236F9}"/>
              </a:ext>
            </a:extLst>
          </p:cNvPr>
          <p:cNvSpPr>
            <a:spLocks noGrp="1"/>
          </p:cNvSpPr>
          <p:nvPr>
            <p:ph type="body" idx="1"/>
          </p:nvPr>
        </p:nvSpPr>
        <p:spPr/>
        <p:txBody>
          <a:bodyPr/>
          <a:lstStyle/>
          <a:p>
            <a:r>
              <a:rPr lang="en-US"/>
              <a:t>- joined uta as an undergrad in fall 2021</a:t>
            </a:r>
          </a:p>
          <a:p>
            <a:r>
              <a:rPr lang="en-US"/>
              <a:t>- joined the IDIR Lab June 2024 as an undergraduate research assistant</a:t>
            </a:r>
          </a:p>
          <a:p>
            <a:r>
              <a:rPr lang="en-US"/>
              <a:t>- did a few internships @ big tech along the way</a:t>
            </a:r>
          </a:p>
          <a:p>
            <a:r>
              <a:rPr lang="en-US"/>
              <a:t>- completing fast track masters now </a:t>
            </a:r>
          </a:p>
          <a:p>
            <a:endParaRPr lang="en-US"/>
          </a:p>
        </p:txBody>
      </p:sp>
      <p:sp>
        <p:nvSpPr>
          <p:cNvPr id="4" name="Slide Number Placeholder 3">
            <a:extLst>
              <a:ext uri="{FF2B5EF4-FFF2-40B4-BE49-F238E27FC236}">
                <a16:creationId xmlns:a16="http://schemas.microsoft.com/office/drawing/2014/main" id="{3CAEC9B0-803C-F709-3B02-C0B42EBD85C4}"/>
              </a:ext>
            </a:extLst>
          </p:cNvPr>
          <p:cNvSpPr>
            <a:spLocks noGrp="1"/>
          </p:cNvSpPr>
          <p:nvPr>
            <p:ph type="sldNum" sz="quarter" idx="10"/>
          </p:nvPr>
        </p:nvSpPr>
        <p:spPr/>
        <p:txBody>
          <a:bodyPr/>
          <a:lstStyle/>
          <a:p>
            <a:fld id="{25F238A8-1190-BB46-95A0-C10FA98B630E}" type="slidenum">
              <a:rPr lang="en-US" smtClean="0"/>
              <a:pPr/>
              <a:t>7</a:t>
            </a:fld>
            <a:endParaRPr lang="en-US"/>
          </a:p>
        </p:txBody>
      </p:sp>
    </p:spTree>
    <p:extLst>
      <p:ext uri="{BB962C8B-B14F-4D97-AF65-F5344CB8AC3E}">
        <p14:creationId xmlns:p14="http://schemas.microsoft.com/office/powerpoint/2010/main" val="37778070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0450F-7B07-285F-6733-4D7EE5420C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D3C40-081F-0279-2999-97F07C3672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32EC9B-112A-4A96-708B-043A1612290D}"/>
              </a:ext>
            </a:extLst>
          </p:cNvPr>
          <p:cNvSpPr>
            <a:spLocks noGrp="1"/>
          </p:cNvSpPr>
          <p:nvPr>
            <p:ph type="body" idx="1"/>
          </p:nvPr>
        </p:nvSpPr>
        <p:spPr/>
        <p:txBody>
          <a:bodyPr/>
          <a:lstStyle/>
          <a:p>
            <a:r>
              <a:rPr lang="en-US"/>
              <a:t>- also won a couple of academic honors along the way </a:t>
            </a:r>
          </a:p>
        </p:txBody>
      </p:sp>
      <p:sp>
        <p:nvSpPr>
          <p:cNvPr id="4" name="Slide Number Placeholder 3">
            <a:extLst>
              <a:ext uri="{FF2B5EF4-FFF2-40B4-BE49-F238E27FC236}">
                <a16:creationId xmlns:a16="http://schemas.microsoft.com/office/drawing/2014/main" id="{56A261B0-93EA-1233-EC26-857AEBC96632}"/>
              </a:ext>
            </a:extLst>
          </p:cNvPr>
          <p:cNvSpPr>
            <a:spLocks noGrp="1"/>
          </p:cNvSpPr>
          <p:nvPr>
            <p:ph type="sldNum" sz="quarter" idx="10"/>
          </p:nvPr>
        </p:nvSpPr>
        <p:spPr/>
        <p:txBody>
          <a:bodyPr/>
          <a:lstStyle/>
          <a:p>
            <a:fld id="{25F238A8-1190-BB46-95A0-C10FA98B630E}" type="slidenum">
              <a:rPr lang="en-US" smtClean="0"/>
              <a:pPr/>
              <a:t>8</a:t>
            </a:fld>
            <a:endParaRPr lang="en-US"/>
          </a:p>
        </p:txBody>
      </p:sp>
    </p:spTree>
    <p:extLst>
      <p:ext uri="{BB962C8B-B14F-4D97-AF65-F5344CB8AC3E}">
        <p14:creationId xmlns:p14="http://schemas.microsoft.com/office/powerpoint/2010/main" val="14937978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F5B70-53A1-F2D0-BBC2-35BD8A8FA3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9FD135-CB4F-808C-7539-B06138229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E260CA-49B1-E07A-9596-1ABD10F49C44}"/>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lang="en-US"/>
              <a:t>- lets get into what </a:t>
            </a:r>
            <a:r>
              <a:rPr lang="en-US" err="1"/>
              <a:t>GeneSieve</a:t>
            </a:r>
            <a:r>
              <a:rPr lang="en-US"/>
              <a:t> is all about</a:t>
            </a:r>
          </a:p>
          <a:p>
            <a:pPr marL="0" marR="0" lvl="0" indent="0" algn="l" defTabSz="1219110" rtl="0" eaLnBrk="1" fontAlgn="auto" latinLnBrk="0" hangingPunct="1">
              <a:lnSpc>
                <a:spcPct val="100000"/>
              </a:lnSpc>
              <a:spcBef>
                <a:spcPts val="0"/>
              </a:spcBef>
              <a:spcAft>
                <a:spcPts val="0"/>
              </a:spcAft>
              <a:buClrTx/>
              <a:buSzTx/>
              <a:buFontTx/>
              <a:buNone/>
              <a:tabLst/>
              <a:defRPr/>
            </a:pPr>
            <a:r>
              <a:rPr lang="en-US"/>
              <a:t>- what the main aim is</a:t>
            </a:r>
          </a:p>
        </p:txBody>
      </p:sp>
      <p:sp>
        <p:nvSpPr>
          <p:cNvPr id="4" name="Slide Number Placeholder 3">
            <a:extLst>
              <a:ext uri="{FF2B5EF4-FFF2-40B4-BE49-F238E27FC236}">
                <a16:creationId xmlns:a16="http://schemas.microsoft.com/office/drawing/2014/main" id="{276E8210-0E94-F1E4-7C17-5AE86BE4AD14}"/>
              </a:ext>
            </a:extLst>
          </p:cNvPr>
          <p:cNvSpPr>
            <a:spLocks noGrp="1"/>
          </p:cNvSpPr>
          <p:nvPr>
            <p:ph type="sldNum" sz="quarter" idx="10"/>
          </p:nvPr>
        </p:nvSpPr>
        <p:spPr/>
        <p:txBody>
          <a:bodyPr/>
          <a:lstStyle/>
          <a:p>
            <a:fld id="{25F238A8-1190-BB46-95A0-C10FA98B630E}" type="slidenum">
              <a:rPr lang="en-US" smtClean="0"/>
              <a:pPr/>
              <a:t>9</a:t>
            </a:fld>
            <a:endParaRPr lang="en-US"/>
          </a:p>
        </p:txBody>
      </p:sp>
    </p:spTree>
    <p:extLst>
      <p:ext uri="{BB962C8B-B14F-4D97-AF65-F5344CB8AC3E}">
        <p14:creationId xmlns:p14="http://schemas.microsoft.com/office/powerpoint/2010/main" val="19609715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C9AA2-755C-4BDC-3FB8-E8FBC21CE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A03F1-B769-49CE-9E42-4E9F908D84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51E9AD-057C-65BC-51E2-7D1780C18F96}"/>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its a known fact that genes are responsible for trait expression</a:t>
            </a:r>
          </a:p>
          <a:p>
            <a:r>
              <a:rPr lang="en-US" sz="1200">
                <a:solidFill>
                  <a:schemeClr val="tx1"/>
                </a:solidFill>
                <a:latin typeface="Arial" panose="020B0604020202020204" pitchFamily="34" charset="0"/>
                <a:cs typeface="Arial" panose="020B0604020202020204" pitchFamily="34" charset="0"/>
              </a:rPr>
              <a:t>- env factors can contribute, but for now lets assume the env is perfect</a:t>
            </a:r>
          </a:p>
          <a:p>
            <a:r>
              <a:rPr lang="en-US" sz="1200">
                <a:solidFill>
                  <a:schemeClr val="tx1"/>
                </a:solidFill>
                <a:latin typeface="Arial" panose="020B0604020202020204" pitchFamily="34" charset="0"/>
                <a:cs typeface="Arial" panose="020B0604020202020204" pitchFamily="34" charset="0"/>
              </a:rPr>
              <a:t>- want to know which genes are responsible for a trait, i.e. have a causal relationship with specific trait</a:t>
            </a:r>
          </a:p>
          <a:p>
            <a:r>
              <a:rPr lang="en-US" sz="1200">
                <a:solidFill>
                  <a:schemeClr val="tx1"/>
                </a:solidFill>
                <a:latin typeface="Arial" panose="020B0604020202020204" pitchFamily="34" charset="0"/>
                <a:cs typeface="Arial" panose="020B0604020202020204" pitchFamily="34" charset="0"/>
              </a:rPr>
              <a:t>- want to rank genes based on strength of causal relationship to trait</a:t>
            </a:r>
          </a:p>
          <a:p>
            <a:r>
              <a:rPr lang="en-US" sz="1200">
                <a:solidFill>
                  <a:schemeClr val="tx1"/>
                </a:solidFill>
                <a:latin typeface="Arial" panose="020B0604020202020204" pitchFamily="34" charset="0"/>
                <a:cs typeface="Arial" panose="020B0604020202020204" pitchFamily="34" charset="0"/>
              </a:rPr>
              <a:t>- want this analysis to be applicable cross-species</a:t>
            </a:r>
          </a:p>
        </p:txBody>
      </p:sp>
      <p:sp>
        <p:nvSpPr>
          <p:cNvPr id="4" name="Slide Number Placeholder 3">
            <a:extLst>
              <a:ext uri="{FF2B5EF4-FFF2-40B4-BE49-F238E27FC236}">
                <a16:creationId xmlns:a16="http://schemas.microsoft.com/office/drawing/2014/main" id="{330D0799-7C83-E9DB-86D8-05011B7AFB3A}"/>
              </a:ext>
            </a:extLst>
          </p:cNvPr>
          <p:cNvSpPr>
            <a:spLocks noGrp="1"/>
          </p:cNvSpPr>
          <p:nvPr>
            <p:ph type="sldNum" sz="quarter" idx="10"/>
          </p:nvPr>
        </p:nvSpPr>
        <p:spPr/>
        <p:txBody>
          <a:bodyPr/>
          <a:lstStyle/>
          <a:p>
            <a:fld id="{25F238A8-1190-BB46-95A0-C10FA98B630E}" type="slidenum">
              <a:rPr lang="en-US" smtClean="0"/>
              <a:pPr/>
              <a:t>10</a:t>
            </a:fld>
            <a:endParaRPr lang="en-US"/>
          </a:p>
        </p:txBody>
      </p:sp>
    </p:spTree>
    <p:extLst>
      <p:ext uri="{BB962C8B-B14F-4D97-AF65-F5344CB8AC3E}">
        <p14:creationId xmlns:p14="http://schemas.microsoft.com/office/powerpoint/2010/main" val="41618761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D15F2-CFB2-CE9B-51D7-61B539AD1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3C8F7-C02B-639F-5969-2A26FDBAF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94E60-334E-A723-7107-C9F8B85D7E64}"/>
              </a:ext>
            </a:extLst>
          </p:cNvPr>
          <p:cNvSpPr>
            <a:spLocks noGrp="1"/>
          </p:cNvSpPr>
          <p:nvPr>
            <p:ph type="body" idx="1"/>
          </p:nvPr>
        </p:nvSpPr>
        <p:spPr/>
        <p:txBody>
          <a:bodyPr/>
          <a:lstStyle/>
          <a:p>
            <a:r>
              <a:rPr lang="en-US" sz="1200" dirty="0">
                <a:solidFill>
                  <a:schemeClr val="tx1"/>
                </a:solidFill>
                <a:latin typeface="Arial" panose="020B0604020202020204" pitchFamily="34" charset="0"/>
                <a:cs typeface="Arial" panose="020B0604020202020204" pitchFamily="34" charset="0"/>
              </a:rPr>
              <a:t>- its a known fact that genes are responsible for trait expression</a:t>
            </a:r>
          </a:p>
          <a:p>
            <a:r>
              <a:rPr lang="en-US" sz="1200" dirty="0">
                <a:solidFill>
                  <a:schemeClr val="tx1"/>
                </a:solidFill>
                <a:latin typeface="Arial" panose="020B0604020202020204" pitchFamily="34" charset="0"/>
                <a:cs typeface="Arial" panose="020B0604020202020204" pitchFamily="34" charset="0"/>
              </a:rPr>
              <a:t>- env factors can contribute, but for now lets assume the env is perfect</a:t>
            </a:r>
          </a:p>
          <a:p>
            <a:r>
              <a:rPr lang="en-US" sz="1200" dirty="0">
                <a:solidFill>
                  <a:schemeClr val="tx1"/>
                </a:solidFill>
                <a:latin typeface="Arial" panose="020B0604020202020204" pitchFamily="34" charset="0"/>
                <a:cs typeface="Arial" panose="020B0604020202020204" pitchFamily="34" charset="0"/>
              </a:rPr>
              <a:t>- want to know which genes are responsible for a trait, i.e. have a causal relationship with specific trait</a:t>
            </a:r>
          </a:p>
          <a:p>
            <a:r>
              <a:rPr lang="en-US" sz="1200" dirty="0">
                <a:solidFill>
                  <a:schemeClr val="tx1"/>
                </a:solidFill>
                <a:latin typeface="Arial" panose="020B0604020202020204" pitchFamily="34" charset="0"/>
                <a:cs typeface="Arial" panose="020B0604020202020204" pitchFamily="34" charset="0"/>
              </a:rPr>
              <a:t>- want to rank genes based on strength of causal relationship to trait</a:t>
            </a:r>
          </a:p>
          <a:p>
            <a:r>
              <a:rPr lang="en-US" sz="1200" dirty="0">
                <a:solidFill>
                  <a:schemeClr val="tx1"/>
                </a:solidFill>
                <a:latin typeface="Arial" panose="020B0604020202020204" pitchFamily="34" charset="0"/>
                <a:cs typeface="Arial" panose="020B0604020202020204" pitchFamily="34" charset="0"/>
              </a:rPr>
              <a:t>- want this analysis to be applicable cross-species</a:t>
            </a:r>
          </a:p>
        </p:txBody>
      </p:sp>
      <p:sp>
        <p:nvSpPr>
          <p:cNvPr id="4" name="Slide Number Placeholder 3">
            <a:extLst>
              <a:ext uri="{FF2B5EF4-FFF2-40B4-BE49-F238E27FC236}">
                <a16:creationId xmlns:a16="http://schemas.microsoft.com/office/drawing/2014/main" id="{0103D104-3AB6-D9C1-99FB-40C6B79F2706}"/>
              </a:ext>
            </a:extLst>
          </p:cNvPr>
          <p:cNvSpPr>
            <a:spLocks noGrp="1"/>
          </p:cNvSpPr>
          <p:nvPr>
            <p:ph type="sldNum" sz="quarter" idx="10"/>
          </p:nvPr>
        </p:nvSpPr>
        <p:spPr/>
        <p:txBody>
          <a:bodyPr/>
          <a:lstStyle/>
          <a:p>
            <a:fld id="{25F238A8-1190-BB46-95A0-C10FA98B630E}" type="slidenum">
              <a:rPr lang="en-US" smtClean="0"/>
              <a:pPr/>
              <a:t>11</a:t>
            </a:fld>
            <a:endParaRPr lang="en-US"/>
          </a:p>
        </p:txBody>
      </p:sp>
    </p:spTree>
    <p:extLst>
      <p:ext uri="{BB962C8B-B14F-4D97-AF65-F5344CB8AC3E}">
        <p14:creationId xmlns:p14="http://schemas.microsoft.com/office/powerpoint/2010/main" val="41143131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F75F6-6F8D-3242-DF4A-08418BBF3B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587F6-56DA-92F9-CA16-6A31AFAD0F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4A6B9B-9E85-CE83-340F-6D69A27E2CC6}"/>
              </a:ext>
            </a:extLst>
          </p:cNvPr>
          <p:cNvSpPr>
            <a:spLocks noGrp="1"/>
          </p:cNvSpPr>
          <p:nvPr>
            <p:ph type="body" idx="1"/>
          </p:nvPr>
        </p:nvSpPr>
        <p:spPr/>
        <p:txBody>
          <a:bodyPr/>
          <a:lstStyle/>
          <a:p>
            <a:r>
              <a:rPr lang="en-US" sz="1200" dirty="0">
                <a:solidFill>
                  <a:schemeClr val="tx1"/>
                </a:solidFill>
                <a:latin typeface="Arial" panose="020B0604020202020204" pitchFamily="34" charset="0"/>
                <a:cs typeface="Arial" panose="020B0604020202020204" pitchFamily="34" charset="0"/>
              </a:rPr>
              <a:t>- its a known fact that genes are responsible for trait expression</a:t>
            </a:r>
          </a:p>
          <a:p>
            <a:r>
              <a:rPr lang="en-US" sz="1200" dirty="0">
                <a:solidFill>
                  <a:schemeClr val="tx1"/>
                </a:solidFill>
                <a:latin typeface="Arial" panose="020B0604020202020204" pitchFamily="34" charset="0"/>
                <a:cs typeface="Arial" panose="020B0604020202020204" pitchFamily="34" charset="0"/>
              </a:rPr>
              <a:t>- env factors can contribute, but for now lets assume the env is perfect</a:t>
            </a:r>
          </a:p>
          <a:p>
            <a:r>
              <a:rPr lang="en-US" sz="1200" dirty="0">
                <a:solidFill>
                  <a:schemeClr val="tx1"/>
                </a:solidFill>
                <a:latin typeface="Arial" panose="020B0604020202020204" pitchFamily="34" charset="0"/>
                <a:cs typeface="Arial" panose="020B0604020202020204" pitchFamily="34" charset="0"/>
              </a:rPr>
              <a:t>- want to know which genes are responsible for a trait, i.e. have a causal relationship with specific trait</a:t>
            </a:r>
          </a:p>
          <a:p>
            <a:r>
              <a:rPr lang="en-US" sz="1200" dirty="0">
                <a:solidFill>
                  <a:schemeClr val="tx1"/>
                </a:solidFill>
                <a:latin typeface="Arial" panose="020B0604020202020204" pitchFamily="34" charset="0"/>
                <a:cs typeface="Arial" panose="020B0604020202020204" pitchFamily="34" charset="0"/>
              </a:rPr>
              <a:t>- want to rank genes based on strength of causal relationship to trait</a:t>
            </a:r>
          </a:p>
          <a:p>
            <a:r>
              <a:rPr lang="en-US" sz="1200" dirty="0">
                <a:solidFill>
                  <a:schemeClr val="tx1"/>
                </a:solidFill>
                <a:latin typeface="Arial" panose="020B0604020202020204" pitchFamily="34" charset="0"/>
                <a:cs typeface="Arial" panose="020B0604020202020204" pitchFamily="34" charset="0"/>
              </a:rPr>
              <a:t>- want this analysis to be applicable cross-species</a:t>
            </a:r>
          </a:p>
        </p:txBody>
      </p:sp>
      <p:sp>
        <p:nvSpPr>
          <p:cNvPr id="4" name="Slide Number Placeholder 3">
            <a:extLst>
              <a:ext uri="{FF2B5EF4-FFF2-40B4-BE49-F238E27FC236}">
                <a16:creationId xmlns:a16="http://schemas.microsoft.com/office/drawing/2014/main" id="{A9CAF6C5-8293-F69B-F965-A3D3B229D235}"/>
              </a:ext>
            </a:extLst>
          </p:cNvPr>
          <p:cNvSpPr>
            <a:spLocks noGrp="1"/>
          </p:cNvSpPr>
          <p:nvPr>
            <p:ph type="sldNum" sz="quarter" idx="10"/>
          </p:nvPr>
        </p:nvSpPr>
        <p:spPr/>
        <p:txBody>
          <a:bodyPr/>
          <a:lstStyle/>
          <a:p>
            <a:fld id="{25F238A8-1190-BB46-95A0-C10FA98B630E}" type="slidenum">
              <a:rPr lang="en-US" smtClean="0"/>
              <a:pPr/>
              <a:t>12</a:t>
            </a:fld>
            <a:endParaRPr lang="en-US"/>
          </a:p>
        </p:txBody>
      </p:sp>
    </p:spTree>
    <p:extLst>
      <p:ext uri="{BB962C8B-B14F-4D97-AF65-F5344CB8AC3E}">
        <p14:creationId xmlns:p14="http://schemas.microsoft.com/office/powerpoint/2010/main" val="2808893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B2911-A62D-D3B2-BD89-AB5D523DF5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5A9E82-3937-4584-80B8-36B58FB228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814282-5398-A478-0A96-23925227A8CB}"/>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its a known fact that genes are responsible for trait expression</a:t>
            </a:r>
          </a:p>
          <a:p>
            <a:r>
              <a:rPr lang="en-US" sz="1200">
                <a:solidFill>
                  <a:schemeClr val="tx1"/>
                </a:solidFill>
                <a:latin typeface="Arial" panose="020B0604020202020204" pitchFamily="34" charset="0"/>
                <a:cs typeface="Arial" panose="020B0604020202020204" pitchFamily="34" charset="0"/>
              </a:rPr>
              <a:t>- env factors can contribute, but for now lets assume the env is perfect</a:t>
            </a:r>
          </a:p>
          <a:p>
            <a:r>
              <a:rPr lang="en-US" sz="1200">
                <a:solidFill>
                  <a:schemeClr val="tx1"/>
                </a:solidFill>
                <a:latin typeface="Arial" panose="020B0604020202020204" pitchFamily="34" charset="0"/>
                <a:cs typeface="Arial" panose="020B0604020202020204" pitchFamily="34" charset="0"/>
              </a:rPr>
              <a:t>- want to know which genes are responsible for a trait, i.e. have a causal relationship with specific trait</a:t>
            </a:r>
          </a:p>
          <a:p>
            <a:r>
              <a:rPr lang="en-US" sz="1200">
                <a:solidFill>
                  <a:schemeClr val="tx1"/>
                </a:solidFill>
                <a:latin typeface="Arial" panose="020B0604020202020204" pitchFamily="34" charset="0"/>
                <a:cs typeface="Arial" panose="020B0604020202020204" pitchFamily="34" charset="0"/>
              </a:rPr>
              <a:t>- want to rank genes based on strength of causal relationship to trait</a:t>
            </a:r>
          </a:p>
          <a:p>
            <a:r>
              <a:rPr lang="en-US" sz="1200">
                <a:solidFill>
                  <a:schemeClr val="tx1"/>
                </a:solidFill>
                <a:latin typeface="Arial" panose="020B0604020202020204" pitchFamily="34" charset="0"/>
                <a:cs typeface="Arial" panose="020B0604020202020204" pitchFamily="34" charset="0"/>
              </a:rPr>
              <a:t>- want this analysis to be applicable cross-species</a:t>
            </a:r>
          </a:p>
        </p:txBody>
      </p:sp>
      <p:sp>
        <p:nvSpPr>
          <p:cNvPr id="4" name="Slide Number Placeholder 3">
            <a:extLst>
              <a:ext uri="{FF2B5EF4-FFF2-40B4-BE49-F238E27FC236}">
                <a16:creationId xmlns:a16="http://schemas.microsoft.com/office/drawing/2014/main" id="{2F428870-C71F-5556-37A2-34A12F78B842}"/>
              </a:ext>
            </a:extLst>
          </p:cNvPr>
          <p:cNvSpPr>
            <a:spLocks noGrp="1"/>
          </p:cNvSpPr>
          <p:nvPr>
            <p:ph type="sldNum" sz="quarter" idx="10"/>
          </p:nvPr>
        </p:nvSpPr>
        <p:spPr/>
        <p:txBody>
          <a:bodyPr/>
          <a:lstStyle/>
          <a:p>
            <a:fld id="{25F238A8-1190-BB46-95A0-C10FA98B630E}" type="slidenum">
              <a:rPr lang="en-US" smtClean="0"/>
              <a:pPr/>
              <a:t>13</a:t>
            </a:fld>
            <a:endParaRPr lang="en-US"/>
          </a:p>
        </p:txBody>
      </p:sp>
    </p:spTree>
    <p:extLst>
      <p:ext uri="{BB962C8B-B14F-4D97-AF65-F5344CB8AC3E}">
        <p14:creationId xmlns:p14="http://schemas.microsoft.com/office/powerpoint/2010/main" val="3726584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77FE6-3352-0755-301E-5F7C7171A3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797B52-BA89-4620-2046-AAC4F883C5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1F5AF4-C6AE-0C0B-3540-B10CFDC5A75E}"/>
              </a:ext>
            </a:extLst>
          </p:cNvPr>
          <p:cNvSpPr>
            <a:spLocks noGrp="1"/>
          </p:cNvSpPr>
          <p:nvPr>
            <p:ph type="body" idx="1"/>
          </p:nvPr>
        </p:nvSpPr>
        <p:spPr/>
        <p:txBody>
          <a:bodyPr/>
          <a:lstStyle/>
          <a:p>
            <a:r>
              <a:rPr lang="en-US" sz="1200"/>
              <a:t>- example TGAG showing various biological evidence paths connecting a trait to a candidate</a:t>
            </a:r>
          </a:p>
          <a:p>
            <a:r>
              <a:rPr lang="en-US" sz="1200"/>
              <a:t>- user has provided the trait and candidate, rest are from </a:t>
            </a:r>
            <a:r>
              <a:rPr lang="en-US" sz="1200" err="1"/>
              <a:t>GeneSieve</a:t>
            </a:r>
            <a:r>
              <a:rPr lang="en-US" sz="1200"/>
              <a:t> system</a:t>
            </a:r>
          </a:p>
        </p:txBody>
      </p:sp>
      <p:sp>
        <p:nvSpPr>
          <p:cNvPr id="4" name="Slide Number Placeholder 3">
            <a:extLst>
              <a:ext uri="{FF2B5EF4-FFF2-40B4-BE49-F238E27FC236}">
                <a16:creationId xmlns:a16="http://schemas.microsoft.com/office/drawing/2014/main" id="{FD6F1E0E-FFA9-EB0C-9B02-0B3FF7580BA8}"/>
              </a:ext>
            </a:extLst>
          </p:cNvPr>
          <p:cNvSpPr>
            <a:spLocks noGrp="1"/>
          </p:cNvSpPr>
          <p:nvPr>
            <p:ph type="sldNum" sz="quarter" idx="10"/>
          </p:nvPr>
        </p:nvSpPr>
        <p:spPr/>
        <p:txBody>
          <a:bodyPr/>
          <a:lstStyle/>
          <a:p>
            <a:fld id="{25F238A8-1190-BB46-95A0-C10FA98B630E}" type="slidenum">
              <a:rPr lang="en-US" smtClean="0"/>
              <a:pPr/>
              <a:t>14</a:t>
            </a:fld>
            <a:endParaRPr lang="en-US"/>
          </a:p>
        </p:txBody>
      </p:sp>
    </p:spTree>
    <p:extLst>
      <p:ext uri="{BB962C8B-B14F-4D97-AF65-F5344CB8AC3E}">
        <p14:creationId xmlns:p14="http://schemas.microsoft.com/office/powerpoint/2010/main" val="39207609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A74CB-218A-A9A7-D808-4A5F6F42D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B3F1D-29CF-BE32-17EC-BE11DC7EE1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2EE0C4-68FA-7BA4-6B22-5D0E0205A2A6}"/>
              </a:ext>
            </a:extLst>
          </p:cNvPr>
          <p:cNvSpPr>
            <a:spLocks noGrp="1"/>
          </p:cNvSpPr>
          <p:nvPr>
            <p:ph type="body" idx="1"/>
          </p:nvPr>
        </p:nvSpPr>
        <p:spPr/>
        <p:txBody>
          <a:bodyPr/>
          <a:lstStyle/>
          <a:p>
            <a:r>
              <a:rPr lang="en-US" sz="1200"/>
              <a:t>- example TGAG showing various biological evidence paths connecting a trait to a candidate</a:t>
            </a:r>
          </a:p>
          <a:p>
            <a:r>
              <a:rPr lang="en-US" sz="1200"/>
              <a:t>- user has provided the trait and candidate, rest are from </a:t>
            </a:r>
            <a:r>
              <a:rPr lang="en-US" sz="1200" err="1"/>
              <a:t>GeneSieve</a:t>
            </a:r>
            <a:r>
              <a:rPr lang="en-US" sz="1200"/>
              <a:t> system</a:t>
            </a:r>
          </a:p>
        </p:txBody>
      </p:sp>
      <p:sp>
        <p:nvSpPr>
          <p:cNvPr id="4" name="Slide Number Placeholder 3">
            <a:extLst>
              <a:ext uri="{FF2B5EF4-FFF2-40B4-BE49-F238E27FC236}">
                <a16:creationId xmlns:a16="http://schemas.microsoft.com/office/drawing/2014/main" id="{298D7EDB-7AB0-F71A-6B37-554340002F75}"/>
              </a:ext>
            </a:extLst>
          </p:cNvPr>
          <p:cNvSpPr>
            <a:spLocks noGrp="1"/>
          </p:cNvSpPr>
          <p:nvPr>
            <p:ph type="sldNum" sz="quarter" idx="10"/>
          </p:nvPr>
        </p:nvSpPr>
        <p:spPr/>
        <p:txBody>
          <a:bodyPr/>
          <a:lstStyle/>
          <a:p>
            <a:fld id="{25F238A8-1190-BB46-95A0-C10FA98B630E}" type="slidenum">
              <a:rPr lang="en-US" smtClean="0"/>
              <a:pPr/>
              <a:t>15</a:t>
            </a:fld>
            <a:endParaRPr lang="en-US"/>
          </a:p>
        </p:txBody>
      </p:sp>
    </p:spTree>
    <p:extLst>
      <p:ext uri="{BB962C8B-B14F-4D97-AF65-F5344CB8AC3E}">
        <p14:creationId xmlns:p14="http://schemas.microsoft.com/office/powerpoint/2010/main" val="4573079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B1AB5-430D-8DC6-0C91-AAC61144FE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7FC229-3007-97EB-6B63-74788F81D3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67EB20-5B64-5464-7B69-9DB56710CD40}"/>
              </a:ext>
            </a:extLst>
          </p:cNvPr>
          <p:cNvSpPr>
            <a:spLocks noGrp="1"/>
          </p:cNvSpPr>
          <p:nvPr>
            <p:ph type="body" idx="1"/>
          </p:nvPr>
        </p:nvSpPr>
        <p:spPr/>
        <p:txBody>
          <a:bodyPr/>
          <a:lstStyle/>
          <a:p>
            <a:r>
              <a:rPr lang="en-US" sz="1200"/>
              <a:t>- example TGAG showing various biological evidence paths connecting a trait to a candidate</a:t>
            </a:r>
          </a:p>
          <a:p>
            <a:r>
              <a:rPr lang="en-US" sz="1200"/>
              <a:t>- user has provided the trait and candidate, rest are from </a:t>
            </a:r>
            <a:r>
              <a:rPr lang="en-US" sz="1200" err="1"/>
              <a:t>GeneSieve</a:t>
            </a:r>
            <a:r>
              <a:rPr lang="en-US" sz="1200"/>
              <a:t> system</a:t>
            </a:r>
          </a:p>
        </p:txBody>
      </p:sp>
      <p:sp>
        <p:nvSpPr>
          <p:cNvPr id="4" name="Slide Number Placeholder 3">
            <a:extLst>
              <a:ext uri="{FF2B5EF4-FFF2-40B4-BE49-F238E27FC236}">
                <a16:creationId xmlns:a16="http://schemas.microsoft.com/office/drawing/2014/main" id="{FAA1B602-F8EC-5791-41A1-3730BA3FBA84}"/>
              </a:ext>
            </a:extLst>
          </p:cNvPr>
          <p:cNvSpPr>
            <a:spLocks noGrp="1"/>
          </p:cNvSpPr>
          <p:nvPr>
            <p:ph type="sldNum" sz="quarter" idx="10"/>
          </p:nvPr>
        </p:nvSpPr>
        <p:spPr/>
        <p:txBody>
          <a:bodyPr/>
          <a:lstStyle/>
          <a:p>
            <a:fld id="{25F238A8-1190-BB46-95A0-C10FA98B630E}" type="slidenum">
              <a:rPr lang="en-US" smtClean="0"/>
              <a:pPr/>
              <a:t>16</a:t>
            </a:fld>
            <a:endParaRPr lang="en-US"/>
          </a:p>
        </p:txBody>
      </p:sp>
    </p:spTree>
    <p:extLst>
      <p:ext uri="{BB962C8B-B14F-4D97-AF65-F5344CB8AC3E}">
        <p14:creationId xmlns:p14="http://schemas.microsoft.com/office/powerpoint/2010/main" val="28226890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D66C1-FB0B-4D28-BD3E-7E32411AE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3D071-8D47-EA6F-6FB1-B6A2E4A3E1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1C7C4D-7033-59AD-7244-C66C840CCDD7}"/>
              </a:ext>
            </a:extLst>
          </p:cNvPr>
          <p:cNvSpPr>
            <a:spLocks noGrp="1"/>
          </p:cNvSpPr>
          <p:nvPr>
            <p:ph type="body" idx="1"/>
          </p:nvPr>
        </p:nvSpPr>
        <p:spPr/>
        <p:txBody>
          <a:bodyPr/>
          <a:lstStyle/>
          <a:p>
            <a:r>
              <a:rPr lang="en-US" sz="1200"/>
              <a:t>- example TGAG showing various biological evidence paths connecting a trait to a candidate</a:t>
            </a:r>
          </a:p>
          <a:p>
            <a:r>
              <a:rPr lang="en-US" sz="1200"/>
              <a:t>- user has provided the trait and candidate, rest are from </a:t>
            </a:r>
            <a:r>
              <a:rPr lang="en-US" sz="1200" err="1"/>
              <a:t>GeneSieve</a:t>
            </a:r>
            <a:r>
              <a:rPr lang="en-US" sz="1200"/>
              <a:t> system</a:t>
            </a:r>
          </a:p>
        </p:txBody>
      </p:sp>
      <p:sp>
        <p:nvSpPr>
          <p:cNvPr id="4" name="Slide Number Placeholder 3">
            <a:extLst>
              <a:ext uri="{FF2B5EF4-FFF2-40B4-BE49-F238E27FC236}">
                <a16:creationId xmlns:a16="http://schemas.microsoft.com/office/drawing/2014/main" id="{377F3BC6-24E9-E9A6-9C27-F1867DA63967}"/>
              </a:ext>
            </a:extLst>
          </p:cNvPr>
          <p:cNvSpPr>
            <a:spLocks noGrp="1"/>
          </p:cNvSpPr>
          <p:nvPr>
            <p:ph type="sldNum" sz="quarter" idx="10"/>
          </p:nvPr>
        </p:nvSpPr>
        <p:spPr/>
        <p:txBody>
          <a:bodyPr/>
          <a:lstStyle/>
          <a:p>
            <a:fld id="{25F238A8-1190-BB46-95A0-C10FA98B630E}" type="slidenum">
              <a:rPr lang="en-US" smtClean="0"/>
              <a:pPr/>
              <a:t>17</a:t>
            </a:fld>
            <a:endParaRPr lang="en-US"/>
          </a:p>
        </p:txBody>
      </p:sp>
    </p:spTree>
    <p:extLst>
      <p:ext uri="{BB962C8B-B14F-4D97-AF65-F5344CB8AC3E}">
        <p14:creationId xmlns:p14="http://schemas.microsoft.com/office/powerpoint/2010/main" val="21653081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90C88-8FBD-589D-2A7E-7E11C66B6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7FA98-DF2B-B4A4-D9C6-37D7FC9EF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38242-832E-DA17-AEF9-5F8C98C3B18A}"/>
              </a:ext>
            </a:extLst>
          </p:cNvPr>
          <p:cNvSpPr>
            <a:spLocks noGrp="1"/>
          </p:cNvSpPr>
          <p:nvPr>
            <p:ph type="body" idx="1"/>
          </p:nvPr>
        </p:nvSpPr>
        <p:spPr/>
        <p:txBody>
          <a:bodyPr/>
          <a:lstStyle/>
          <a:p>
            <a:r>
              <a:rPr lang="en-US" sz="1200"/>
              <a:t>- example TGAG showing various biological evidence paths connecting a trait to a candidate</a:t>
            </a:r>
          </a:p>
          <a:p>
            <a:r>
              <a:rPr lang="en-US" sz="1200"/>
              <a:t>- user has provided the trait and candidate, rest are from </a:t>
            </a:r>
            <a:r>
              <a:rPr lang="en-US" sz="1200" err="1"/>
              <a:t>GeneSieve</a:t>
            </a:r>
            <a:r>
              <a:rPr lang="en-US" sz="1200"/>
              <a:t> system</a:t>
            </a:r>
          </a:p>
        </p:txBody>
      </p:sp>
      <p:sp>
        <p:nvSpPr>
          <p:cNvPr id="4" name="Slide Number Placeholder 3">
            <a:extLst>
              <a:ext uri="{FF2B5EF4-FFF2-40B4-BE49-F238E27FC236}">
                <a16:creationId xmlns:a16="http://schemas.microsoft.com/office/drawing/2014/main" id="{EB5745B2-7CA7-70E7-4EF8-6EC1A2A1C75E}"/>
              </a:ext>
            </a:extLst>
          </p:cNvPr>
          <p:cNvSpPr>
            <a:spLocks noGrp="1"/>
          </p:cNvSpPr>
          <p:nvPr>
            <p:ph type="sldNum" sz="quarter" idx="10"/>
          </p:nvPr>
        </p:nvSpPr>
        <p:spPr/>
        <p:txBody>
          <a:bodyPr/>
          <a:lstStyle/>
          <a:p>
            <a:fld id="{25F238A8-1190-BB46-95A0-C10FA98B630E}" type="slidenum">
              <a:rPr lang="en-US" smtClean="0"/>
              <a:pPr/>
              <a:t>18</a:t>
            </a:fld>
            <a:endParaRPr lang="en-US"/>
          </a:p>
        </p:txBody>
      </p:sp>
    </p:spTree>
    <p:extLst>
      <p:ext uri="{BB962C8B-B14F-4D97-AF65-F5344CB8AC3E}">
        <p14:creationId xmlns:p14="http://schemas.microsoft.com/office/powerpoint/2010/main" val="17495641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633E1-AF78-B862-F6BC-9C78F5DB1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09B76C-7915-EB6D-481F-AAB2206956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3EE47E-616A-76AB-36C0-BC81F6358CFB}"/>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its a known fact that genes are responsible for trait expression</a:t>
            </a:r>
          </a:p>
          <a:p>
            <a:r>
              <a:rPr lang="en-US" sz="1200">
                <a:solidFill>
                  <a:schemeClr val="tx1"/>
                </a:solidFill>
                <a:latin typeface="Arial" panose="020B0604020202020204" pitchFamily="34" charset="0"/>
                <a:cs typeface="Arial" panose="020B0604020202020204" pitchFamily="34" charset="0"/>
              </a:rPr>
              <a:t>- env factors can contribute, but for now lets assume the env is perfect</a:t>
            </a:r>
          </a:p>
          <a:p>
            <a:r>
              <a:rPr lang="en-US" sz="1200">
                <a:solidFill>
                  <a:schemeClr val="tx1"/>
                </a:solidFill>
                <a:latin typeface="Arial" panose="020B0604020202020204" pitchFamily="34" charset="0"/>
                <a:cs typeface="Arial" panose="020B0604020202020204" pitchFamily="34" charset="0"/>
              </a:rPr>
              <a:t>- want to know which genes are responsible for a trait, i.e. have a causal relationship with specific trait</a:t>
            </a:r>
          </a:p>
          <a:p>
            <a:r>
              <a:rPr lang="en-US" sz="1200">
                <a:solidFill>
                  <a:schemeClr val="tx1"/>
                </a:solidFill>
                <a:latin typeface="Arial" panose="020B0604020202020204" pitchFamily="34" charset="0"/>
                <a:cs typeface="Arial" panose="020B0604020202020204" pitchFamily="34" charset="0"/>
              </a:rPr>
              <a:t>- want to rank genes based on strength of causal relationship to trait</a:t>
            </a:r>
          </a:p>
          <a:p>
            <a:r>
              <a:rPr lang="en-US" sz="1200">
                <a:solidFill>
                  <a:schemeClr val="tx1"/>
                </a:solidFill>
                <a:latin typeface="Arial" panose="020B0604020202020204" pitchFamily="34" charset="0"/>
                <a:cs typeface="Arial" panose="020B0604020202020204" pitchFamily="34" charset="0"/>
              </a:rPr>
              <a:t>- want this analysis to be applicable cross-species</a:t>
            </a:r>
          </a:p>
        </p:txBody>
      </p:sp>
      <p:sp>
        <p:nvSpPr>
          <p:cNvPr id="4" name="Slide Number Placeholder 3">
            <a:extLst>
              <a:ext uri="{FF2B5EF4-FFF2-40B4-BE49-F238E27FC236}">
                <a16:creationId xmlns:a16="http://schemas.microsoft.com/office/drawing/2014/main" id="{57AD413F-02C4-3ED6-58D3-2E6A5E9DE293}"/>
              </a:ext>
            </a:extLst>
          </p:cNvPr>
          <p:cNvSpPr>
            <a:spLocks noGrp="1"/>
          </p:cNvSpPr>
          <p:nvPr>
            <p:ph type="sldNum" sz="quarter" idx="10"/>
          </p:nvPr>
        </p:nvSpPr>
        <p:spPr/>
        <p:txBody>
          <a:bodyPr/>
          <a:lstStyle/>
          <a:p>
            <a:fld id="{25F238A8-1190-BB46-95A0-C10FA98B630E}" type="slidenum">
              <a:rPr lang="en-US" smtClean="0"/>
              <a:pPr/>
              <a:t>19</a:t>
            </a:fld>
            <a:endParaRPr lang="en-US"/>
          </a:p>
        </p:txBody>
      </p:sp>
    </p:spTree>
    <p:extLst>
      <p:ext uri="{BB962C8B-B14F-4D97-AF65-F5344CB8AC3E}">
        <p14:creationId xmlns:p14="http://schemas.microsoft.com/office/powerpoint/2010/main" val="27532311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F05E7-4B77-008A-B3E8-F6E35C824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CE0CA7-9D11-DEED-AE1F-5D2959F395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2DB22-FC04-8002-E0F4-E5B225513640}"/>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its a known fact that genes are responsible for trait expression</a:t>
            </a:r>
          </a:p>
          <a:p>
            <a:r>
              <a:rPr lang="en-US" sz="1200">
                <a:solidFill>
                  <a:schemeClr val="tx1"/>
                </a:solidFill>
                <a:latin typeface="Arial" panose="020B0604020202020204" pitchFamily="34" charset="0"/>
                <a:cs typeface="Arial" panose="020B0604020202020204" pitchFamily="34" charset="0"/>
              </a:rPr>
              <a:t>- env factors can contribute, but for now lets assume the env is perfect</a:t>
            </a:r>
          </a:p>
          <a:p>
            <a:r>
              <a:rPr lang="en-US" sz="1200">
                <a:solidFill>
                  <a:schemeClr val="tx1"/>
                </a:solidFill>
                <a:latin typeface="Arial" panose="020B0604020202020204" pitchFamily="34" charset="0"/>
                <a:cs typeface="Arial" panose="020B0604020202020204" pitchFamily="34" charset="0"/>
              </a:rPr>
              <a:t>- want to know which genes are responsible for a trait, i.e. have a causal relationship with specific trait</a:t>
            </a:r>
          </a:p>
          <a:p>
            <a:r>
              <a:rPr lang="en-US" sz="1200">
                <a:solidFill>
                  <a:schemeClr val="tx1"/>
                </a:solidFill>
                <a:latin typeface="Arial" panose="020B0604020202020204" pitchFamily="34" charset="0"/>
                <a:cs typeface="Arial" panose="020B0604020202020204" pitchFamily="34" charset="0"/>
              </a:rPr>
              <a:t>- want to rank genes based on strength of causal relationship to trait</a:t>
            </a:r>
          </a:p>
          <a:p>
            <a:r>
              <a:rPr lang="en-US" sz="1200">
                <a:solidFill>
                  <a:schemeClr val="tx1"/>
                </a:solidFill>
                <a:latin typeface="Arial" panose="020B0604020202020204" pitchFamily="34" charset="0"/>
                <a:cs typeface="Arial" panose="020B0604020202020204" pitchFamily="34" charset="0"/>
              </a:rPr>
              <a:t>- want this analysis to be applicable cross-species</a:t>
            </a:r>
          </a:p>
        </p:txBody>
      </p:sp>
      <p:sp>
        <p:nvSpPr>
          <p:cNvPr id="4" name="Slide Number Placeholder 3">
            <a:extLst>
              <a:ext uri="{FF2B5EF4-FFF2-40B4-BE49-F238E27FC236}">
                <a16:creationId xmlns:a16="http://schemas.microsoft.com/office/drawing/2014/main" id="{7CEB062E-DA72-E5F3-1225-CD9E8FAA62D9}"/>
              </a:ext>
            </a:extLst>
          </p:cNvPr>
          <p:cNvSpPr>
            <a:spLocks noGrp="1"/>
          </p:cNvSpPr>
          <p:nvPr>
            <p:ph type="sldNum" sz="quarter" idx="10"/>
          </p:nvPr>
        </p:nvSpPr>
        <p:spPr/>
        <p:txBody>
          <a:bodyPr/>
          <a:lstStyle/>
          <a:p>
            <a:fld id="{25F238A8-1190-BB46-95A0-C10FA98B630E}" type="slidenum">
              <a:rPr lang="en-US" smtClean="0"/>
              <a:pPr/>
              <a:t>20</a:t>
            </a:fld>
            <a:endParaRPr lang="en-US"/>
          </a:p>
        </p:txBody>
      </p:sp>
    </p:spTree>
    <p:extLst>
      <p:ext uri="{BB962C8B-B14F-4D97-AF65-F5344CB8AC3E}">
        <p14:creationId xmlns:p14="http://schemas.microsoft.com/office/powerpoint/2010/main" val="19183978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908FE-6E53-EAFA-4C99-14EF5F185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355328-839C-F130-45FC-96AB8A5C0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816BCC-6BD5-9064-8D2B-D3EDAF34F5BF}"/>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lang="en-US"/>
              <a:t>- lets dive into datasets we obtained from the USDA-ARS (</a:t>
            </a:r>
            <a:r>
              <a:rPr lang="en-US" err="1"/>
              <a:t>agro</a:t>
            </a:r>
            <a:r>
              <a:rPr lang="en-US"/>
              <a:t> research service)</a:t>
            </a:r>
          </a:p>
          <a:p>
            <a:pPr marL="0" marR="0" lvl="0" indent="0" algn="l" defTabSz="121911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A9858504-9276-E6A3-37DA-C1BB0E9BFBE9}"/>
              </a:ext>
            </a:extLst>
          </p:cNvPr>
          <p:cNvSpPr>
            <a:spLocks noGrp="1"/>
          </p:cNvSpPr>
          <p:nvPr>
            <p:ph type="sldNum" sz="quarter" idx="10"/>
          </p:nvPr>
        </p:nvSpPr>
        <p:spPr/>
        <p:txBody>
          <a:bodyPr/>
          <a:lstStyle/>
          <a:p>
            <a:fld id="{25F238A8-1190-BB46-95A0-C10FA98B630E}" type="slidenum">
              <a:rPr lang="en-US" smtClean="0"/>
              <a:pPr/>
              <a:t>21</a:t>
            </a:fld>
            <a:endParaRPr lang="en-US"/>
          </a:p>
        </p:txBody>
      </p:sp>
    </p:spTree>
    <p:extLst>
      <p:ext uri="{BB962C8B-B14F-4D97-AF65-F5344CB8AC3E}">
        <p14:creationId xmlns:p14="http://schemas.microsoft.com/office/powerpoint/2010/main" val="36313214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AEDF4-B8F7-D815-D5AB-EAFFF391A5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D70C2-66A4-3A71-434C-7B8B19247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05A3D-A597-91DD-3CA4-DA0E1EF237E5}"/>
              </a:ext>
            </a:extLst>
          </p:cNvPr>
          <p:cNvSpPr>
            <a:spLocks noGrp="1"/>
          </p:cNvSpPr>
          <p:nvPr>
            <p:ph type="body" idx="1"/>
          </p:nvPr>
        </p:nvSpPr>
        <p:spPr/>
        <p:txBody>
          <a:bodyPr/>
          <a:lstStyle/>
          <a:p>
            <a:r>
              <a:rPr lang="en-US"/>
              <a:t>- Genes from rice, maize, soybean, and </a:t>
            </a:r>
            <a:r>
              <a:rPr lang="en-US" i="1"/>
              <a:t>Arabidopsis</a:t>
            </a:r>
            <a:r>
              <a:rPr lang="en-US"/>
              <a:t> were chosen because they capture broad evolutionary and genomic diversity across flowering plants</a:t>
            </a:r>
          </a:p>
          <a:p>
            <a:r>
              <a:rPr lang="en-US"/>
              <a:t>- provides the ability to generalize to many other plant species </a:t>
            </a:r>
          </a:p>
        </p:txBody>
      </p:sp>
      <p:sp>
        <p:nvSpPr>
          <p:cNvPr id="4" name="Slide Number Placeholder 3">
            <a:extLst>
              <a:ext uri="{FF2B5EF4-FFF2-40B4-BE49-F238E27FC236}">
                <a16:creationId xmlns:a16="http://schemas.microsoft.com/office/drawing/2014/main" id="{8EEF07E7-5560-B2CC-ACFA-1A0B07AA5676}"/>
              </a:ext>
            </a:extLst>
          </p:cNvPr>
          <p:cNvSpPr>
            <a:spLocks noGrp="1"/>
          </p:cNvSpPr>
          <p:nvPr>
            <p:ph type="sldNum" sz="quarter" idx="10"/>
          </p:nvPr>
        </p:nvSpPr>
        <p:spPr/>
        <p:txBody>
          <a:bodyPr/>
          <a:lstStyle/>
          <a:p>
            <a:fld id="{25F238A8-1190-BB46-95A0-C10FA98B630E}" type="slidenum">
              <a:rPr lang="en-US" smtClean="0"/>
              <a:pPr/>
              <a:t>22</a:t>
            </a:fld>
            <a:endParaRPr lang="en-US"/>
          </a:p>
        </p:txBody>
      </p:sp>
    </p:spTree>
    <p:extLst>
      <p:ext uri="{BB962C8B-B14F-4D97-AF65-F5344CB8AC3E}">
        <p14:creationId xmlns:p14="http://schemas.microsoft.com/office/powerpoint/2010/main" val="15708823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A1CA2-FD95-D44D-3EF9-2CEA0A7EF6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4AA6B2-2D7D-4F71-2BCF-F599EE0670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70466-3B8D-894D-3D8E-7DDF2424659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81C09EA-1A62-2FF4-58CA-FF64DCEDC31C}"/>
              </a:ext>
            </a:extLst>
          </p:cNvPr>
          <p:cNvSpPr>
            <a:spLocks noGrp="1"/>
          </p:cNvSpPr>
          <p:nvPr>
            <p:ph type="sldNum" sz="quarter" idx="10"/>
          </p:nvPr>
        </p:nvSpPr>
        <p:spPr/>
        <p:txBody>
          <a:bodyPr/>
          <a:lstStyle/>
          <a:p>
            <a:fld id="{25F238A8-1190-BB46-95A0-C10FA98B630E}" type="slidenum">
              <a:rPr lang="en-US" smtClean="0"/>
              <a:pPr/>
              <a:t>23</a:t>
            </a:fld>
            <a:endParaRPr lang="en-US"/>
          </a:p>
        </p:txBody>
      </p:sp>
    </p:spTree>
    <p:extLst>
      <p:ext uri="{BB962C8B-B14F-4D97-AF65-F5344CB8AC3E}">
        <p14:creationId xmlns:p14="http://schemas.microsoft.com/office/powerpoint/2010/main" val="37953382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F1DC1-8AEA-739E-947E-609B83384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944BF-62E9-763A-4015-2F47863A10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AB901-FB7E-E817-5F93-D1294DA79644}"/>
              </a:ext>
            </a:extLst>
          </p:cNvPr>
          <p:cNvSpPr>
            <a:spLocks noGrp="1"/>
          </p:cNvSpPr>
          <p:nvPr>
            <p:ph type="body" idx="1"/>
          </p:nvPr>
        </p:nvSpPr>
        <p:spPr/>
        <p:txBody>
          <a:bodyPr/>
          <a:lstStyle/>
          <a:p>
            <a:r>
              <a:rPr lang="en-US"/>
              <a:t>- almost a million distinct trait-gene associations across 4 plant species</a:t>
            </a:r>
          </a:p>
        </p:txBody>
      </p:sp>
      <p:sp>
        <p:nvSpPr>
          <p:cNvPr id="4" name="Slide Number Placeholder 3">
            <a:extLst>
              <a:ext uri="{FF2B5EF4-FFF2-40B4-BE49-F238E27FC236}">
                <a16:creationId xmlns:a16="http://schemas.microsoft.com/office/drawing/2014/main" id="{C543AECB-C6F3-E3B2-1C9B-D6E19CAF60C4}"/>
              </a:ext>
            </a:extLst>
          </p:cNvPr>
          <p:cNvSpPr>
            <a:spLocks noGrp="1"/>
          </p:cNvSpPr>
          <p:nvPr>
            <p:ph type="sldNum" sz="quarter" idx="10"/>
          </p:nvPr>
        </p:nvSpPr>
        <p:spPr/>
        <p:txBody>
          <a:bodyPr/>
          <a:lstStyle/>
          <a:p>
            <a:fld id="{25F238A8-1190-BB46-95A0-C10FA98B630E}" type="slidenum">
              <a:rPr lang="en-US" smtClean="0"/>
              <a:pPr/>
              <a:t>24</a:t>
            </a:fld>
            <a:endParaRPr lang="en-US"/>
          </a:p>
        </p:txBody>
      </p:sp>
    </p:spTree>
    <p:extLst>
      <p:ext uri="{BB962C8B-B14F-4D97-AF65-F5344CB8AC3E}">
        <p14:creationId xmlns:p14="http://schemas.microsoft.com/office/powerpoint/2010/main" val="24553562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4C111-0C53-D37F-AB72-C8D83025B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413503-6905-BC92-4773-CB1F0748B7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C65031-420C-D044-9BB1-FE95875A48AC}"/>
              </a:ext>
            </a:extLst>
          </p:cNvPr>
          <p:cNvSpPr>
            <a:spLocks noGrp="1"/>
          </p:cNvSpPr>
          <p:nvPr>
            <p:ph type="body" idx="1"/>
          </p:nvPr>
        </p:nvSpPr>
        <p:spPr/>
        <p:txBody>
          <a:bodyPr/>
          <a:lstStyle/>
          <a:p>
            <a:r>
              <a:rPr lang="en-US"/>
              <a:t>- few examples from the large QTL dataset</a:t>
            </a:r>
          </a:p>
        </p:txBody>
      </p:sp>
      <p:sp>
        <p:nvSpPr>
          <p:cNvPr id="4" name="Slide Number Placeholder 3">
            <a:extLst>
              <a:ext uri="{FF2B5EF4-FFF2-40B4-BE49-F238E27FC236}">
                <a16:creationId xmlns:a16="http://schemas.microsoft.com/office/drawing/2014/main" id="{FD86BD6D-EC38-4E1C-DAB1-DA50203634DE}"/>
              </a:ext>
            </a:extLst>
          </p:cNvPr>
          <p:cNvSpPr>
            <a:spLocks noGrp="1"/>
          </p:cNvSpPr>
          <p:nvPr>
            <p:ph type="sldNum" sz="quarter" idx="10"/>
          </p:nvPr>
        </p:nvSpPr>
        <p:spPr/>
        <p:txBody>
          <a:bodyPr/>
          <a:lstStyle/>
          <a:p>
            <a:fld id="{25F238A8-1190-BB46-95A0-C10FA98B630E}" type="slidenum">
              <a:rPr lang="en-US" smtClean="0"/>
              <a:pPr/>
              <a:t>25</a:t>
            </a:fld>
            <a:endParaRPr lang="en-US"/>
          </a:p>
        </p:txBody>
      </p:sp>
    </p:spTree>
    <p:extLst>
      <p:ext uri="{BB962C8B-B14F-4D97-AF65-F5344CB8AC3E}">
        <p14:creationId xmlns:p14="http://schemas.microsoft.com/office/powerpoint/2010/main" val="25328115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E8BDB-5FB9-C564-AE08-2760502BA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6F86D2-F7A9-7783-1734-E993F99C26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5FD69-5A74-A342-8F3F-415EB9C03397}"/>
              </a:ext>
            </a:extLst>
          </p:cNvPr>
          <p:cNvSpPr>
            <a:spLocks noGrp="1"/>
          </p:cNvSpPr>
          <p:nvPr>
            <p:ph type="body" idx="1"/>
          </p:nvPr>
        </p:nvSpPr>
        <p:spPr/>
        <p:txBody>
          <a:bodyPr/>
          <a:lstStyle/>
          <a:p>
            <a:r>
              <a:rPr lang="en-US"/>
              <a:t>- over 2.4B </a:t>
            </a:r>
            <a:r>
              <a:rPr lang="en-US" err="1"/>
              <a:t>distinc</a:t>
            </a:r>
            <a:r>
              <a:rPr lang="en-US"/>
              <a:t> </a:t>
            </a:r>
            <a:r>
              <a:rPr lang="en-US" err="1"/>
              <a:t>coexp</a:t>
            </a:r>
            <a:r>
              <a:rPr lang="en-US"/>
              <a:t> relationships</a:t>
            </a:r>
          </a:p>
          <a:p>
            <a:r>
              <a:rPr lang="en-US"/>
              <a:t>- per-genome only. so rice-maize cannot be co-expressed</a:t>
            </a:r>
          </a:p>
          <a:p>
            <a:endParaRPr lang="en-US"/>
          </a:p>
          <a:p>
            <a:r>
              <a:rPr lang="en-US"/>
              <a:t>- Co-expression occurs when two genes exhibit similar expression patterns</a:t>
            </a:r>
          </a:p>
          <a:p>
            <a:r>
              <a:rPr lang="en-US"/>
              <a:t>- suggesting they may be functionally related or participate in the same biological process</a:t>
            </a:r>
          </a:p>
          <a:p>
            <a:endParaRPr lang="en-US"/>
          </a:p>
          <a:p>
            <a:r>
              <a:rPr lang="en-US"/>
              <a:t>- when gene1 highly expressed, gene2 also highly expressed. gene1 not expressed, gene2 also not expressed</a:t>
            </a:r>
          </a:p>
          <a:p>
            <a:r>
              <a:rPr lang="en-US"/>
              <a:t>- not a clear causal relationship. usually a 3rd thing is the cause</a:t>
            </a:r>
          </a:p>
        </p:txBody>
      </p:sp>
      <p:sp>
        <p:nvSpPr>
          <p:cNvPr id="4" name="Slide Number Placeholder 3">
            <a:extLst>
              <a:ext uri="{FF2B5EF4-FFF2-40B4-BE49-F238E27FC236}">
                <a16:creationId xmlns:a16="http://schemas.microsoft.com/office/drawing/2014/main" id="{29DEAC5C-87A3-B91F-CFA8-A967D62E4A35}"/>
              </a:ext>
            </a:extLst>
          </p:cNvPr>
          <p:cNvSpPr>
            <a:spLocks noGrp="1"/>
          </p:cNvSpPr>
          <p:nvPr>
            <p:ph type="sldNum" sz="quarter" idx="10"/>
          </p:nvPr>
        </p:nvSpPr>
        <p:spPr/>
        <p:txBody>
          <a:bodyPr/>
          <a:lstStyle/>
          <a:p>
            <a:fld id="{25F238A8-1190-BB46-95A0-C10FA98B630E}" type="slidenum">
              <a:rPr lang="en-US" smtClean="0"/>
              <a:pPr/>
              <a:t>26</a:t>
            </a:fld>
            <a:endParaRPr lang="en-US"/>
          </a:p>
        </p:txBody>
      </p:sp>
    </p:spTree>
    <p:extLst>
      <p:ext uri="{BB962C8B-B14F-4D97-AF65-F5344CB8AC3E}">
        <p14:creationId xmlns:p14="http://schemas.microsoft.com/office/powerpoint/2010/main" val="27072515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983BE-2DAF-4014-A767-9F5174E542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36266-4212-5C5C-4E78-FB897DD7E9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07EBD8-DB2C-346F-40FA-ADC86FE7CBA1}"/>
              </a:ext>
            </a:extLst>
          </p:cNvPr>
          <p:cNvSpPr>
            <a:spLocks noGrp="1"/>
          </p:cNvSpPr>
          <p:nvPr>
            <p:ph type="body" idx="1"/>
          </p:nvPr>
        </p:nvSpPr>
        <p:spPr/>
        <p:txBody>
          <a:bodyPr/>
          <a:lstStyle/>
          <a:p>
            <a:r>
              <a:rPr lang="en-US"/>
              <a:t>- quick look into a few examples of </a:t>
            </a:r>
            <a:r>
              <a:rPr lang="en-US" err="1"/>
              <a:t>coexp</a:t>
            </a:r>
            <a:r>
              <a:rPr lang="en-US"/>
              <a:t> relationships and size of tables</a:t>
            </a:r>
          </a:p>
        </p:txBody>
      </p:sp>
      <p:sp>
        <p:nvSpPr>
          <p:cNvPr id="4" name="Slide Number Placeholder 3">
            <a:extLst>
              <a:ext uri="{FF2B5EF4-FFF2-40B4-BE49-F238E27FC236}">
                <a16:creationId xmlns:a16="http://schemas.microsoft.com/office/drawing/2014/main" id="{7A65CBE3-3806-419F-5AD1-D89DB9A3B4AB}"/>
              </a:ext>
            </a:extLst>
          </p:cNvPr>
          <p:cNvSpPr>
            <a:spLocks noGrp="1"/>
          </p:cNvSpPr>
          <p:nvPr>
            <p:ph type="sldNum" sz="quarter" idx="10"/>
          </p:nvPr>
        </p:nvSpPr>
        <p:spPr/>
        <p:txBody>
          <a:bodyPr/>
          <a:lstStyle/>
          <a:p>
            <a:fld id="{25F238A8-1190-BB46-95A0-C10FA98B630E}" type="slidenum">
              <a:rPr lang="en-US" smtClean="0"/>
              <a:pPr/>
              <a:t>27</a:t>
            </a:fld>
            <a:endParaRPr lang="en-US"/>
          </a:p>
        </p:txBody>
      </p:sp>
    </p:spTree>
    <p:extLst>
      <p:ext uri="{BB962C8B-B14F-4D97-AF65-F5344CB8AC3E}">
        <p14:creationId xmlns:p14="http://schemas.microsoft.com/office/powerpoint/2010/main" val="17391079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7D76A-C7FD-0033-EC07-0DCD9D29A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F793A3-E3CD-4B80-A977-B66A908AC0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F12B4B-3D37-667B-A351-F7C51723ECDC}"/>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lang="en-US"/>
              <a:t>- now lets dive into the central data model used in </a:t>
            </a:r>
            <a:r>
              <a:rPr lang="en-US" err="1"/>
              <a:t>GeneSieve</a:t>
            </a:r>
            <a:r>
              <a:rPr lang="en-US"/>
              <a:t> (TGAG)</a:t>
            </a:r>
          </a:p>
        </p:txBody>
      </p:sp>
      <p:sp>
        <p:nvSpPr>
          <p:cNvPr id="4" name="Slide Number Placeholder 3">
            <a:extLst>
              <a:ext uri="{FF2B5EF4-FFF2-40B4-BE49-F238E27FC236}">
                <a16:creationId xmlns:a16="http://schemas.microsoft.com/office/drawing/2014/main" id="{9820A0C1-2967-BA38-9C38-4E9FCF22985A}"/>
              </a:ext>
            </a:extLst>
          </p:cNvPr>
          <p:cNvSpPr>
            <a:spLocks noGrp="1"/>
          </p:cNvSpPr>
          <p:nvPr>
            <p:ph type="sldNum" sz="quarter" idx="10"/>
          </p:nvPr>
        </p:nvSpPr>
        <p:spPr/>
        <p:txBody>
          <a:bodyPr/>
          <a:lstStyle/>
          <a:p>
            <a:fld id="{25F238A8-1190-BB46-95A0-C10FA98B630E}" type="slidenum">
              <a:rPr lang="en-US" smtClean="0"/>
              <a:pPr/>
              <a:t>28</a:t>
            </a:fld>
            <a:endParaRPr lang="en-US"/>
          </a:p>
        </p:txBody>
      </p:sp>
    </p:spTree>
    <p:extLst>
      <p:ext uri="{BB962C8B-B14F-4D97-AF65-F5344CB8AC3E}">
        <p14:creationId xmlns:p14="http://schemas.microsoft.com/office/powerpoint/2010/main" val="37718113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31CF6-A5ED-7FA4-F9A0-C04E4DE73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A9017F-619F-5917-9A64-03F30445EA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721351-3B13-60DE-8380-C88E1D11172B}"/>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F8AC5C22-6359-6AD0-3610-844F308ABAC9}"/>
              </a:ext>
            </a:extLst>
          </p:cNvPr>
          <p:cNvSpPr>
            <a:spLocks noGrp="1"/>
          </p:cNvSpPr>
          <p:nvPr>
            <p:ph type="sldNum" sz="quarter" idx="10"/>
          </p:nvPr>
        </p:nvSpPr>
        <p:spPr/>
        <p:txBody>
          <a:bodyPr/>
          <a:lstStyle/>
          <a:p>
            <a:fld id="{25F238A8-1190-BB46-95A0-C10FA98B630E}" type="slidenum">
              <a:rPr lang="en-US" smtClean="0"/>
              <a:pPr/>
              <a:t>29</a:t>
            </a:fld>
            <a:endParaRPr lang="en-US"/>
          </a:p>
        </p:txBody>
      </p:sp>
    </p:spTree>
    <p:extLst>
      <p:ext uri="{BB962C8B-B14F-4D97-AF65-F5344CB8AC3E}">
        <p14:creationId xmlns:p14="http://schemas.microsoft.com/office/powerpoint/2010/main" val="38676048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31BCD-E914-A138-D5FE-B6AF512D9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F2FA59-DE6C-634B-EBC9-3C82B3FF77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85DDB0-6950-82A7-4565-C6BBFFC6352A}"/>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BE51CC61-3F4A-A5B6-4355-5BE1BF811533}"/>
              </a:ext>
            </a:extLst>
          </p:cNvPr>
          <p:cNvSpPr>
            <a:spLocks noGrp="1"/>
          </p:cNvSpPr>
          <p:nvPr>
            <p:ph type="sldNum" sz="quarter" idx="10"/>
          </p:nvPr>
        </p:nvSpPr>
        <p:spPr/>
        <p:txBody>
          <a:bodyPr/>
          <a:lstStyle/>
          <a:p>
            <a:fld id="{25F238A8-1190-BB46-95A0-C10FA98B630E}" type="slidenum">
              <a:rPr lang="en-US" smtClean="0"/>
              <a:pPr/>
              <a:t>30</a:t>
            </a:fld>
            <a:endParaRPr lang="en-US"/>
          </a:p>
        </p:txBody>
      </p:sp>
    </p:spTree>
    <p:extLst>
      <p:ext uri="{BB962C8B-B14F-4D97-AF65-F5344CB8AC3E}">
        <p14:creationId xmlns:p14="http://schemas.microsoft.com/office/powerpoint/2010/main" val="17109336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D0D86-3961-B3E9-366B-197674839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055645-6E48-7506-119A-077AF980D2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E90BFD-D236-BF50-3F66-55EA7AFFEA7C}"/>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lang="en-US"/>
              <a:t>- I will get into how this trait similarity is calculated in an upcoming section</a:t>
            </a:r>
          </a:p>
          <a:p>
            <a:pPr marL="0" marR="0" lvl="0" indent="0" algn="l" defTabSz="121911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12E0CDC7-1338-709E-8FD7-891DB36C9C57}"/>
              </a:ext>
            </a:extLst>
          </p:cNvPr>
          <p:cNvSpPr>
            <a:spLocks noGrp="1"/>
          </p:cNvSpPr>
          <p:nvPr>
            <p:ph type="sldNum" sz="quarter" idx="10"/>
          </p:nvPr>
        </p:nvSpPr>
        <p:spPr/>
        <p:txBody>
          <a:bodyPr/>
          <a:lstStyle/>
          <a:p>
            <a:fld id="{25F238A8-1190-BB46-95A0-C10FA98B630E}" type="slidenum">
              <a:rPr lang="en-US" smtClean="0"/>
              <a:pPr/>
              <a:t>31</a:t>
            </a:fld>
            <a:endParaRPr lang="en-US"/>
          </a:p>
        </p:txBody>
      </p:sp>
    </p:spTree>
    <p:extLst>
      <p:ext uri="{BB962C8B-B14F-4D97-AF65-F5344CB8AC3E}">
        <p14:creationId xmlns:p14="http://schemas.microsoft.com/office/powerpoint/2010/main" val="27604127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mention anthocyanin causes pigmentation </a:t>
            </a:r>
          </a:p>
        </p:txBody>
      </p:sp>
      <p:sp>
        <p:nvSpPr>
          <p:cNvPr id="4" name="Slide Number Placeholder 3"/>
          <p:cNvSpPr>
            <a:spLocks noGrp="1"/>
          </p:cNvSpPr>
          <p:nvPr>
            <p:ph type="sldNum" sz="quarter" idx="5"/>
          </p:nvPr>
        </p:nvSpPr>
        <p:spPr/>
        <p:txBody>
          <a:bodyPr/>
          <a:lstStyle/>
          <a:p>
            <a:fld id="{25F238A8-1190-BB46-95A0-C10FA98B630E}" type="slidenum">
              <a:rPr lang="en-US" smtClean="0"/>
              <a:pPr/>
              <a:t>32</a:t>
            </a:fld>
            <a:endParaRPr lang="en-US"/>
          </a:p>
        </p:txBody>
      </p:sp>
    </p:spTree>
    <p:extLst>
      <p:ext uri="{BB962C8B-B14F-4D97-AF65-F5344CB8AC3E}">
        <p14:creationId xmlns:p14="http://schemas.microsoft.com/office/powerpoint/2010/main" val="33290510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24150-C613-F296-2ACA-3ADF4B5CBB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A91E1-E74D-08D1-0C32-9F8042B6C2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1BC98B-7A29-8BFC-C1EB-57CAC914BA62}"/>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lang="en-US"/>
              <a:t>- I will get into how this trait similarity is calculated in an upcoming section</a:t>
            </a:r>
          </a:p>
          <a:p>
            <a:pPr marL="0" marR="0" lvl="0" indent="0" algn="l" defTabSz="121911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5DF9C1E8-431C-3404-E421-985B011DED14}"/>
              </a:ext>
            </a:extLst>
          </p:cNvPr>
          <p:cNvSpPr>
            <a:spLocks noGrp="1"/>
          </p:cNvSpPr>
          <p:nvPr>
            <p:ph type="sldNum" sz="quarter" idx="10"/>
          </p:nvPr>
        </p:nvSpPr>
        <p:spPr/>
        <p:txBody>
          <a:bodyPr/>
          <a:lstStyle/>
          <a:p>
            <a:fld id="{25F238A8-1190-BB46-95A0-C10FA98B630E}" type="slidenum">
              <a:rPr lang="en-US" smtClean="0"/>
              <a:pPr/>
              <a:t>33</a:t>
            </a:fld>
            <a:endParaRPr lang="en-US"/>
          </a:p>
        </p:txBody>
      </p:sp>
    </p:spTree>
    <p:extLst>
      <p:ext uri="{BB962C8B-B14F-4D97-AF65-F5344CB8AC3E}">
        <p14:creationId xmlns:p14="http://schemas.microsoft.com/office/powerpoint/2010/main" val="29020367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8B59F-832F-8D1B-9CEA-F1BC7113AD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DE3171-C0FA-E568-4982-0258DD119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D10AA2-8A6A-6B53-4855-A888F5F2E96A}"/>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73380CEB-BB15-47C3-94D8-6C5C7CEB0C41}"/>
              </a:ext>
            </a:extLst>
          </p:cNvPr>
          <p:cNvSpPr>
            <a:spLocks noGrp="1"/>
          </p:cNvSpPr>
          <p:nvPr>
            <p:ph type="sldNum" sz="quarter" idx="10"/>
          </p:nvPr>
        </p:nvSpPr>
        <p:spPr/>
        <p:txBody>
          <a:bodyPr/>
          <a:lstStyle/>
          <a:p>
            <a:fld id="{25F238A8-1190-BB46-95A0-C10FA98B630E}" type="slidenum">
              <a:rPr lang="en-US" smtClean="0"/>
              <a:pPr/>
              <a:t>34</a:t>
            </a:fld>
            <a:endParaRPr lang="en-US"/>
          </a:p>
        </p:txBody>
      </p:sp>
    </p:spTree>
    <p:extLst>
      <p:ext uri="{BB962C8B-B14F-4D97-AF65-F5344CB8AC3E}">
        <p14:creationId xmlns:p14="http://schemas.microsoft.com/office/powerpoint/2010/main" val="19150100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8C0E7-A441-9E03-6A7C-80731C55E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8C2C3-4A62-FFE8-F0AB-02148FD9D7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46BBF8-96F2-93DB-37FA-FB2C5EB8AABA}"/>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lang="en-US"/>
              <a:t>- QTL genes associated with selected QTL traits are added to the Graph</a:t>
            </a:r>
          </a:p>
        </p:txBody>
      </p:sp>
      <p:sp>
        <p:nvSpPr>
          <p:cNvPr id="4" name="Slide Number Placeholder 3">
            <a:extLst>
              <a:ext uri="{FF2B5EF4-FFF2-40B4-BE49-F238E27FC236}">
                <a16:creationId xmlns:a16="http://schemas.microsoft.com/office/drawing/2014/main" id="{400C440C-B77A-D4E8-0619-7308C29BD9A0}"/>
              </a:ext>
            </a:extLst>
          </p:cNvPr>
          <p:cNvSpPr>
            <a:spLocks noGrp="1"/>
          </p:cNvSpPr>
          <p:nvPr>
            <p:ph type="sldNum" sz="quarter" idx="10"/>
          </p:nvPr>
        </p:nvSpPr>
        <p:spPr/>
        <p:txBody>
          <a:bodyPr/>
          <a:lstStyle/>
          <a:p>
            <a:fld id="{25F238A8-1190-BB46-95A0-C10FA98B630E}" type="slidenum">
              <a:rPr lang="en-US" smtClean="0"/>
              <a:pPr/>
              <a:t>35</a:t>
            </a:fld>
            <a:endParaRPr lang="en-US"/>
          </a:p>
        </p:txBody>
      </p:sp>
    </p:spTree>
    <p:extLst>
      <p:ext uri="{BB962C8B-B14F-4D97-AF65-F5344CB8AC3E}">
        <p14:creationId xmlns:p14="http://schemas.microsoft.com/office/powerpoint/2010/main" val="26194207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3D2CD-4D7B-0DFC-BDB5-DB8FD3C566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47D06B-4E9E-2AE9-3B4D-9F2905D161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CD5D72-58D8-1E77-0C47-14B3E3304777}"/>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A6CED77F-B4B7-9BF8-D3C8-8CF7EC42649A}"/>
              </a:ext>
            </a:extLst>
          </p:cNvPr>
          <p:cNvSpPr>
            <a:spLocks noGrp="1"/>
          </p:cNvSpPr>
          <p:nvPr>
            <p:ph type="sldNum" sz="quarter" idx="10"/>
          </p:nvPr>
        </p:nvSpPr>
        <p:spPr/>
        <p:txBody>
          <a:bodyPr/>
          <a:lstStyle/>
          <a:p>
            <a:fld id="{25F238A8-1190-BB46-95A0-C10FA98B630E}" type="slidenum">
              <a:rPr lang="en-US" smtClean="0"/>
              <a:pPr/>
              <a:t>36</a:t>
            </a:fld>
            <a:endParaRPr lang="en-US"/>
          </a:p>
        </p:txBody>
      </p:sp>
    </p:spTree>
    <p:extLst>
      <p:ext uri="{BB962C8B-B14F-4D97-AF65-F5344CB8AC3E}">
        <p14:creationId xmlns:p14="http://schemas.microsoft.com/office/powerpoint/2010/main" val="19535462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E5657-6112-8264-73A0-50DBFC83FD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7C9A0A-D081-1FEA-798C-71FEF62D0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B64AC-996F-7158-267F-4F21CDB4215E}"/>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lang="en-US"/>
              <a:t>- BLAST = basic local alignment search tool</a:t>
            </a:r>
          </a:p>
          <a:p>
            <a:pPr marL="0" marR="0" lvl="0" indent="0" algn="l" defTabSz="1219110" rtl="0" eaLnBrk="1" fontAlgn="auto" latinLnBrk="0" hangingPunct="1">
              <a:lnSpc>
                <a:spcPct val="100000"/>
              </a:lnSpc>
              <a:spcBef>
                <a:spcPts val="0"/>
              </a:spcBef>
              <a:spcAft>
                <a:spcPts val="0"/>
              </a:spcAft>
              <a:buClrTx/>
              <a:buSzTx/>
              <a:buFontTx/>
              <a:buNone/>
              <a:tabLst/>
              <a:defRPr/>
            </a:pPr>
            <a:r>
              <a:rPr lang="en-US"/>
              <a:t>- computational method</a:t>
            </a:r>
          </a:p>
        </p:txBody>
      </p:sp>
      <p:sp>
        <p:nvSpPr>
          <p:cNvPr id="4" name="Slide Number Placeholder 3">
            <a:extLst>
              <a:ext uri="{FF2B5EF4-FFF2-40B4-BE49-F238E27FC236}">
                <a16:creationId xmlns:a16="http://schemas.microsoft.com/office/drawing/2014/main" id="{710675F9-0DAA-F088-4733-EA0884924407}"/>
              </a:ext>
            </a:extLst>
          </p:cNvPr>
          <p:cNvSpPr>
            <a:spLocks noGrp="1"/>
          </p:cNvSpPr>
          <p:nvPr>
            <p:ph type="sldNum" sz="quarter" idx="10"/>
          </p:nvPr>
        </p:nvSpPr>
        <p:spPr/>
        <p:txBody>
          <a:bodyPr/>
          <a:lstStyle/>
          <a:p>
            <a:fld id="{25F238A8-1190-BB46-95A0-C10FA98B630E}" type="slidenum">
              <a:rPr lang="en-US" smtClean="0"/>
              <a:pPr/>
              <a:t>37</a:t>
            </a:fld>
            <a:endParaRPr lang="en-US"/>
          </a:p>
        </p:txBody>
      </p:sp>
    </p:spTree>
    <p:extLst>
      <p:ext uri="{BB962C8B-B14F-4D97-AF65-F5344CB8AC3E}">
        <p14:creationId xmlns:p14="http://schemas.microsoft.com/office/powerpoint/2010/main" val="15446889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B7D6E-9158-B012-975F-1B8A9B9E1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22AD17-C0C5-2FAA-9983-FE0037B8EA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69DB60-A010-73D1-14B3-6C4810A81111}"/>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1BD9FC9C-2296-EFA7-E72B-DD5305874884}"/>
              </a:ext>
            </a:extLst>
          </p:cNvPr>
          <p:cNvSpPr>
            <a:spLocks noGrp="1"/>
          </p:cNvSpPr>
          <p:nvPr>
            <p:ph type="sldNum" sz="quarter" idx="10"/>
          </p:nvPr>
        </p:nvSpPr>
        <p:spPr/>
        <p:txBody>
          <a:bodyPr/>
          <a:lstStyle/>
          <a:p>
            <a:fld id="{25F238A8-1190-BB46-95A0-C10FA98B630E}" type="slidenum">
              <a:rPr lang="en-US" smtClean="0"/>
              <a:pPr/>
              <a:t>38</a:t>
            </a:fld>
            <a:endParaRPr lang="en-US"/>
          </a:p>
        </p:txBody>
      </p:sp>
    </p:spTree>
    <p:extLst>
      <p:ext uri="{BB962C8B-B14F-4D97-AF65-F5344CB8AC3E}">
        <p14:creationId xmlns:p14="http://schemas.microsoft.com/office/powerpoint/2010/main" val="8152047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262ED-1196-6589-0D6E-2F6C82DE0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A09CC9-7CAF-E0F6-62A7-7ACE4575C0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65D4E-0D3D-C2D5-A6A5-18BC76081190}"/>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lang="en-US"/>
              <a:t>- all combinations are checked if exists in </a:t>
            </a:r>
            <a:r>
              <a:rPr lang="en-US" err="1"/>
              <a:t>coexp</a:t>
            </a:r>
            <a:r>
              <a:rPr lang="en-US"/>
              <a:t> </a:t>
            </a:r>
            <a:r>
              <a:rPr lang="en-US" err="1"/>
              <a:t>dbs</a:t>
            </a:r>
            <a:endParaRPr lang="en-US"/>
          </a:p>
        </p:txBody>
      </p:sp>
      <p:sp>
        <p:nvSpPr>
          <p:cNvPr id="4" name="Slide Number Placeholder 3">
            <a:extLst>
              <a:ext uri="{FF2B5EF4-FFF2-40B4-BE49-F238E27FC236}">
                <a16:creationId xmlns:a16="http://schemas.microsoft.com/office/drawing/2014/main" id="{6CC9B2E9-15EB-B41D-A422-90B5D863AF0C}"/>
              </a:ext>
            </a:extLst>
          </p:cNvPr>
          <p:cNvSpPr>
            <a:spLocks noGrp="1"/>
          </p:cNvSpPr>
          <p:nvPr>
            <p:ph type="sldNum" sz="quarter" idx="10"/>
          </p:nvPr>
        </p:nvSpPr>
        <p:spPr/>
        <p:txBody>
          <a:bodyPr/>
          <a:lstStyle/>
          <a:p>
            <a:fld id="{25F238A8-1190-BB46-95A0-C10FA98B630E}" type="slidenum">
              <a:rPr lang="en-US" smtClean="0"/>
              <a:pPr/>
              <a:t>39</a:t>
            </a:fld>
            <a:endParaRPr lang="en-US"/>
          </a:p>
        </p:txBody>
      </p:sp>
    </p:spTree>
    <p:extLst>
      <p:ext uri="{BB962C8B-B14F-4D97-AF65-F5344CB8AC3E}">
        <p14:creationId xmlns:p14="http://schemas.microsoft.com/office/powerpoint/2010/main" val="42939683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AB998-7C87-59E6-D42F-5A7CDB200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8E938-1010-9D23-3B9E-82D887D6FF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5A0D02-4900-5874-7127-C781DD258F1E}"/>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lang="en-US" dirty="0"/>
              <a:t>- reminder on how entries look like in </a:t>
            </a:r>
            <a:r>
              <a:rPr lang="en-US" dirty="0" err="1"/>
              <a:t>coexp</a:t>
            </a:r>
            <a:r>
              <a:rPr lang="en-US" dirty="0"/>
              <a:t> </a:t>
            </a:r>
            <a:r>
              <a:rPr lang="en-US" dirty="0" err="1"/>
              <a:t>dbs</a:t>
            </a:r>
            <a:endParaRPr lang="en-US" dirty="0"/>
          </a:p>
          <a:p>
            <a:pPr marL="0" marR="0" lvl="0" indent="0" algn="l" defTabSz="1219110" rtl="0" eaLnBrk="1" fontAlgn="auto" latinLnBrk="0" hangingPunct="1">
              <a:lnSpc>
                <a:spcPct val="100000"/>
              </a:lnSpc>
              <a:spcBef>
                <a:spcPts val="0"/>
              </a:spcBef>
              <a:spcAft>
                <a:spcPts val="0"/>
              </a:spcAft>
              <a:buClrTx/>
              <a:buSzTx/>
              <a:buFontTx/>
              <a:buNone/>
              <a:tabLst/>
              <a:defRPr/>
            </a:pPr>
            <a:r>
              <a:rPr lang="en-US" dirty="0"/>
              <a:t>- this is rice </a:t>
            </a:r>
          </a:p>
        </p:txBody>
      </p:sp>
      <p:sp>
        <p:nvSpPr>
          <p:cNvPr id="4" name="Slide Number Placeholder 3">
            <a:extLst>
              <a:ext uri="{FF2B5EF4-FFF2-40B4-BE49-F238E27FC236}">
                <a16:creationId xmlns:a16="http://schemas.microsoft.com/office/drawing/2014/main" id="{0D7A01B8-C13E-6141-A01A-6710EEEF196D}"/>
              </a:ext>
            </a:extLst>
          </p:cNvPr>
          <p:cNvSpPr>
            <a:spLocks noGrp="1"/>
          </p:cNvSpPr>
          <p:nvPr>
            <p:ph type="sldNum" sz="quarter" idx="10"/>
          </p:nvPr>
        </p:nvSpPr>
        <p:spPr/>
        <p:txBody>
          <a:bodyPr/>
          <a:lstStyle/>
          <a:p>
            <a:fld id="{25F238A8-1190-BB46-95A0-C10FA98B630E}" type="slidenum">
              <a:rPr lang="en-US" smtClean="0"/>
              <a:pPr/>
              <a:t>40</a:t>
            </a:fld>
            <a:endParaRPr lang="en-US"/>
          </a:p>
        </p:txBody>
      </p:sp>
    </p:spTree>
    <p:extLst>
      <p:ext uri="{BB962C8B-B14F-4D97-AF65-F5344CB8AC3E}">
        <p14:creationId xmlns:p14="http://schemas.microsoft.com/office/powerpoint/2010/main" val="36120958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6E89B-7E46-DF20-DEAA-5E6B40AAF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DB5FC-CE8C-4F27-A242-995CF1F73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626356-FA48-91ED-4327-1D7D0A78225F}"/>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lang="en-US"/>
              <a:t>- simplified topology</a:t>
            </a:r>
          </a:p>
        </p:txBody>
      </p:sp>
      <p:sp>
        <p:nvSpPr>
          <p:cNvPr id="4" name="Slide Number Placeholder 3">
            <a:extLst>
              <a:ext uri="{FF2B5EF4-FFF2-40B4-BE49-F238E27FC236}">
                <a16:creationId xmlns:a16="http://schemas.microsoft.com/office/drawing/2014/main" id="{AC3397CB-4A9B-812D-CAB7-DA9E81FC44EB}"/>
              </a:ext>
            </a:extLst>
          </p:cNvPr>
          <p:cNvSpPr>
            <a:spLocks noGrp="1"/>
          </p:cNvSpPr>
          <p:nvPr>
            <p:ph type="sldNum" sz="quarter" idx="10"/>
          </p:nvPr>
        </p:nvSpPr>
        <p:spPr/>
        <p:txBody>
          <a:bodyPr/>
          <a:lstStyle/>
          <a:p>
            <a:fld id="{25F238A8-1190-BB46-95A0-C10FA98B630E}" type="slidenum">
              <a:rPr lang="en-US" smtClean="0"/>
              <a:pPr/>
              <a:t>41</a:t>
            </a:fld>
            <a:endParaRPr lang="en-US"/>
          </a:p>
        </p:txBody>
      </p:sp>
    </p:spTree>
    <p:extLst>
      <p:ext uri="{BB962C8B-B14F-4D97-AF65-F5344CB8AC3E}">
        <p14:creationId xmlns:p14="http://schemas.microsoft.com/office/powerpoint/2010/main" val="23159194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52A15-8902-BF17-CCF1-4E6E28F4F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8BBC52-B3D1-EBFB-0821-ABA7C38872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D2EC6B-D7FF-F5F5-2BDD-96E33DCE061E}"/>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lang="en-US"/>
              <a:t>- time to talk about the Gene Ranking Models</a:t>
            </a:r>
          </a:p>
        </p:txBody>
      </p:sp>
      <p:sp>
        <p:nvSpPr>
          <p:cNvPr id="4" name="Slide Number Placeholder 3">
            <a:extLst>
              <a:ext uri="{FF2B5EF4-FFF2-40B4-BE49-F238E27FC236}">
                <a16:creationId xmlns:a16="http://schemas.microsoft.com/office/drawing/2014/main" id="{53264FCA-E453-8418-86A1-66EA4CD23F7A}"/>
              </a:ext>
            </a:extLst>
          </p:cNvPr>
          <p:cNvSpPr>
            <a:spLocks noGrp="1"/>
          </p:cNvSpPr>
          <p:nvPr>
            <p:ph type="sldNum" sz="quarter" idx="10"/>
          </p:nvPr>
        </p:nvSpPr>
        <p:spPr/>
        <p:txBody>
          <a:bodyPr/>
          <a:lstStyle/>
          <a:p>
            <a:fld id="{25F238A8-1190-BB46-95A0-C10FA98B630E}" type="slidenum">
              <a:rPr lang="en-US" smtClean="0"/>
              <a:pPr/>
              <a:t>42</a:t>
            </a:fld>
            <a:endParaRPr lang="en-US"/>
          </a:p>
        </p:txBody>
      </p:sp>
    </p:spTree>
    <p:extLst>
      <p:ext uri="{BB962C8B-B14F-4D97-AF65-F5344CB8AC3E}">
        <p14:creationId xmlns:p14="http://schemas.microsoft.com/office/powerpoint/2010/main" val="15543427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E2995-0EA9-F475-290E-F7FFF7822D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FE305-3FB7-2406-2D74-B75D46EAF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D5716-4455-4C72-F3D1-ADDE4A93862E}"/>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consider an example TGAG from the </a:t>
            </a:r>
            <a:r>
              <a:rPr lang="en-US" sz="1200" err="1">
                <a:solidFill>
                  <a:schemeClr val="tx1"/>
                </a:solidFill>
                <a:latin typeface="Arial" panose="020B0604020202020204" pitchFamily="34" charset="0"/>
                <a:cs typeface="Arial" panose="020B0604020202020204" pitchFamily="34" charset="0"/>
              </a:rPr>
              <a:t>GeneSieve</a:t>
            </a:r>
            <a:r>
              <a:rPr lang="en-US" sz="1200">
                <a:solidFill>
                  <a:schemeClr val="tx1"/>
                </a:solidFill>
                <a:latin typeface="Arial" panose="020B0604020202020204" pitchFamily="34" charset="0"/>
                <a:cs typeface="Arial" panose="020B0604020202020204" pitchFamily="34" charset="0"/>
              </a:rPr>
              <a:t> website</a:t>
            </a:r>
          </a:p>
        </p:txBody>
      </p:sp>
      <p:sp>
        <p:nvSpPr>
          <p:cNvPr id="4" name="Slide Number Placeholder 3">
            <a:extLst>
              <a:ext uri="{FF2B5EF4-FFF2-40B4-BE49-F238E27FC236}">
                <a16:creationId xmlns:a16="http://schemas.microsoft.com/office/drawing/2014/main" id="{2D034442-5B45-67BB-9498-83E282848CF9}"/>
              </a:ext>
            </a:extLst>
          </p:cNvPr>
          <p:cNvSpPr>
            <a:spLocks noGrp="1"/>
          </p:cNvSpPr>
          <p:nvPr>
            <p:ph type="sldNum" sz="quarter" idx="10"/>
          </p:nvPr>
        </p:nvSpPr>
        <p:spPr/>
        <p:txBody>
          <a:bodyPr/>
          <a:lstStyle/>
          <a:p>
            <a:fld id="{25F238A8-1190-BB46-95A0-C10FA98B630E}" type="slidenum">
              <a:rPr lang="en-US" smtClean="0"/>
              <a:pPr/>
              <a:t>43</a:t>
            </a:fld>
            <a:endParaRPr lang="en-US"/>
          </a:p>
        </p:txBody>
      </p:sp>
    </p:spTree>
    <p:extLst>
      <p:ext uri="{BB962C8B-B14F-4D97-AF65-F5344CB8AC3E}">
        <p14:creationId xmlns:p14="http://schemas.microsoft.com/office/powerpoint/2010/main" val="4917069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F6F06-A381-D37D-18F4-E531FB315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1EAF6-CDED-A3AB-DA6A-E55387B5A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FAF614-B6A4-2332-8000-159F19FA322F}"/>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consider an example TGAG from the </a:t>
            </a:r>
            <a:r>
              <a:rPr lang="en-US" sz="1200" err="1">
                <a:solidFill>
                  <a:schemeClr val="tx1"/>
                </a:solidFill>
                <a:latin typeface="Arial" panose="020B0604020202020204" pitchFamily="34" charset="0"/>
                <a:cs typeface="Arial" panose="020B0604020202020204" pitchFamily="34" charset="0"/>
              </a:rPr>
              <a:t>GeneSieve</a:t>
            </a:r>
            <a:r>
              <a:rPr lang="en-US" sz="1200">
                <a:solidFill>
                  <a:schemeClr val="tx1"/>
                </a:solidFill>
                <a:latin typeface="Arial" panose="020B0604020202020204" pitchFamily="34" charset="0"/>
                <a:cs typeface="Arial" panose="020B0604020202020204" pitchFamily="34" charset="0"/>
              </a:rPr>
              <a:t> website</a:t>
            </a:r>
          </a:p>
        </p:txBody>
      </p:sp>
      <p:sp>
        <p:nvSpPr>
          <p:cNvPr id="4" name="Slide Number Placeholder 3">
            <a:extLst>
              <a:ext uri="{FF2B5EF4-FFF2-40B4-BE49-F238E27FC236}">
                <a16:creationId xmlns:a16="http://schemas.microsoft.com/office/drawing/2014/main" id="{5EFD01FC-6B3E-035E-10C2-284687A53153}"/>
              </a:ext>
            </a:extLst>
          </p:cNvPr>
          <p:cNvSpPr>
            <a:spLocks noGrp="1"/>
          </p:cNvSpPr>
          <p:nvPr>
            <p:ph type="sldNum" sz="quarter" idx="10"/>
          </p:nvPr>
        </p:nvSpPr>
        <p:spPr/>
        <p:txBody>
          <a:bodyPr/>
          <a:lstStyle/>
          <a:p>
            <a:fld id="{25F238A8-1190-BB46-95A0-C10FA98B630E}" type="slidenum">
              <a:rPr lang="en-US" smtClean="0"/>
              <a:pPr/>
              <a:t>44</a:t>
            </a:fld>
            <a:endParaRPr lang="en-US"/>
          </a:p>
        </p:txBody>
      </p:sp>
    </p:spTree>
    <p:extLst>
      <p:ext uri="{BB962C8B-B14F-4D97-AF65-F5344CB8AC3E}">
        <p14:creationId xmlns:p14="http://schemas.microsoft.com/office/powerpoint/2010/main" val="31887418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881D2-C63F-D286-8BF8-7A31226188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ACCC9-00FB-0685-3AAB-036313DCB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45D52D-1970-2124-63FC-D5264DAD52A4}"/>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consider an example TGAG from the </a:t>
            </a:r>
            <a:r>
              <a:rPr lang="en-US" sz="1200" err="1">
                <a:solidFill>
                  <a:schemeClr val="tx1"/>
                </a:solidFill>
                <a:latin typeface="Arial" panose="020B0604020202020204" pitchFamily="34" charset="0"/>
                <a:cs typeface="Arial" panose="020B0604020202020204" pitchFamily="34" charset="0"/>
              </a:rPr>
              <a:t>GeneSieve</a:t>
            </a:r>
            <a:r>
              <a:rPr lang="en-US" sz="1200">
                <a:solidFill>
                  <a:schemeClr val="tx1"/>
                </a:solidFill>
                <a:latin typeface="Arial" panose="020B0604020202020204" pitchFamily="34" charset="0"/>
                <a:cs typeface="Arial" panose="020B0604020202020204" pitchFamily="34" charset="0"/>
              </a:rPr>
              <a:t> website</a:t>
            </a:r>
          </a:p>
        </p:txBody>
      </p:sp>
      <p:sp>
        <p:nvSpPr>
          <p:cNvPr id="4" name="Slide Number Placeholder 3">
            <a:extLst>
              <a:ext uri="{FF2B5EF4-FFF2-40B4-BE49-F238E27FC236}">
                <a16:creationId xmlns:a16="http://schemas.microsoft.com/office/drawing/2014/main" id="{36689895-C1F3-966F-80BF-47620DF9B6E4}"/>
              </a:ext>
            </a:extLst>
          </p:cNvPr>
          <p:cNvSpPr>
            <a:spLocks noGrp="1"/>
          </p:cNvSpPr>
          <p:nvPr>
            <p:ph type="sldNum" sz="quarter" idx="10"/>
          </p:nvPr>
        </p:nvSpPr>
        <p:spPr/>
        <p:txBody>
          <a:bodyPr/>
          <a:lstStyle/>
          <a:p>
            <a:fld id="{25F238A8-1190-BB46-95A0-C10FA98B630E}" type="slidenum">
              <a:rPr lang="en-US" smtClean="0"/>
              <a:pPr/>
              <a:t>45</a:t>
            </a:fld>
            <a:endParaRPr lang="en-US"/>
          </a:p>
        </p:txBody>
      </p:sp>
    </p:spTree>
    <p:extLst>
      <p:ext uri="{BB962C8B-B14F-4D97-AF65-F5344CB8AC3E}">
        <p14:creationId xmlns:p14="http://schemas.microsoft.com/office/powerpoint/2010/main" val="10027237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5F727-019B-975C-97F9-F307ECAFAD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86BA6D-E28A-4B3A-74FC-76DA6EC93A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64C75F-EB3A-ED17-6279-BF2D3844E7C1}"/>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consider an example TGAG from the </a:t>
            </a:r>
            <a:r>
              <a:rPr lang="en-US" sz="1200" err="1">
                <a:solidFill>
                  <a:schemeClr val="tx1"/>
                </a:solidFill>
                <a:latin typeface="Arial" panose="020B0604020202020204" pitchFamily="34" charset="0"/>
                <a:cs typeface="Arial" panose="020B0604020202020204" pitchFamily="34" charset="0"/>
              </a:rPr>
              <a:t>GeneSieve</a:t>
            </a:r>
            <a:r>
              <a:rPr lang="en-US" sz="1200">
                <a:solidFill>
                  <a:schemeClr val="tx1"/>
                </a:solidFill>
                <a:latin typeface="Arial" panose="020B0604020202020204" pitchFamily="34" charset="0"/>
                <a:cs typeface="Arial" panose="020B0604020202020204" pitchFamily="34" charset="0"/>
              </a:rPr>
              <a:t> website</a:t>
            </a:r>
          </a:p>
        </p:txBody>
      </p:sp>
      <p:sp>
        <p:nvSpPr>
          <p:cNvPr id="4" name="Slide Number Placeholder 3">
            <a:extLst>
              <a:ext uri="{FF2B5EF4-FFF2-40B4-BE49-F238E27FC236}">
                <a16:creationId xmlns:a16="http://schemas.microsoft.com/office/drawing/2014/main" id="{65ED333C-EA05-B1EF-CF67-490E6AC37CDA}"/>
              </a:ext>
            </a:extLst>
          </p:cNvPr>
          <p:cNvSpPr>
            <a:spLocks noGrp="1"/>
          </p:cNvSpPr>
          <p:nvPr>
            <p:ph type="sldNum" sz="quarter" idx="10"/>
          </p:nvPr>
        </p:nvSpPr>
        <p:spPr/>
        <p:txBody>
          <a:bodyPr/>
          <a:lstStyle/>
          <a:p>
            <a:fld id="{25F238A8-1190-BB46-95A0-C10FA98B630E}" type="slidenum">
              <a:rPr lang="en-US" smtClean="0"/>
              <a:pPr/>
              <a:t>46</a:t>
            </a:fld>
            <a:endParaRPr lang="en-US"/>
          </a:p>
        </p:txBody>
      </p:sp>
    </p:spTree>
    <p:extLst>
      <p:ext uri="{BB962C8B-B14F-4D97-AF65-F5344CB8AC3E}">
        <p14:creationId xmlns:p14="http://schemas.microsoft.com/office/powerpoint/2010/main" val="7287362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40967-8189-560F-3E1F-66F235A4C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CAD0B-66BA-B566-281A-7EEEF0ECA1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5AABB8-FBAC-4041-1B50-910BF32D50B1}"/>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EF1CF7E-ABD7-21AB-6E99-7D916FD5E72E}"/>
              </a:ext>
            </a:extLst>
          </p:cNvPr>
          <p:cNvSpPr>
            <a:spLocks noGrp="1"/>
          </p:cNvSpPr>
          <p:nvPr>
            <p:ph type="sldNum" sz="quarter" idx="10"/>
          </p:nvPr>
        </p:nvSpPr>
        <p:spPr/>
        <p:txBody>
          <a:bodyPr/>
          <a:lstStyle/>
          <a:p>
            <a:fld id="{25F238A8-1190-BB46-95A0-C10FA98B630E}" type="slidenum">
              <a:rPr lang="en-US" smtClean="0"/>
              <a:pPr/>
              <a:t>47</a:t>
            </a:fld>
            <a:endParaRPr lang="en-US"/>
          </a:p>
        </p:txBody>
      </p:sp>
    </p:spTree>
    <p:extLst>
      <p:ext uri="{BB962C8B-B14F-4D97-AF65-F5344CB8AC3E}">
        <p14:creationId xmlns:p14="http://schemas.microsoft.com/office/powerpoint/2010/main" val="7926093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E9688-B5EC-6334-6824-9DEE17C023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4036F-CB96-A903-8996-8ACC52B72B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60AD43-3902-E48A-AB61-A4D58D317F09}"/>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0DEC40A-2E5D-D248-1A63-376C2DE122C9}"/>
              </a:ext>
            </a:extLst>
          </p:cNvPr>
          <p:cNvSpPr>
            <a:spLocks noGrp="1"/>
          </p:cNvSpPr>
          <p:nvPr>
            <p:ph type="sldNum" sz="quarter" idx="10"/>
          </p:nvPr>
        </p:nvSpPr>
        <p:spPr/>
        <p:txBody>
          <a:bodyPr/>
          <a:lstStyle/>
          <a:p>
            <a:fld id="{25F238A8-1190-BB46-95A0-C10FA98B630E}" type="slidenum">
              <a:rPr lang="en-US" smtClean="0"/>
              <a:pPr/>
              <a:t>48</a:t>
            </a:fld>
            <a:endParaRPr lang="en-US"/>
          </a:p>
        </p:txBody>
      </p:sp>
    </p:spTree>
    <p:extLst>
      <p:ext uri="{BB962C8B-B14F-4D97-AF65-F5344CB8AC3E}">
        <p14:creationId xmlns:p14="http://schemas.microsoft.com/office/powerpoint/2010/main" val="16576051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7BE6E-96A7-2D84-71A5-FBE2F45BD3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0A248E-0C16-7890-36EA-5A17E53C59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E45C18-6821-CE62-000C-D9ECB116FEB8}"/>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826DF7F-A359-D32A-2930-923F09EA1E9B}"/>
              </a:ext>
            </a:extLst>
          </p:cNvPr>
          <p:cNvSpPr>
            <a:spLocks noGrp="1"/>
          </p:cNvSpPr>
          <p:nvPr>
            <p:ph type="sldNum" sz="quarter" idx="10"/>
          </p:nvPr>
        </p:nvSpPr>
        <p:spPr/>
        <p:txBody>
          <a:bodyPr/>
          <a:lstStyle/>
          <a:p>
            <a:fld id="{25F238A8-1190-BB46-95A0-C10FA98B630E}" type="slidenum">
              <a:rPr lang="en-US" smtClean="0"/>
              <a:pPr/>
              <a:t>49</a:t>
            </a:fld>
            <a:endParaRPr lang="en-US"/>
          </a:p>
        </p:txBody>
      </p:sp>
    </p:spTree>
    <p:extLst>
      <p:ext uri="{BB962C8B-B14F-4D97-AF65-F5344CB8AC3E}">
        <p14:creationId xmlns:p14="http://schemas.microsoft.com/office/powerpoint/2010/main" val="20373082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3268F-7601-F97A-8E33-6843C9638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E9D067-9AEB-6EE2-3902-21AF4B7458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BCBB9-7648-A131-5C5F-6802444DA6C1}"/>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673F20-FD69-9588-1F3E-CE24C41C7B84}"/>
              </a:ext>
            </a:extLst>
          </p:cNvPr>
          <p:cNvSpPr>
            <a:spLocks noGrp="1"/>
          </p:cNvSpPr>
          <p:nvPr>
            <p:ph type="sldNum" sz="quarter" idx="10"/>
          </p:nvPr>
        </p:nvSpPr>
        <p:spPr/>
        <p:txBody>
          <a:bodyPr/>
          <a:lstStyle/>
          <a:p>
            <a:fld id="{25F238A8-1190-BB46-95A0-C10FA98B630E}" type="slidenum">
              <a:rPr lang="en-US" smtClean="0"/>
              <a:pPr/>
              <a:t>50</a:t>
            </a:fld>
            <a:endParaRPr lang="en-US"/>
          </a:p>
        </p:txBody>
      </p:sp>
    </p:spTree>
    <p:extLst>
      <p:ext uri="{BB962C8B-B14F-4D97-AF65-F5344CB8AC3E}">
        <p14:creationId xmlns:p14="http://schemas.microsoft.com/office/powerpoint/2010/main" val="17188209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36791-7B18-9E1F-C0FB-03EDA0E10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D6F78-B468-27CA-FD1A-5AC1841D6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302315-B954-61F1-F89E-C50D6E93F899}"/>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7C6F42A-128E-100D-B4EC-DD39898301BD}"/>
              </a:ext>
            </a:extLst>
          </p:cNvPr>
          <p:cNvSpPr>
            <a:spLocks noGrp="1"/>
          </p:cNvSpPr>
          <p:nvPr>
            <p:ph type="sldNum" sz="quarter" idx="10"/>
          </p:nvPr>
        </p:nvSpPr>
        <p:spPr/>
        <p:txBody>
          <a:bodyPr/>
          <a:lstStyle/>
          <a:p>
            <a:fld id="{25F238A8-1190-BB46-95A0-C10FA98B630E}" type="slidenum">
              <a:rPr lang="en-US" smtClean="0"/>
              <a:pPr/>
              <a:t>51</a:t>
            </a:fld>
            <a:endParaRPr lang="en-US"/>
          </a:p>
        </p:txBody>
      </p:sp>
    </p:spTree>
    <p:extLst>
      <p:ext uri="{BB962C8B-B14F-4D97-AF65-F5344CB8AC3E}">
        <p14:creationId xmlns:p14="http://schemas.microsoft.com/office/powerpoint/2010/main" val="13875750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02EC7-6590-8F68-B632-A6BA07D26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C40A6-8D47-3B8B-E050-0F383B7F3E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424E2B-1465-AC57-73EE-BE994DA64C90}"/>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9446278-20FA-DCC7-A81F-1D1165DE52DA}"/>
              </a:ext>
            </a:extLst>
          </p:cNvPr>
          <p:cNvSpPr>
            <a:spLocks noGrp="1"/>
          </p:cNvSpPr>
          <p:nvPr>
            <p:ph type="sldNum" sz="quarter" idx="10"/>
          </p:nvPr>
        </p:nvSpPr>
        <p:spPr/>
        <p:txBody>
          <a:bodyPr/>
          <a:lstStyle/>
          <a:p>
            <a:fld id="{25F238A8-1190-BB46-95A0-C10FA98B630E}" type="slidenum">
              <a:rPr lang="en-US" smtClean="0"/>
              <a:pPr/>
              <a:t>52</a:t>
            </a:fld>
            <a:endParaRPr lang="en-US"/>
          </a:p>
        </p:txBody>
      </p:sp>
    </p:spTree>
    <p:extLst>
      <p:ext uri="{BB962C8B-B14F-4D97-AF65-F5344CB8AC3E}">
        <p14:creationId xmlns:p14="http://schemas.microsoft.com/office/powerpoint/2010/main" val="53858575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73F48-7972-30AA-6419-28B85A5EF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1621F7-0E85-E331-1AF5-7C202F82B5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49AD7-2CFE-3F56-98E3-4330F38F4AAD}"/>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769F7D7-186B-39B7-EDDC-02C1AE1E4A18}"/>
              </a:ext>
            </a:extLst>
          </p:cNvPr>
          <p:cNvSpPr>
            <a:spLocks noGrp="1"/>
          </p:cNvSpPr>
          <p:nvPr>
            <p:ph type="sldNum" sz="quarter" idx="10"/>
          </p:nvPr>
        </p:nvSpPr>
        <p:spPr/>
        <p:txBody>
          <a:bodyPr/>
          <a:lstStyle/>
          <a:p>
            <a:fld id="{25F238A8-1190-BB46-95A0-C10FA98B630E}" type="slidenum">
              <a:rPr lang="en-US" smtClean="0"/>
              <a:pPr/>
              <a:t>53</a:t>
            </a:fld>
            <a:endParaRPr lang="en-US"/>
          </a:p>
        </p:txBody>
      </p:sp>
    </p:spTree>
    <p:extLst>
      <p:ext uri="{BB962C8B-B14F-4D97-AF65-F5344CB8AC3E}">
        <p14:creationId xmlns:p14="http://schemas.microsoft.com/office/powerpoint/2010/main" val="278390416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F4652-6EF7-AABE-C10C-B6293776E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2767E-5B87-9ABA-298E-03D309E411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BC4DFE-0125-F768-50B1-C5238428737D}"/>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A1E223D-50E7-EE59-298D-34AFB768FFFE}"/>
              </a:ext>
            </a:extLst>
          </p:cNvPr>
          <p:cNvSpPr>
            <a:spLocks noGrp="1"/>
          </p:cNvSpPr>
          <p:nvPr>
            <p:ph type="sldNum" sz="quarter" idx="10"/>
          </p:nvPr>
        </p:nvSpPr>
        <p:spPr/>
        <p:txBody>
          <a:bodyPr/>
          <a:lstStyle/>
          <a:p>
            <a:fld id="{25F238A8-1190-BB46-95A0-C10FA98B630E}" type="slidenum">
              <a:rPr lang="en-US" smtClean="0"/>
              <a:pPr/>
              <a:t>54</a:t>
            </a:fld>
            <a:endParaRPr lang="en-US"/>
          </a:p>
        </p:txBody>
      </p:sp>
    </p:spTree>
    <p:extLst>
      <p:ext uri="{BB962C8B-B14F-4D97-AF65-F5344CB8AC3E}">
        <p14:creationId xmlns:p14="http://schemas.microsoft.com/office/powerpoint/2010/main" val="22101160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F903F-0613-B236-F51F-E8C2907EB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8C896-D8B7-5C7C-E63E-7954CA7980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DCCB75-D830-C23E-B908-9BC6BC6F0011}"/>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060980F-1B96-99EF-70A8-172E4BDC698C}"/>
              </a:ext>
            </a:extLst>
          </p:cNvPr>
          <p:cNvSpPr>
            <a:spLocks noGrp="1"/>
          </p:cNvSpPr>
          <p:nvPr>
            <p:ph type="sldNum" sz="quarter" idx="10"/>
          </p:nvPr>
        </p:nvSpPr>
        <p:spPr/>
        <p:txBody>
          <a:bodyPr/>
          <a:lstStyle/>
          <a:p>
            <a:fld id="{25F238A8-1190-BB46-95A0-C10FA98B630E}" type="slidenum">
              <a:rPr lang="en-US" smtClean="0"/>
              <a:pPr/>
              <a:t>55</a:t>
            </a:fld>
            <a:endParaRPr lang="en-US"/>
          </a:p>
        </p:txBody>
      </p:sp>
    </p:spTree>
    <p:extLst>
      <p:ext uri="{BB962C8B-B14F-4D97-AF65-F5344CB8AC3E}">
        <p14:creationId xmlns:p14="http://schemas.microsoft.com/office/powerpoint/2010/main" val="16039726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69358-05D1-67A9-7CFF-9CE18E3AA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6AAA4-BF13-5CDB-D9E3-DBD6F47A47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0BA528-235D-5436-418E-E84B7EF3B443}"/>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AD75232-8B0F-9B9E-A804-244B2451F021}"/>
              </a:ext>
            </a:extLst>
          </p:cNvPr>
          <p:cNvSpPr>
            <a:spLocks noGrp="1"/>
          </p:cNvSpPr>
          <p:nvPr>
            <p:ph type="sldNum" sz="quarter" idx="10"/>
          </p:nvPr>
        </p:nvSpPr>
        <p:spPr/>
        <p:txBody>
          <a:bodyPr/>
          <a:lstStyle/>
          <a:p>
            <a:fld id="{25F238A8-1190-BB46-95A0-C10FA98B630E}" type="slidenum">
              <a:rPr lang="en-US" smtClean="0"/>
              <a:pPr/>
              <a:t>56</a:t>
            </a:fld>
            <a:endParaRPr lang="en-US"/>
          </a:p>
        </p:txBody>
      </p:sp>
    </p:spTree>
    <p:extLst>
      <p:ext uri="{BB962C8B-B14F-4D97-AF65-F5344CB8AC3E}">
        <p14:creationId xmlns:p14="http://schemas.microsoft.com/office/powerpoint/2010/main" val="3399609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04C44-AF05-5946-2FB6-CA6B378A20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D4248-02D0-9B3A-6FD7-92616B3C30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EA8749-AA26-5AE8-93C0-AE38815A8484}"/>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consider an example TGAG from the </a:t>
            </a:r>
            <a:r>
              <a:rPr lang="en-US" sz="1200" err="1">
                <a:solidFill>
                  <a:schemeClr val="tx1"/>
                </a:solidFill>
                <a:latin typeface="Arial" panose="020B0604020202020204" pitchFamily="34" charset="0"/>
                <a:cs typeface="Arial" panose="020B0604020202020204" pitchFamily="34" charset="0"/>
              </a:rPr>
              <a:t>GeneSieve</a:t>
            </a:r>
            <a:r>
              <a:rPr lang="en-US" sz="1200">
                <a:solidFill>
                  <a:schemeClr val="tx1"/>
                </a:solidFill>
                <a:latin typeface="Arial" panose="020B0604020202020204" pitchFamily="34" charset="0"/>
                <a:cs typeface="Arial" panose="020B0604020202020204" pitchFamily="34" charset="0"/>
              </a:rPr>
              <a:t> website</a:t>
            </a:r>
          </a:p>
        </p:txBody>
      </p:sp>
      <p:sp>
        <p:nvSpPr>
          <p:cNvPr id="4" name="Slide Number Placeholder 3">
            <a:extLst>
              <a:ext uri="{FF2B5EF4-FFF2-40B4-BE49-F238E27FC236}">
                <a16:creationId xmlns:a16="http://schemas.microsoft.com/office/drawing/2014/main" id="{E1597534-3CAE-5B3C-3B3C-8DE467678A8A}"/>
              </a:ext>
            </a:extLst>
          </p:cNvPr>
          <p:cNvSpPr>
            <a:spLocks noGrp="1"/>
          </p:cNvSpPr>
          <p:nvPr>
            <p:ph type="sldNum" sz="quarter" idx="10"/>
          </p:nvPr>
        </p:nvSpPr>
        <p:spPr/>
        <p:txBody>
          <a:bodyPr/>
          <a:lstStyle/>
          <a:p>
            <a:fld id="{25F238A8-1190-BB46-95A0-C10FA98B630E}" type="slidenum">
              <a:rPr lang="en-US" smtClean="0"/>
              <a:pPr/>
              <a:t>57</a:t>
            </a:fld>
            <a:endParaRPr lang="en-US"/>
          </a:p>
        </p:txBody>
      </p:sp>
    </p:spTree>
    <p:extLst>
      <p:ext uri="{BB962C8B-B14F-4D97-AF65-F5344CB8AC3E}">
        <p14:creationId xmlns:p14="http://schemas.microsoft.com/office/powerpoint/2010/main" val="26391586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ABACE-7AF0-EA28-F14F-908092E3EB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4FE4FB-2E2E-A1B9-7145-47E61E722B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72C2B7-9828-8695-0BEE-FCD06D609F05}"/>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EE81CEA-EDA2-EB57-C971-735C7A634C91}"/>
              </a:ext>
            </a:extLst>
          </p:cNvPr>
          <p:cNvSpPr>
            <a:spLocks noGrp="1"/>
          </p:cNvSpPr>
          <p:nvPr>
            <p:ph type="sldNum" sz="quarter" idx="10"/>
          </p:nvPr>
        </p:nvSpPr>
        <p:spPr/>
        <p:txBody>
          <a:bodyPr/>
          <a:lstStyle/>
          <a:p>
            <a:fld id="{25F238A8-1190-BB46-95A0-C10FA98B630E}" type="slidenum">
              <a:rPr lang="en-US" smtClean="0"/>
              <a:pPr/>
              <a:t>58</a:t>
            </a:fld>
            <a:endParaRPr lang="en-US"/>
          </a:p>
        </p:txBody>
      </p:sp>
    </p:spTree>
    <p:extLst>
      <p:ext uri="{BB962C8B-B14F-4D97-AF65-F5344CB8AC3E}">
        <p14:creationId xmlns:p14="http://schemas.microsoft.com/office/powerpoint/2010/main" val="60218358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4F517-03AC-F4FE-362B-B365F74DA1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844BFD-CBF5-20AF-A23A-9AC92A2354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CCB2C9-4333-F205-DE3E-CBBA33A68882}"/>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55D8B5-F280-2290-328A-99718ED6F4EE}"/>
              </a:ext>
            </a:extLst>
          </p:cNvPr>
          <p:cNvSpPr>
            <a:spLocks noGrp="1"/>
          </p:cNvSpPr>
          <p:nvPr>
            <p:ph type="sldNum" sz="quarter" idx="10"/>
          </p:nvPr>
        </p:nvSpPr>
        <p:spPr/>
        <p:txBody>
          <a:bodyPr/>
          <a:lstStyle/>
          <a:p>
            <a:fld id="{25F238A8-1190-BB46-95A0-C10FA98B630E}" type="slidenum">
              <a:rPr lang="en-US" smtClean="0"/>
              <a:pPr/>
              <a:t>59</a:t>
            </a:fld>
            <a:endParaRPr lang="en-US"/>
          </a:p>
        </p:txBody>
      </p:sp>
    </p:spTree>
    <p:extLst>
      <p:ext uri="{BB962C8B-B14F-4D97-AF65-F5344CB8AC3E}">
        <p14:creationId xmlns:p14="http://schemas.microsoft.com/office/powerpoint/2010/main" val="339762728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26C8E-33A2-E997-25F8-0477C5887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01E6E-2B3D-E6CE-358F-7CEF5D3735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E5FB3-98FA-2FFF-1043-0B1873B33DE7}"/>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716282B-E232-89B3-14B4-A26CFAF2A660}"/>
              </a:ext>
            </a:extLst>
          </p:cNvPr>
          <p:cNvSpPr>
            <a:spLocks noGrp="1"/>
          </p:cNvSpPr>
          <p:nvPr>
            <p:ph type="sldNum" sz="quarter" idx="10"/>
          </p:nvPr>
        </p:nvSpPr>
        <p:spPr/>
        <p:txBody>
          <a:bodyPr/>
          <a:lstStyle/>
          <a:p>
            <a:fld id="{25F238A8-1190-BB46-95A0-C10FA98B630E}" type="slidenum">
              <a:rPr lang="en-US" smtClean="0"/>
              <a:pPr/>
              <a:t>60</a:t>
            </a:fld>
            <a:endParaRPr lang="en-US"/>
          </a:p>
        </p:txBody>
      </p:sp>
    </p:spTree>
    <p:extLst>
      <p:ext uri="{BB962C8B-B14F-4D97-AF65-F5344CB8AC3E}">
        <p14:creationId xmlns:p14="http://schemas.microsoft.com/office/powerpoint/2010/main" val="88957387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14D5F-D7AF-0340-CD0D-2AD4D1128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265A5-5794-A2C2-8126-5181C77B94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E45E48-070A-E3D7-C475-06E4E2CF6E4A}"/>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24CBD19-A2E8-5F66-F9F1-5D7EB3F9DD3C}"/>
              </a:ext>
            </a:extLst>
          </p:cNvPr>
          <p:cNvSpPr>
            <a:spLocks noGrp="1"/>
          </p:cNvSpPr>
          <p:nvPr>
            <p:ph type="sldNum" sz="quarter" idx="10"/>
          </p:nvPr>
        </p:nvSpPr>
        <p:spPr/>
        <p:txBody>
          <a:bodyPr/>
          <a:lstStyle/>
          <a:p>
            <a:fld id="{25F238A8-1190-BB46-95A0-C10FA98B630E}" type="slidenum">
              <a:rPr lang="en-US" smtClean="0"/>
              <a:pPr/>
              <a:t>61</a:t>
            </a:fld>
            <a:endParaRPr lang="en-US"/>
          </a:p>
        </p:txBody>
      </p:sp>
    </p:spTree>
    <p:extLst>
      <p:ext uri="{BB962C8B-B14F-4D97-AF65-F5344CB8AC3E}">
        <p14:creationId xmlns:p14="http://schemas.microsoft.com/office/powerpoint/2010/main" val="413362408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7CFCF-BA1B-92D4-2E62-67313B6CA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0E4765-676E-40A6-9399-F26505AF6D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AF261-0B88-6A19-7CC0-3DC0B20B3C76}"/>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6ECB4F-86FA-A01D-0529-6F1DE7C1DC09}"/>
              </a:ext>
            </a:extLst>
          </p:cNvPr>
          <p:cNvSpPr>
            <a:spLocks noGrp="1"/>
          </p:cNvSpPr>
          <p:nvPr>
            <p:ph type="sldNum" sz="quarter" idx="10"/>
          </p:nvPr>
        </p:nvSpPr>
        <p:spPr/>
        <p:txBody>
          <a:bodyPr/>
          <a:lstStyle/>
          <a:p>
            <a:fld id="{25F238A8-1190-BB46-95A0-C10FA98B630E}" type="slidenum">
              <a:rPr lang="en-US" smtClean="0"/>
              <a:pPr/>
              <a:t>62</a:t>
            </a:fld>
            <a:endParaRPr lang="en-US"/>
          </a:p>
        </p:txBody>
      </p:sp>
    </p:spTree>
    <p:extLst>
      <p:ext uri="{BB962C8B-B14F-4D97-AF65-F5344CB8AC3E}">
        <p14:creationId xmlns:p14="http://schemas.microsoft.com/office/powerpoint/2010/main" val="255016309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60F17-A7BF-00CD-ECA0-89F683FAB1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4D166A-7D2A-B849-6D07-11172EEABC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6ED33A-4AC2-AF7E-EBF8-5E90FC5CEB98}"/>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2C82193-F9B9-9E22-E354-02A881941382}"/>
              </a:ext>
            </a:extLst>
          </p:cNvPr>
          <p:cNvSpPr>
            <a:spLocks noGrp="1"/>
          </p:cNvSpPr>
          <p:nvPr>
            <p:ph type="sldNum" sz="quarter" idx="10"/>
          </p:nvPr>
        </p:nvSpPr>
        <p:spPr/>
        <p:txBody>
          <a:bodyPr/>
          <a:lstStyle/>
          <a:p>
            <a:fld id="{25F238A8-1190-BB46-95A0-C10FA98B630E}" type="slidenum">
              <a:rPr lang="en-US" smtClean="0"/>
              <a:pPr/>
              <a:t>63</a:t>
            </a:fld>
            <a:endParaRPr lang="en-US"/>
          </a:p>
        </p:txBody>
      </p:sp>
    </p:spTree>
    <p:extLst>
      <p:ext uri="{BB962C8B-B14F-4D97-AF65-F5344CB8AC3E}">
        <p14:creationId xmlns:p14="http://schemas.microsoft.com/office/powerpoint/2010/main" val="2295509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EB98B-499F-A41E-85D2-91113EB62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30DA1D-04A0-B0A7-070F-0BB2BBFEB3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99E741-1E11-0AA1-968E-0218D91BA771}"/>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E79FA03-E558-7CEF-59F1-DDC1479484B0}"/>
              </a:ext>
            </a:extLst>
          </p:cNvPr>
          <p:cNvSpPr>
            <a:spLocks noGrp="1"/>
          </p:cNvSpPr>
          <p:nvPr>
            <p:ph type="sldNum" sz="quarter" idx="10"/>
          </p:nvPr>
        </p:nvSpPr>
        <p:spPr/>
        <p:txBody>
          <a:bodyPr/>
          <a:lstStyle/>
          <a:p>
            <a:fld id="{25F238A8-1190-BB46-95A0-C10FA98B630E}" type="slidenum">
              <a:rPr lang="en-US" smtClean="0"/>
              <a:pPr/>
              <a:t>64</a:t>
            </a:fld>
            <a:endParaRPr lang="en-US"/>
          </a:p>
        </p:txBody>
      </p:sp>
    </p:spTree>
    <p:extLst>
      <p:ext uri="{BB962C8B-B14F-4D97-AF65-F5344CB8AC3E}">
        <p14:creationId xmlns:p14="http://schemas.microsoft.com/office/powerpoint/2010/main" val="401549273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4C0F3-926E-C40F-3E70-69D4CECC31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EDA958-8858-DD72-DE1B-0A5691F18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39557-1C75-C452-730B-2E9E9E7B6DBB}"/>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A1A1698-FF37-3F3D-D2E2-2D7436AA2AFD}"/>
              </a:ext>
            </a:extLst>
          </p:cNvPr>
          <p:cNvSpPr>
            <a:spLocks noGrp="1"/>
          </p:cNvSpPr>
          <p:nvPr>
            <p:ph type="sldNum" sz="quarter" idx="10"/>
          </p:nvPr>
        </p:nvSpPr>
        <p:spPr/>
        <p:txBody>
          <a:bodyPr/>
          <a:lstStyle/>
          <a:p>
            <a:fld id="{25F238A8-1190-BB46-95A0-C10FA98B630E}" type="slidenum">
              <a:rPr lang="en-US" smtClean="0"/>
              <a:pPr/>
              <a:t>65</a:t>
            </a:fld>
            <a:endParaRPr lang="en-US"/>
          </a:p>
        </p:txBody>
      </p:sp>
    </p:spTree>
    <p:extLst>
      <p:ext uri="{BB962C8B-B14F-4D97-AF65-F5344CB8AC3E}">
        <p14:creationId xmlns:p14="http://schemas.microsoft.com/office/powerpoint/2010/main" val="87517005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096A6-C8F3-9331-0E6D-58A005F80E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9A56D-C457-2E59-C128-BD2C95C0B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25075D-D4DF-C831-D0EE-E03AD7EFDF5A}"/>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1AAA04D-906D-D5ED-10CB-3B88745E9578}"/>
              </a:ext>
            </a:extLst>
          </p:cNvPr>
          <p:cNvSpPr>
            <a:spLocks noGrp="1"/>
          </p:cNvSpPr>
          <p:nvPr>
            <p:ph type="sldNum" sz="quarter" idx="10"/>
          </p:nvPr>
        </p:nvSpPr>
        <p:spPr/>
        <p:txBody>
          <a:bodyPr/>
          <a:lstStyle/>
          <a:p>
            <a:fld id="{25F238A8-1190-BB46-95A0-C10FA98B630E}" type="slidenum">
              <a:rPr lang="en-US" smtClean="0"/>
              <a:pPr/>
              <a:t>66</a:t>
            </a:fld>
            <a:endParaRPr lang="en-US"/>
          </a:p>
        </p:txBody>
      </p:sp>
    </p:spTree>
    <p:extLst>
      <p:ext uri="{BB962C8B-B14F-4D97-AF65-F5344CB8AC3E}">
        <p14:creationId xmlns:p14="http://schemas.microsoft.com/office/powerpoint/2010/main" val="145102313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1E800-8802-E31B-21AA-64C24D5D3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CE553F-3F2E-423A-4643-5FB2408018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E7AB9D-D18E-21EC-99F4-A6D7447D7379}"/>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48BAF2D-2FA5-C85B-4E51-851E53F1B83F}"/>
              </a:ext>
            </a:extLst>
          </p:cNvPr>
          <p:cNvSpPr>
            <a:spLocks noGrp="1"/>
          </p:cNvSpPr>
          <p:nvPr>
            <p:ph type="sldNum" sz="quarter" idx="10"/>
          </p:nvPr>
        </p:nvSpPr>
        <p:spPr/>
        <p:txBody>
          <a:bodyPr/>
          <a:lstStyle/>
          <a:p>
            <a:fld id="{25F238A8-1190-BB46-95A0-C10FA98B630E}" type="slidenum">
              <a:rPr lang="en-US" smtClean="0"/>
              <a:pPr/>
              <a:t>67</a:t>
            </a:fld>
            <a:endParaRPr lang="en-US"/>
          </a:p>
        </p:txBody>
      </p:sp>
    </p:spTree>
    <p:extLst>
      <p:ext uri="{BB962C8B-B14F-4D97-AF65-F5344CB8AC3E}">
        <p14:creationId xmlns:p14="http://schemas.microsoft.com/office/powerpoint/2010/main" val="232260162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B3537-26F3-D3E9-6B52-3C7ADCA61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6E36F-2CA7-3BF1-CB9D-8D2F60906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E122C-FB9E-9DF7-1930-6E414597178A}"/>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3AD751-6DE3-ACF1-4278-883D3ED85869}"/>
              </a:ext>
            </a:extLst>
          </p:cNvPr>
          <p:cNvSpPr>
            <a:spLocks noGrp="1"/>
          </p:cNvSpPr>
          <p:nvPr>
            <p:ph type="sldNum" sz="quarter" idx="10"/>
          </p:nvPr>
        </p:nvSpPr>
        <p:spPr/>
        <p:txBody>
          <a:bodyPr/>
          <a:lstStyle/>
          <a:p>
            <a:fld id="{25F238A8-1190-BB46-95A0-C10FA98B630E}" type="slidenum">
              <a:rPr lang="en-US" smtClean="0"/>
              <a:pPr/>
              <a:t>68</a:t>
            </a:fld>
            <a:endParaRPr lang="en-US"/>
          </a:p>
        </p:txBody>
      </p:sp>
    </p:spTree>
    <p:extLst>
      <p:ext uri="{BB962C8B-B14F-4D97-AF65-F5344CB8AC3E}">
        <p14:creationId xmlns:p14="http://schemas.microsoft.com/office/powerpoint/2010/main" val="243300275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0A140-3D96-5C61-1F72-E6D99AF18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AC8EA7-EB3C-1240-1111-748A2F142E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056BBA-F28C-01AD-E48A-2EBF376388B2}"/>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EB98CD-EA71-E70F-F3CD-9D1DB5E048CA}"/>
              </a:ext>
            </a:extLst>
          </p:cNvPr>
          <p:cNvSpPr>
            <a:spLocks noGrp="1"/>
          </p:cNvSpPr>
          <p:nvPr>
            <p:ph type="sldNum" sz="quarter" idx="10"/>
          </p:nvPr>
        </p:nvSpPr>
        <p:spPr/>
        <p:txBody>
          <a:bodyPr/>
          <a:lstStyle/>
          <a:p>
            <a:fld id="{25F238A8-1190-BB46-95A0-C10FA98B630E}" type="slidenum">
              <a:rPr lang="en-US" smtClean="0"/>
              <a:pPr/>
              <a:t>69</a:t>
            </a:fld>
            <a:endParaRPr lang="en-US"/>
          </a:p>
        </p:txBody>
      </p:sp>
    </p:spTree>
    <p:extLst>
      <p:ext uri="{BB962C8B-B14F-4D97-AF65-F5344CB8AC3E}">
        <p14:creationId xmlns:p14="http://schemas.microsoft.com/office/powerpoint/2010/main" val="169226056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86347-4918-B707-13C3-FD9DF70B2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473BD-F454-D195-4454-A25CA626D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844DCD-7620-7981-6391-4254561B07F1}"/>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D41C9D-6A9E-F4DE-45EE-2A2FEE643A96}"/>
              </a:ext>
            </a:extLst>
          </p:cNvPr>
          <p:cNvSpPr>
            <a:spLocks noGrp="1"/>
          </p:cNvSpPr>
          <p:nvPr>
            <p:ph type="sldNum" sz="quarter" idx="10"/>
          </p:nvPr>
        </p:nvSpPr>
        <p:spPr/>
        <p:txBody>
          <a:bodyPr/>
          <a:lstStyle/>
          <a:p>
            <a:fld id="{25F238A8-1190-BB46-95A0-C10FA98B630E}" type="slidenum">
              <a:rPr lang="en-US" smtClean="0"/>
              <a:pPr/>
              <a:t>70</a:t>
            </a:fld>
            <a:endParaRPr lang="en-US"/>
          </a:p>
        </p:txBody>
      </p:sp>
    </p:spTree>
    <p:extLst>
      <p:ext uri="{BB962C8B-B14F-4D97-AF65-F5344CB8AC3E}">
        <p14:creationId xmlns:p14="http://schemas.microsoft.com/office/powerpoint/2010/main" val="4448428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965DE-E774-465E-9FEF-72A21A6A9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585844-8429-A0D9-0327-BC6D5B651E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F61D7C-5A9B-A353-4942-E63CFFFE517A}"/>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8D67991-1BDF-E18C-31A8-CD770EB66B8F}"/>
              </a:ext>
            </a:extLst>
          </p:cNvPr>
          <p:cNvSpPr>
            <a:spLocks noGrp="1"/>
          </p:cNvSpPr>
          <p:nvPr>
            <p:ph type="sldNum" sz="quarter" idx="10"/>
          </p:nvPr>
        </p:nvSpPr>
        <p:spPr/>
        <p:txBody>
          <a:bodyPr/>
          <a:lstStyle/>
          <a:p>
            <a:fld id="{25F238A8-1190-BB46-95A0-C10FA98B630E}" type="slidenum">
              <a:rPr lang="en-US" smtClean="0"/>
              <a:pPr/>
              <a:t>71</a:t>
            </a:fld>
            <a:endParaRPr lang="en-US"/>
          </a:p>
        </p:txBody>
      </p:sp>
    </p:spTree>
    <p:extLst>
      <p:ext uri="{BB962C8B-B14F-4D97-AF65-F5344CB8AC3E}">
        <p14:creationId xmlns:p14="http://schemas.microsoft.com/office/powerpoint/2010/main" val="123127801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6649D-8471-92E0-6EA6-23496D9757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65B8C-B811-A356-E05B-A05EBE748B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8F249B-7647-419D-EDC1-60878D44D98D}"/>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consider an example TGAG from the </a:t>
            </a:r>
            <a:r>
              <a:rPr lang="en-US" sz="1200" err="1">
                <a:solidFill>
                  <a:schemeClr val="tx1"/>
                </a:solidFill>
                <a:latin typeface="Arial" panose="020B0604020202020204" pitchFamily="34" charset="0"/>
                <a:cs typeface="Arial" panose="020B0604020202020204" pitchFamily="34" charset="0"/>
              </a:rPr>
              <a:t>GeneSieve</a:t>
            </a:r>
            <a:r>
              <a:rPr lang="en-US" sz="1200">
                <a:solidFill>
                  <a:schemeClr val="tx1"/>
                </a:solidFill>
                <a:latin typeface="Arial" panose="020B0604020202020204" pitchFamily="34" charset="0"/>
                <a:cs typeface="Arial" panose="020B0604020202020204" pitchFamily="34" charset="0"/>
              </a:rPr>
              <a:t> website</a:t>
            </a:r>
          </a:p>
        </p:txBody>
      </p:sp>
      <p:sp>
        <p:nvSpPr>
          <p:cNvPr id="4" name="Slide Number Placeholder 3">
            <a:extLst>
              <a:ext uri="{FF2B5EF4-FFF2-40B4-BE49-F238E27FC236}">
                <a16:creationId xmlns:a16="http://schemas.microsoft.com/office/drawing/2014/main" id="{B50C9BDE-BB8B-D072-9DA9-C03A8EBC4302}"/>
              </a:ext>
            </a:extLst>
          </p:cNvPr>
          <p:cNvSpPr>
            <a:spLocks noGrp="1"/>
          </p:cNvSpPr>
          <p:nvPr>
            <p:ph type="sldNum" sz="quarter" idx="10"/>
          </p:nvPr>
        </p:nvSpPr>
        <p:spPr/>
        <p:txBody>
          <a:bodyPr/>
          <a:lstStyle/>
          <a:p>
            <a:fld id="{25F238A8-1190-BB46-95A0-C10FA98B630E}" type="slidenum">
              <a:rPr lang="en-US" smtClean="0"/>
              <a:pPr/>
              <a:t>72</a:t>
            </a:fld>
            <a:endParaRPr lang="en-US"/>
          </a:p>
        </p:txBody>
      </p:sp>
    </p:spTree>
    <p:extLst>
      <p:ext uri="{BB962C8B-B14F-4D97-AF65-F5344CB8AC3E}">
        <p14:creationId xmlns:p14="http://schemas.microsoft.com/office/powerpoint/2010/main" val="318193294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58971-E0CA-5676-563A-2FBE77C1B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B7819-2423-7FFD-AD00-56755270F2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6B2838-8AAA-D3F7-BB28-ED08A99347AC}"/>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consider an example TGAG from the </a:t>
            </a:r>
            <a:r>
              <a:rPr lang="en-US" sz="1200" err="1">
                <a:solidFill>
                  <a:schemeClr val="tx1"/>
                </a:solidFill>
                <a:latin typeface="Arial" panose="020B0604020202020204" pitchFamily="34" charset="0"/>
                <a:cs typeface="Arial" panose="020B0604020202020204" pitchFamily="34" charset="0"/>
              </a:rPr>
              <a:t>GeneSieve</a:t>
            </a:r>
            <a:r>
              <a:rPr lang="en-US" sz="1200">
                <a:solidFill>
                  <a:schemeClr val="tx1"/>
                </a:solidFill>
                <a:latin typeface="Arial" panose="020B0604020202020204" pitchFamily="34" charset="0"/>
                <a:cs typeface="Arial" panose="020B0604020202020204" pitchFamily="34" charset="0"/>
              </a:rPr>
              <a:t> website</a:t>
            </a:r>
          </a:p>
        </p:txBody>
      </p:sp>
      <p:sp>
        <p:nvSpPr>
          <p:cNvPr id="4" name="Slide Number Placeholder 3">
            <a:extLst>
              <a:ext uri="{FF2B5EF4-FFF2-40B4-BE49-F238E27FC236}">
                <a16:creationId xmlns:a16="http://schemas.microsoft.com/office/drawing/2014/main" id="{A46872A8-F51C-021B-85BB-AAC011B73D7C}"/>
              </a:ext>
            </a:extLst>
          </p:cNvPr>
          <p:cNvSpPr>
            <a:spLocks noGrp="1"/>
          </p:cNvSpPr>
          <p:nvPr>
            <p:ph type="sldNum" sz="quarter" idx="10"/>
          </p:nvPr>
        </p:nvSpPr>
        <p:spPr/>
        <p:txBody>
          <a:bodyPr/>
          <a:lstStyle/>
          <a:p>
            <a:fld id="{25F238A8-1190-BB46-95A0-C10FA98B630E}" type="slidenum">
              <a:rPr lang="en-US" smtClean="0"/>
              <a:pPr/>
              <a:t>73</a:t>
            </a:fld>
            <a:endParaRPr lang="en-US"/>
          </a:p>
        </p:txBody>
      </p:sp>
    </p:spTree>
    <p:extLst>
      <p:ext uri="{BB962C8B-B14F-4D97-AF65-F5344CB8AC3E}">
        <p14:creationId xmlns:p14="http://schemas.microsoft.com/office/powerpoint/2010/main" val="88278554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12277-342F-EE92-1BF5-0D8A4C518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6B23BB-0D88-145A-5E39-C65CEBFDD3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1D041-ACE1-F12F-5A51-6CB3C4FD3F6A}"/>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consider an example TGAG from the </a:t>
            </a:r>
            <a:r>
              <a:rPr lang="en-US" sz="1200" err="1">
                <a:solidFill>
                  <a:schemeClr val="tx1"/>
                </a:solidFill>
                <a:latin typeface="Arial" panose="020B0604020202020204" pitchFamily="34" charset="0"/>
                <a:cs typeface="Arial" panose="020B0604020202020204" pitchFamily="34" charset="0"/>
              </a:rPr>
              <a:t>GeneSieve</a:t>
            </a:r>
            <a:r>
              <a:rPr lang="en-US" sz="1200">
                <a:solidFill>
                  <a:schemeClr val="tx1"/>
                </a:solidFill>
                <a:latin typeface="Arial" panose="020B0604020202020204" pitchFamily="34" charset="0"/>
                <a:cs typeface="Arial" panose="020B0604020202020204" pitchFamily="34" charset="0"/>
              </a:rPr>
              <a:t> website</a:t>
            </a:r>
          </a:p>
        </p:txBody>
      </p:sp>
      <p:sp>
        <p:nvSpPr>
          <p:cNvPr id="4" name="Slide Number Placeholder 3">
            <a:extLst>
              <a:ext uri="{FF2B5EF4-FFF2-40B4-BE49-F238E27FC236}">
                <a16:creationId xmlns:a16="http://schemas.microsoft.com/office/drawing/2014/main" id="{2A1DFFA9-F47D-4F5B-7BF5-0C2DEA7F230F}"/>
              </a:ext>
            </a:extLst>
          </p:cNvPr>
          <p:cNvSpPr>
            <a:spLocks noGrp="1"/>
          </p:cNvSpPr>
          <p:nvPr>
            <p:ph type="sldNum" sz="quarter" idx="10"/>
          </p:nvPr>
        </p:nvSpPr>
        <p:spPr/>
        <p:txBody>
          <a:bodyPr/>
          <a:lstStyle/>
          <a:p>
            <a:fld id="{25F238A8-1190-BB46-95A0-C10FA98B630E}" type="slidenum">
              <a:rPr lang="en-US" smtClean="0"/>
              <a:pPr/>
              <a:t>74</a:t>
            </a:fld>
            <a:endParaRPr lang="en-US"/>
          </a:p>
        </p:txBody>
      </p:sp>
    </p:spTree>
    <p:extLst>
      <p:ext uri="{BB962C8B-B14F-4D97-AF65-F5344CB8AC3E}">
        <p14:creationId xmlns:p14="http://schemas.microsoft.com/office/powerpoint/2010/main" val="162631982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F739E-C7C3-39B2-6A2B-8D92567E79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09153E-2E95-E4ED-5594-78173AA7B8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AD06D-DB25-13B5-0947-C6F94D399824}"/>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consider an example TGAG from the </a:t>
            </a:r>
            <a:r>
              <a:rPr lang="en-US" sz="1200" err="1">
                <a:solidFill>
                  <a:schemeClr val="tx1"/>
                </a:solidFill>
                <a:latin typeface="Arial" panose="020B0604020202020204" pitchFamily="34" charset="0"/>
                <a:cs typeface="Arial" panose="020B0604020202020204" pitchFamily="34" charset="0"/>
              </a:rPr>
              <a:t>GeneSieve</a:t>
            </a:r>
            <a:r>
              <a:rPr lang="en-US" sz="1200">
                <a:solidFill>
                  <a:schemeClr val="tx1"/>
                </a:solidFill>
                <a:latin typeface="Arial" panose="020B0604020202020204" pitchFamily="34" charset="0"/>
                <a:cs typeface="Arial" panose="020B0604020202020204" pitchFamily="34" charset="0"/>
              </a:rPr>
              <a:t> website</a:t>
            </a:r>
          </a:p>
        </p:txBody>
      </p:sp>
      <p:sp>
        <p:nvSpPr>
          <p:cNvPr id="4" name="Slide Number Placeholder 3">
            <a:extLst>
              <a:ext uri="{FF2B5EF4-FFF2-40B4-BE49-F238E27FC236}">
                <a16:creationId xmlns:a16="http://schemas.microsoft.com/office/drawing/2014/main" id="{C1F063EC-BDC8-70F1-2005-82DAFE100A87}"/>
              </a:ext>
            </a:extLst>
          </p:cNvPr>
          <p:cNvSpPr>
            <a:spLocks noGrp="1"/>
          </p:cNvSpPr>
          <p:nvPr>
            <p:ph type="sldNum" sz="quarter" idx="10"/>
          </p:nvPr>
        </p:nvSpPr>
        <p:spPr/>
        <p:txBody>
          <a:bodyPr/>
          <a:lstStyle/>
          <a:p>
            <a:fld id="{25F238A8-1190-BB46-95A0-C10FA98B630E}" type="slidenum">
              <a:rPr lang="en-US" smtClean="0"/>
              <a:pPr/>
              <a:t>75</a:t>
            </a:fld>
            <a:endParaRPr lang="en-US"/>
          </a:p>
        </p:txBody>
      </p:sp>
    </p:spTree>
    <p:extLst>
      <p:ext uri="{BB962C8B-B14F-4D97-AF65-F5344CB8AC3E}">
        <p14:creationId xmlns:p14="http://schemas.microsoft.com/office/powerpoint/2010/main" val="178203089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750C1-C6A4-FE09-ABD4-DB3E8BCE18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2007EC-D63D-353F-6317-0D84356BA0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0B1AA8-8756-7B86-A2AA-172FEDD57034}"/>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consider an example TGAG from the </a:t>
            </a:r>
            <a:r>
              <a:rPr lang="en-US" sz="1200" err="1">
                <a:solidFill>
                  <a:schemeClr val="tx1"/>
                </a:solidFill>
                <a:latin typeface="Arial" panose="020B0604020202020204" pitchFamily="34" charset="0"/>
                <a:cs typeface="Arial" panose="020B0604020202020204" pitchFamily="34" charset="0"/>
              </a:rPr>
              <a:t>GeneSieve</a:t>
            </a:r>
            <a:r>
              <a:rPr lang="en-US" sz="1200">
                <a:solidFill>
                  <a:schemeClr val="tx1"/>
                </a:solidFill>
                <a:latin typeface="Arial" panose="020B0604020202020204" pitchFamily="34" charset="0"/>
                <a:cs typeface="Arial" panose="020B0604020202020204" pitchFamily="34" charset="0"/>
              </a:rPr>
              <a:t> website</a:t>
            </a:r>
          </a:p>
        </p:txBody>
      </p:sp>
      <p:sp>
        <p:nvSpPr>
          <p:cNvPr id="4" name="Slide Number Placeholder 3">
            <a:extLst>
              <a:ext uri="{FF2B5EF4-FFF2-40B4-BE49-F238E27FC236}">
                <a16:creationId xmlns:a16="http://schemas.microsoft.com/office/drawing/2014/main" id="{F4537029-E964-A1EC-B4A1-A9AC9A0FD4AE}"/>
              </a:ext>
            </a:extLst>
          </p:cNvPr>
          <p:cNvSpPr>
            <a:spLocks noGrp="1"/>
          </p:cNvSpPr>
          <p:nvPr>
            <p:ph type="sldNum" sz="quarter" idx="10"/>
          </p:nvPr>
        </p:nvSpPr>
        <p:spPr/>
        <p:txBody>
          <a:bodyPr/>
          <a:lstStyle/>
          <a:p>
            <a:fld id="{25F238A8-1190-BB46-95A0-C10FA98B630E}" type="slidenum">
              <a:rPr lang="en-US" smtClean="0"/>
              <a:pPr/>
              <a:t>76</a:t>
            </a:fld>
            <a:endParaRPr lang="en-US"/>
          </a:p>
        </p:txBody>
      </p:sp>
    </p:spTree>
    <p:extLst>
      <p:ext uri="{BB962C8B-B14F-4D97-AF65-F5344CB8AC3E}">
        <p14:creationId xmlns:p14="http://schemas.microsoft.com/office/powerpoint/2010/main" val="50715400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DF7B5-09F4-82F7-BEC9-D85FF7EB4F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EB02B-31E8-9023-02C9-1C7C434CDF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150AA-8991-E14B-8602-EDE968FD9B1A}"/>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consider an example TGAG from the </a:t>
            </a:r>
            <a:r>
              <a:rPr lang="en-US" sz="1200" err="1">
                <a:solidFill>
                  <a:schemeClr val="tx1"/>
                </a:solidFill>
                <a:latin typeface="Arial" panose="020B0604020202020204" pitchFamily="34" charset="0"/>
                <a:cs typeface="Arial" panose="020B0604020202020204" pitchFamily="34" charset="0"/>
              </a:rPr>
              <a:t>GeneSieve</a:t>
            </a:r>
            <a:r>
              <a:rPr lang="en-US" sz="1200">
                <a:solidFill>
                  <a:schemeClr val="tx1"/>
                </a:solidFill>
                <a:latin typeface="Arial" panose="020B0604020202020204" pitchFamily="34" charset="0"/>
                <a:cs typeface="Arial" panose="020B0604020202020204" pitchFamily="34" charset="0"/>
              </a:rPr>
              <a:t> website</a:t>
            </a:r>
          </a:p>
        </p:txBody>
      </p:sp>
      <p:sp>
        <p:nvSpPr>
          <p:cNvPr id="4" name="Slide Number Placeholder 3">
            <a:extLst>
              <a:ext uri="{FF2B5EF4-FFF2-40B4-BE49-F238E27FC236}">
                <a16:creationId xmlns:a16="http://schemas.microsoft.com/office/drawing/2014/main" id="{1F20B196-F875-2A95-610F-9740947F05BE}"/>
              </a:ext>
            </a:extLst>
          </p:cNvPr>
          <p:cNvSpPr>
            <a:spLocks noGrp="1"/>
          </p:cNvSpPr>
          <p:nvPr>
            <p:ph type="sldNum" sz="quarter" idx="10"/>
          </p:nvPr>
        </p:nvSpPr>
        <p:spPr/>
        <p:txBody>
          <a:bodyPr/>
          <a:lstStyle/>
          <a:p>
            <a:fld id="{25F238A8-1190-BB46-95A0-C10FA98B630E}" type="slidenum">
              <a:rPr lang="en-US" smtClean="0"/>
              <a:pPr/>
              <a:t>77</a:t>
            </a:fld>
            <a:endParaRPr lang="en-US"/>
          </a:p>
        </p:txBody>
      </p:sp>
    </p:spTree>
    <p:extLst>
      <p:ext uri="{BB962C8B-B14F-4D97-AF65-F5344CB8AC3E}">
        <p14:creationId xmlns:p14="http://schemas.microsoft.com/office/powerpoint/2010/main" val="278021589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58F9B-BEC8-0470-5A97-D64B3FBAA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B2D28-2503-285F-0152-66BA825F6A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4AD84-F16F-B12D-121C-F87DA832F04B}"/>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consider an example TGAG from the </a:t>
            </a:r>
            <a:r>
              <a:rPr lang="en-US" sz="1200" err="1">
                <a:solidFill>
                  <a:schemeClr val="tx1"/>
                </a:solidFill>
                <a:latin typeface="Arial" panose="020B0604020202020204" pitchFamily="34" charset="0"/>
                <a:cs typeface="Arial" panose="020B0604020202020204" pitchFamily="34" charset="0"/>
              </a:rPr>
              <a:t>GeneSieve</a:t>
            </a:r>
            <a:r>
              <a:rPr lang="en-US" sz="1200">
                <a:solidFill>
                  <a:schemeClr val="tx1"/>
                </a:solidFill>
                <a:latin typeface="Arial" panose="020B0604020202020204" pitchFamily="34" charset="0"/>
                <a:cs typeface="Arial" panose="020B0604020202020204" pitchFamily="34" charset="0"/>
              </a:rPr>
              <a:t> website</a:t>
            </a:r>
          </a:p>
        </p:txBody>
      </p:sp>
      <p:sp>
        <p:nvSpPr>
          <p:cNvPr id="4" name="Slide Number Placeholder 3">
            <a:extLst>
              <a:ext uri="{FF2B5EF4-FFF2-40B4-BE49-F238E27FC236}">
                <a16:creationId xmlns:a16="http://schemas.microsoft.com/office/drawing/2014/main" id="{2911597F-E90E-854A-AE8E-C257BC28A5AA}"/>
              </a:ext>
            </a:extLst>
          </p:cNvPr>
          <p:cNvSpPr>
            <a:spLocks noGrp="1"/>
          </p:cNvSpPr>
          <p:nvPr>
            <p:ph type="sldNum" sz="quarter" idx="10"/>
          </p:nvPr>
        </p:nvSpPr>
        <p:spPr/>
        <p:txBody>
          <a:bodyPr/>
          <a:lstStyle/>
          <a:p>
            <a:fld id="{25F238A8-1190-BB46-95A0-C10FA98B630E}" type="slidenum">
              <a:rPr lang="en-US" smtClean="0"/>
              <a:pPr/>
              <a:t>78</a:t>
            </a:fld>
            <a:endParaRPr lang="en-US"/>
          </a:p>
        </p:txBody>
      </p:sp>
    </p:spTree>
    <p:extLst>
      <p:ext uri="{BB962C8B-B14F-4D97-AF65-F5344CB8AC3E}">
        <p14:creationId xmlns:p14="http://schemas.microsoft.com/office/powerpoint/2010/main" val="138402543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8F331-B4EB-715E-43B9-3B73F32CAF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81937-DF99-28A9-9F4C-F02F613C2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6A939F-C246-7E08-78B8-ECBF9F264F77}"/>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6D8C2A-F2D6-41D0-4649-FC24A09406BB}"/>
              </a:ext>
            </a:extLst>
          </p:cNvPr>
          <p:cNvSpPr>
            <a:spLocks noGrp="1"/>
          </p:cNvSpPr>
          <p:nvPr>
            <p:ph type="sldNum" sz="quarter" idx="10"/>
          </p:nvPr>
        </p:nvSpPr>
        <p:spPr/>
        <p:txBody>
          <a:bodyPr/>
          <a:lstStyle/>
          <a:p>
            <a:fld id="{25F238A8-1190-BB46-95A0-C10FA98B630E}" type="slidenum">
              <a:rPr lang="en-US" smtClean="0"/>
              <a:pPr/>
              <a:t>79</a:t>
            </a:fld>
            <a:endParaRPr lang="en-US"/>
          </a:p>
        </p:txBody>
      </p:sp>
    </p:spTree>
    <p:extLst>
      <p:ext uri="{BB962C8B-B14F-4D97-AF65-F5344CB8AC3E}">
        <p14:creationId xmlns:p14="http://schemas.microsoft.com/office/powerpoint/2010/main" val="207515693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F4BA7-A804-E97D-5CA5-E71E1FFF57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1980E8-C9AD-723E-BAAF-C0962C7E13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333859-D0DE-6AE3-D33D-F42C97C3062C}"/>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596767-C5D2-3A50-8AFD-C78E5B512D91}"/>
              </a:ext>
            </a:extLst>
          </p:cNvPr>
          <p:cNvSpPr>
            <a:spLocks noGrp="1"/>
          </p:cNvSpPr>
          <p:nvPr>
            <p:ph type="sldNum" sz="quarter" idx="10"/>
          </p:nvPr>
        </p:nvSpPr>
        <p:spPr/>
        <p:txBody>
          <a:bodyPr/>
          <a:lstStyle/>
          <a:p>
            <a:fld id="{25F238A8-1190-BB46-95A0-C10FA98B630E}" type="slidenum">
              <a:rPr lang="en-US" smtClean="0"/>
              <a:pPr/>
              <a:t>80</a:t>
            </a:fld>
            <a:endParaRPr lang="en-US"/>
          </a:p>
        </p:txBody>
      </p:sp>
    </p:spTree>
    <p:extLst>
      <p:ext uri="{BB962C8B-B14F-4D97-AF65-F5344CB8AC3E}">
        <p14:creationId xmlns:p14="http://schemas.microsoft.com/office/powerpoint/2010/main" val="141549087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19950-F68A-52F2-12EB-18CAAB1E3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FF266C-E0B9-5444-08FA-FC1A9C4EE6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FE78EB-9677-D44A-D6FD-06790DED2B30}"/>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38E4981-BE10-DEF8-AD04-50483BBEA295}"/>
              </a:ext>
            </a:extLst>
          </p:cNvPr>
          <p:cNvSpPr>
            <a:spLocks noGrp="1"/>
          </p:cNvSpPr>
          <p:nvPr>
            <p:ph type="sldNum" sz="quarter" idx="10"/>
          </p:nvPr>
        </p:nvSpPr>
        <p:spPr/>
        <p:txBody>
          <a:bodyPr/>
          <a:lstStyle/>
          <a:p>
            <a:fld id="{25F238A8-1190-BB46-95A0-C10FA98B630E}" type="slidenum">
              <a:rPr lang="en-US" smtClean="0"/>
              <a:pPr/>
              <a:t>81</a:t>
            </a:fld>
            <a:endParaRPr lang="en-US"/>
          </a:p>
        </p:txBody>
      </p:sp>
    </p:spTree>
    <p:extLst>
      <p:ext uri="{BB962C8B-B14F-4D97-AF65-F5344CB8AC3E}">
        <p14:creationId xmlns:p14="http://schemas.microsoft.com/office/powerpoint/2010/main" val="111972458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98493-7517-3041-E827-40D06B854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80B74B-263F-A0C5-F388-E47B6625D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58DDC2-9C87-7A6B-B579-B45AC0ED006B}"/>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EA84499-E6C1-4381-DA74-7AAE46FCAACC}"/>
              </a:ext>
            </a:extLst>
          </p:cNvPr>
          <p:cNvSpPr>
            <a:spLocks noGrp="1"/>
          </p:cNvSpPr>
          <p:nvPr>
            <p:ph type="sldNum" sz="quarter" idx="10"/>
          </p:nvPr>
        </p:nvSpPr>
        <p:spPr/>
        <p:txBody>
          <a:bodyPr/>
          <a:lstStyle/>
          <a:p>
            <a:fld id="{25F238A8-1190-BB46-95A0-C10FA98B630E}" type="slidenum">
              <a:rPr lang="en-US" smtClean="0"/>
              <a:pPr/>
              <a:t>82</a:t>
            </a:fld>
            <a:endParaRPr lang="en-US"/>
          </a:p>
        </p:txBody>
      </p:sp>
    </p:spTree>
    <p:extLst>
      <p:ext uri="{BB962C8B-B14F-4D97-AF65-F5344CB8AC3E}">
        <p14:creationId xmlns:p14="http://schemas.microsoft.com/office/powerpoint/2010/main" val="311022720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9B4D-A6B9-3B83-8903-DEDC434B0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55427-A040-D2EB-A28A-24997058BC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F24E2-4A5C-6067-286F-522B0C6D67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0C1BF29-CD7D-29F9-AE5E-9DCEEF9FAFFA}"/>
              </a:ext>
            </a:extLst>
          </p:cNvPr>
          <p:cNvSpPr>
            <a:spLocks noGrp="1"/>
          </p:cNvSpPr>
          <p:nvPr>
            <p:ph type="sldNum" sz="quarter" idx="10"/>
          </p:nvPr>
        </p:nvSpPr>
        <p:spPr/>
        <p:txBody>
          <a:bodyPr/>
          <a:lstStyle/>
          <a:p>
            <a:fld id="{25F238A8-1190-BB46-95A0-C10FA98B630E}" type="slidenum">
              <a:rPr lang="en-US" smtClean="0"/>
              <a:pPr/>
              <a:t>83</a:t>
            </a:fld>
            <a:endParaRPr lang="en-US"/>
          </a:p>
        </p:txBody>
      </p:sp>
    </p:spTree>
    <p:extLst>
      <p:ext uri="{BB962C8B-B14F-4D97-AF65-F5344CB8AC3E}">
        <p14:creationId xmlns:p14="http://schemas.microsoft.com/office/powerpoint/2010/main" val="382881282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47055-8059-20E1-07B7-DAAE30C00E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FA2BA-1589-0BA8-D804-BA9A1DEB84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4EF86A-2BA2-BBAB-EFDA-6731D9F895AB}"/>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F8B10067-740D-43AC-293E-AAC85DC6EBC4}"/>
              </a:ext>
            </a:extLst>
          </p:cNvPr>
          <p:cNvSpPr>
            <a:spLocks noGrp="1"/>
          </p:cNvSpPr>
          <p:nvPr>
            <p:ph type="sldNum" sz="quarter" idx="10"/>
          </p:nvPr>
        </p:nvSpPr>
        <p:spPr/>
        <p:txBody>
          <a:bodyPr/>
          <a:lstStyle/>
          <a:p>
            <a:fld id="{25F238A8-1190-BB46-95A0-C10FA98B630E}" type="slidenum">
              <a:rPr lang="en-US" smtClean="0"/>
              <a:pPr/>
              <a:t>84</a:t>
            </a:fld>
            <a:endParaRPr lang="en-US"/>
          </a:p>
        </p:txBody>
      </p:sp>
    </p:spTree>
    <p:extLst>
      <p:ext uri="{BB962C8B-B14F-4D97-AF65-F5344CB8AC3E}">
        <p14:creationId xmlns:p14="http://schemas.microsoft.com/office/powerpoint/2010/main" val="426525996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A38B6-2A1D-B10E-82F1-EFD6F712FA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4D604F-DC4C-FF2F-4565-14AABE2B8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85877D-B892-DF44-E3F7-7D981A10570C}"/>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CFD206F-235D-D0EE-21AE-10B05E8CE660}"/>
              </a:ext>
            </a:extLst>
          </p:cNvPr>
          <p:cNvSpPr>
            <a:spLocks noGrp="1"/>
          </p:cNvSpPr>
          <p:nvPr>
            <p:ph type="sldNum" sz="quarter" idx="10"/>
          </p:nvPr>
        </p:nvSpPr>
        <p:spPr/>
        <p:txBody>
          <a:bodyPr/>
          <a:lstStyle/>
          <a:p>
            <a:fld id="{25F238A8-1190-BB46-95A0-C10FA98B630E}" type="slidenum">
              <a:rPr lang="en-US" smtClean="0"/>
              <a:pPr/>
              <a:t>85</a:t>
            </a:fld>
            <a:endParaRPr lang="en-US"/>
          </a:p>
        </p:txBody>
      </p:sp>
    </p:spTree>
    <p:extLst>
      <p:ext uri="{BB962C8B-B14F-4D97-AF65-F5344CB8AC3E}">
        <p14:creationId xmlns:p14="http://schemas.microsoft.com/office/powerpoint/2010/main" val="208117624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2901-89AB-A47D-D27A-3D5C35108C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813AC-D816-0BA0-C18D-2C6C2EA768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0C282B-F453-3902-5EFD-9996071BE515}"/>
              </a:ext>
            </a:extLst>
          </p:cNvPr>
          <p:cNvSpPr>
            <a:spLocks noGrp="1"/>
          </p:cNvSpPr>
          <p:nvPr>
            <p:ph type="body" idx="1"/>
          </p:nvPr>
        </p:nvSpPr>
        <p:spPr/>
        <p:txBody>
          <a:bodyPr/>
          <a:lstStyle/>
          <a:p>
            <a:r>
              <a:rPr lang="en-US" sz="1200" b="1"/>
              <a:t>- Extension of Word2Vec for learning document embeddings.</a:t>
            </a:r>
            <a:r>
              <a:rPr lang="en-US" sz="1200"/>
              <a:t> </a:t>
            </a:r>
          </a:p>
          <a:p>
            <a:r>
              <a:rPr lang="en-US" sz="1200" b="1"/>
              <a:t>- Maps a sequence of tokens to a fixed-length embedding vector.</a:t>
            </a:r>
            <a:r>
              <a:rPr lang="en-US" sz="1200"/>
              <a:t> </a:t>
            </a:r>
          </a:p>
          <a:p>
            <a:r>
              <a:rPr lang="en-US" sz="1200" b="1"/>
              <a:t>- Trains a shallow neural network to learn document vectors by predicting surrounding words.</a:t>
            </a:r>
            <a:endParaRPr lang="en-US" sz="1200" b="1">
              <a:solidFill>
                <a:srgbClr val="13409F"/>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8386D26-04DA-BF01-5798-679367856B24}"/>
              </a:ext>
            </a:extLst>
          </p:cNvPr>
          <p:cNvSpPr>
            <a:spLocks noGrp="1"/>
          </p:cNvSpPr>
          <p:nvPr>
            <p:ph type="sldNum" sz="quarter" idx="10"/>
          </p:nvPr>
        </p:nvSpPr>
        <p:spPr/>
        <p:txBody>
          <a:bodyPr/>
          <a:lstStyle/>
          <a:p>
            <a:fld id="{25F238A8-1190-BB46-95A0-C10FA98B630E}" type="slidenum">
              <a:rPr lang="en-US" smtClean="0"/>
              <a:pPr/>
              <a:t>86</a:t>
            </a:fld>
            <a:endParaRPr lang="en-US"/>
          </a:p>
        </p:txBody>
      </p:sp>
    </p:spTree>
    <p:extLst>
      <p:ext uri="{BB962C8B-B14F-4D97-AF65-F5344CB8AC3E}">
        <p14:creationId xmlns:p14="http://schemas.microsoft.com/office/powerpoint/2010/main" val="196611578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55998-6755-84D5-4F94-F41DEA2D7A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D1D88-18D7-887E-B9C8-AC9D5127E9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1A7696-5142-C7E0-9746-A06F0633F33B}"/>
              </a:ext>
            </a:extLst>
          </p:cNvPr>
          <p:cNvSpPr>
            <a:spLocks noGrp="1"/>
          </p:cNvSpPr>
          <p:nvPr>
            <p:ph type="body" idx="1"/>
          </p:nvPr>
        </p:nvSpPr>
        <p:spPr/>
        <p:txBody>
          <a:bodyPr/>
          <a:lstStyle/>
          <a:p>
            <a:r>
              <a:rPr lang="en-US" sz="1200">
                <a:solidFill>
                  <a:schemeClr val="tx1"/>
                </a:solidFill>
                <a:latin typeface="Arial" panose="020B0604020202020204" pitchFamily="34" charset="0"/>
                <a:cs typeface="Arial" panose="020B0604020202020204" pitchFamily="34" charset="0"/>
              </a:rPr>
              <a:t>- Why use finetuned LLM? </a:t>
            </a:r>
          </a:p>
          <a:p>
            <a:r>
              <a:rPr lang="en-US" sz="1200">
                <a:solidFill>
                  <a:schemeClr val="tx1"/>
                </a:solidFill>
                <a:latin typeface="Arial" panose="020B0604020202020204" pitchFamily="34" charset="0"/>
                <a:cs typeface="Arial" panose="020B0604020202020204" pitchFamily="34" charset="0"/>
              </a:rPr>
              <a:t>- how is it better than just prompting </a:t>
            </a:r>
            <a:r>
              <a:rPr lang="en-US" sz="1200" err="1">
                <a:solidFill>
                  <a:schemeClr val="tx1"/>
                </a:solidFill>
                <a:latin typeface="Arial" panose="020B0604020202020204" pitchFamily="34" charset="0"/>
                <a:cs typeface="Arial" panose="020B0604020202020204" pitchFamily="34" charset="0"/>
              </a:rPr>
              <a:t>gpt</a:t>
            </a:r>
            <a:r>
              <a:rPr lang="en-US" sz="1200">
                <a:solidFill>
                  <a:schemeClr val="tx1"/>
                </a:solidFill>
                <a:latin typeface="Arial" panose="020B0604020202020204" pitchFamily="34" charset="0"/>
                <a:cs typeface="Arial" panose="020B0604020202020204" pitchFamily="34" charset="0"/>
              </a:rPr>
              <a:t> directly </a:t>
            </a:r>
          </a:p>
        </p:txBody>
      </p:sp>
      <p:sp>
        <p:nvSpPr>
          <p:cNvPr id="4" name="Slide Number Placeholder 3">
            <a:extLst>
              <a:ext uri="{FF2B5EF4-FFF2-40B4-BE49-F238E27FC236}">
                <a16:creationId xmlns:a16="http://schemas.microsoft.com/office/drawing/2014/main" id="{75A1F1EC-2F95-5F86-C202-111D0083494F}"/>
              </a:ext>
            </a:extLst>
          </p:cNvPr>
          <p:cNvSpPr>
            <a:spLocks noGrp="1"/>
          </p:cNvSpPr>
          <p:nvPr>
            <p:ph type="sldNum" sz="quarter" idx="10"/>
          </p:nvPr>
        </p:nvSpPr>
        <p:spPr/>
        <p:txBody>
          <a:bodyPr/>
          <a:lstStyle/>
          <a:p>
            <a:fld id="{25F238A8-1190-BB46-95A0-C10FA98B630E}" type="slidenum">
              <a:rPr lang="en-US" smtClean="0"/>
              <a:pPr/>
              <a:t>87</a:t>
            </a:fld>
            <a:endParaRPr lang="en-US"/>
          </a:p>
        </p:txBody>
      </p:sp>
    </p:spTree>
    <p:extLst>
      <p:ext uri="{BB962C8B-B14F-4D97-AF65-F5344CB8AC3E}">
        <p14:creationId xmlns:p14="http://schemas.microsoft.com/office/powerpoint/2010/main" val="125438801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concise, to the point response</a:t>
            </a:r>
          </a:p>
          <a:p>
            <a:r>
              <a:rPr lang="en-US"/>
              <a:t>- understands scoring policy much better through annotated examples </a:t>
            </a:r>
          </a:p>
          <a:p>
            <a:r>
              <a:rPr lang="en-US"/>
              <a:t>- we need annotated data though</a:t>
            </a:r>
          </a:p>
        </p:txBody>
      </p:sp>
      <p:sp>
        <p:nvSpPr>
          <p:cNvPr id="4" name="Slide Number Placeholder 3"/>
          <p:cNvSpPr>
            <a:spLocks noGrp="1"/>
          </p:cNvSpPr>
          <p:nvPr>
            <p:ph type="sldNum" sz="quarter" idx="5"/>
          </p:nvPr>
        </p:nvSpPr>
        <p:spPr/>
        <p:txBody>
          <a:bodyPr/>
          <a:lstStyle/>
          <a:p>
            <a:fld id="{25F238A8-1190-BB46-95A0-C10FA98B630E}" type="slidenum">
              <a:rPr lang="en-US" smtClean="0"/>
              <a:pPr/>
              <a:t>88</a:t>
            </a:fld>
            <a:endParaRPr lang="en-US"/>
          </a:p>
        </p:txBody>
      </p:sp>
    </p:spTree>
    <p:extLst>
      <p:ext uri="{BB962C8B-B14F-4D97-AF65-F5344CB8AC3E}">
        <p14:creationId xmlns:p14="http://schemas.microsoft.com/office/powerpoint/2010/main" val="379215136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is the annotated dataset</a:t>
            </a:r>
          </a:p>
          <a:p>
            <a:r>
              <a:rPr lang="en-US"/>
              <a:t>- 293 rows</a:t>
            </a:r>
          </a:p>
        </p:txBody>
      </p:sp>
      <p:sp>
        <p:nvSpPr>
          <p:cNvPr id="4" name="Slide Number Placeholder 3"/>
          <p:cNvSpPr>
            <a:spLocks noGrp="1"/>
          </p:cNvSpPr>
          <p:nvPr>
            <p:ph type="sldNum" sz="quarter" idx="5"/>
          </p:nvPr>
        </p:nvSpPr>
        <p:spPr/>
        <p:txBody>
          <a:bodyPr/>
          <a:lstStyle/>
          <a:p>
            <a:fld id="{25F238A8-1190-BB46-95A0-C10FA98B630E}" type="slidenum">
              <a:rPr lang="en-US" smtClean="0"/>
              <a:pPr/>
              <a:t>89</a:t>
            </a:fld>
            <a:endParaRPr lang="en-US"/>
          </a:p>
        </p:txBody>
      </p:sp>
    </p:spTree>
    <p:extLst>
      <p:ext uri="{BB962C8B-B14F-4D97-AF65-F5344CB8AC3E}">
        <p14:creationId xmlns:p14="http://schemas.microsoft.com/office/powerpoint/2010/main" val="341688633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explaining the finetuning methodology</a:t>
            </a:r>
          </a:p>
          <a:p>
            <a:r>
              <a:rPr lang="en-US"/>
              <a:t>- we are scoring trait pairs for semantic similarity </a:t>
            </a:r>
          </a:p>
          <a:p>
            <a:r>
              <a:rPr lang="en-US"/>
              <a:t>- mode is NOT trained on validation set</a:t>
            </a:r>
          </a:p>
          <a:p>
            <a:r>
              <a:rPr lang="en-US"/>
              <a:t>- test set is used as a second check (sanity check) for closeness to human annotation for trait pairs </a:t>
            </a:r>
          </a:p>
        </p:txBody>
      </p:sp>
      <p:sp>
        <p:nvSpPr>
          <p:cNvPr id="4" name="Slide Number Placeholder 3"/>
          <p:cNvSpPr>
            <a:spLocks noGrp="1"/>
          </p:cNvSpPr>
          <p:nvPr>
            <p:ph type="sldNum" sz="quarter" idx="5"/>
          </p:nvPr>
        </p:nvSpPr>
        <p:spPr/>
        <p:txBody>
          <a:bodyPr/>
          <a:lstStyle/>
          <a:p>
            <a:fld id="{25F238A8-1190-BB46-95A0-C10FA98B630E}" type="slidenum">
              <a:rPr lang="en-US" smtClean="0"/>
              <a:pPr/>
              <a:t>90</a:t>
            </a:fld>
            <a:endParaRPr lang="en-US"/>
          </a:p>
        </p:txBody>
      </p:sp>
    </p:spTree>
    <p:extLst>
      <p:ext uri="{BB962C8B-B14F-4D97-AF65-F5344CB8AC3E}">
        <p14:creationId xmlns:p14="http://schemas.microsoft.com/office/powerpoint/2010/main" val="39093999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distribution of traits in pairs not equal </a:t>
            </a:r>
          </a:p>
        </p:txBody>
      </p:sp>
      <p:sp>
        <p:nvSpPr>
          <p:cNvPr id="4" name="Slide Number Placeholder 3"/>
          <p:cNvSpPr>
            <a:spLocks noGrp="1"/>
          </p:cNvSpPr>
          <p:nvPr>
            <p:ph type="sldNum" sz="quarter" idx="5"/>
          </p:nvPr>
        </p:nvSpPr>
        <p:spPr/>
        <p:txBody>
          <a:bodyPr/>
          <a:lstStyle/>
          <a:p>
            <a:fld id="{25F238A8-1190-BB46-95A0-C10FA98B630E}" type="slidenum">
              <a:rPr lang="en-US" smtClean="0"/>
              <a:pPr/>
              <a:t>91</a:t>
            </a:fld>
            <a:endParaRPr lang="en-US"/>
          </a:p>
        </p:txBody>
      </p:sp>
    </p:spTree>
    <p:extLst>
      <p:ext uri="{BB962C8B-B14F-4D97-AF65-F5344CB8AC3E}">
        <p14:creationId xmlns:p14="http://schemas.microsoft.com/office/powerpoint/2010/main" val="97865484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5F238A8-1190-BB46-95A0-C10FA98B630E}" type="slidenum">
              <a:rPr lang="en-US" smtClean="0"/>
              <a:pPr/>
              <a:t>92</a:t>
            </a:fld>
            <a:endParaRPr lang="en-US"/>
          </a:p>
        </p:txBody>
      </p:sp>
    </p:spTree>
    <p:extLst>
      <p:ext uri="{BB962C8B-B14F-4D97-AF65-F5344CB8AC3E}">
        <p14:creationId xmlns:p14="http://schemas.microsoft.com/office/powerpoint/2010/main" val="259863611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view training and validation loss</a:t>
            </a:r>
          </a:p>
          <a:p>
            <a:r>
              <a:rPr lang="en-US"/>
              <a:t>- </a:t>
            </a:r>
            <a:r>
              <a:rPr lang="en-US" err="1"/>
              <a:t>hyperparam</a:t>
            </a:r>
            <a:r>
              <a:rPr lang="en-US"/>
              <a:t> tuning</a:t>
            </a:r>
          </a:p>
          <a:p>
            <a:r>
              <a:rPr lang="en-US"/>
              <a:t>- check training and validation stability </a:t>
            </a:r>
          </a:p>
        </p:txBody>
      </p:sp>
      <p:sp>
        <p:nvSpPr>
          <p:cNvPr id="4" name="Slide Number Placeholder 3"/>
          <p:cNvSpPr>
            <a:spLocks noGrp="1"/>
          </p:cNvSpPr>
          <p:nvPr>
            <p:ph type="sldNum" sz="quarter" idx="5"/>
          </p:nvPr>
        </p:nvSpPr>
        <p:spPr/>
        <p:txBody>
          <a:bodyPr/>
          <a:lstStyle/>
          <a:p>
            <a:fld id="{25F238A8-1190-BB46-95A0-C10FA98B630E}" type="slidenum">
              <a:rPr lang="en-US" smtClean="0"/>
              <a:pPr/>
              <a:t>93</a:t>
            </a:fld>
            <a:endParaRPr lang="en-US"/>
          </a:p>
        </p:txBody>
      </p:sp>
    </p:spTree>
    <p:extLst>
      <p:ext uri="{BB962C8B-B14F-4D97-AF65-F5344CB8AC3E}">
        <p14:creationId xmlns:p14="http://schemas.microsoft.com/office/powerpoint/2010/main" val="263622345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5F238A8-1190-BB46-95A0-C10FA98B630E}" type="slidenum">
              <a:rPr lang="en-US" smtClean="0"/>
              <a:pPr/>
              <a:t>94</a:t>
            </a:fld>
            <a:endParaRPr lang="en-US"/>
          </a:p>
        </p:txBody>
      </p:sp>
    </p:spTree>
    <p:extLst>
      <p:ext uri="{BB962C8B-B14F-4D97-AF65-F5344CB8AC3E}">
        <p14:creationId xmlns:p14="http://schemas.microsoft.com/office/powerpoint/2010/main" val="166346570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shared y axis</a:t>
            </a:r>
          </a:p>
        </p:txBody>
      </p:sp>
      <p:sp>
        <p:nvSpPr>
          <p:cNvPr id="4" name="Slide Number Placeholder 3"/>
          <p:cNvSpPr>
            <a:spLocks noGrp="1"/>
          </p:cNvSpPr>
          <p:nvPr>
            <p:ph type="sldNum" sz="quarter" idx="5"/>
          </p:nvPr>
        </p:nvSpPr>
        <p:spPr/>
        <p:txBody>
          <a:bodyPr/>
          <a:lstStyle/>
          <a:p>
            <a:fld id="{25F238A8-1190-BB46-95A0-C10FA98B630E}" type="slidenum">
              <a:rPr lang="en-US" smtClean="0"/>
              <a:pPr/>
              <a:t>95</a:t>
            </a:fld>
            <a:endParaRPr lang="en-US"/>
          </a:p>
        </p:txBody>
      </p:sp>
    </p:spTree>
    <p:extLst>
      <p:ext uri="{BB962C8B-B14F-4D97-AF65-F5344CB8AC3E}">
        <p14:creationId xmlns:p14="http://schemas.microsoft.com/office/powerpoint/2010/main" val="208696868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need apples to apples comparison</a:t>
            </a:r>
          </a:p>
          <a:p>
            <a:r>
              <a:rPr lang="en-US"/>
              <a:t>- need all distributions to be spread from 0 to 1 (doc2vec is spread from 0.6 to 0.8)</a:t>
            </a:r>
          </a:p>
          <a:p>
            <a:r>
              <a:rPr lang="en-US"/>
              <a:t>- error formula</a:t>
            </a:r>
          </a:p>
        </p:txBody>
      </p:sp>
      <p:sp>
        <p:nvSpPr>
          <p:cNvPr id="4" name="Slide Number Placeholder 3"/>
          <p:cNvSpPr>
            <a:spLocks noGrp="1"/>
          </p:cNvSpPr>
          <p:nvPr>
            <p:ph type="sldNum" sz="quarter" idx="5"/>
          </p:nvPr>
        </p:nvSpPr>
        <p:spPr/>
        <p:txBody>
          <a:bodyPr/>
          <a:lstStyle/>
          <a:p>
            <a:fld id="{25F238A8-1190-BB46-95A0-C10FA98B630E}" type="slidenum">
              <a:rPr lang="en-US" smtClean="0"/>
              <a:pPr/>
              <a:t>96</a:t>
            </a:fld>
            <a:endParaRPr lang="en-US"/>
          </a:p>
        </p:txBody>
      </p:sp>
    </p:spTree>
    <p:extLst>
      <p:ext uri="{BB962C8B-B14F-4D97-AF65-F5344CB8AC3E}">
        <p14:creationId xmlns:p14="http://schemas.microsoft.com/office/powerpoint/2010/main" val="210354197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5F238A8-1190-BB46-95A0-C10FA98B630E}" type="slidenum">
              <a:rPr lang="en-US" smtClean="0"/>
              <a:pPr/>
              <a:t>97</a:t>
            </a:fld>
            <a:endParaRPr lang="en-US"/>
          </a:p>
        </p:txBody>
      </p:sp>
    </p:spTree>
    <p:extLst>
      <p:ext uri="{BB962C8B-B14F-4D97-AF65-F5344CB8AC3E}">
        <p14:creationId xmlns:p14="http://schemas.microsoft.com/office/powerpoint/2010/main" val="129365874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- 32 data points from test split in all the plots (140+32 train test split)</a:t>
            </a:r>
          </a:p>
          <a:p>
            <a:r>
              <a:rPr lang="en-US"/>
              <a:t>- this was from an older run before </a:t>
            </a:r>
            <a:r>
              <a:rPr lang="en-US" err="1"/>
              <a:t>justin</a:t>
            </a:r>
            <a:r>
              <a:rPr lang="en-US"/>
              <a:t> annotated more data </a:t>
            </a:r>
          </a:p>
        </p:txBody>
      </p:sp>
      <p:sp>
        <p:nvSpPr>
          <p:cNvPr id="4" name="Slide Number Placeholder 3"/>
          <p:cNvSpPr>
            <a:spLocks noGrp="1"/>
          </p:cNvSpPr>
          <p:nvPr>
            <p:ph type="sldNum" sz="quarter" idx="5"/>
          </p:nvPr>
        </p:nvSpPr>
        <p:spPr/>
        <p:txBody>
          <a:bodyPr/>
          <a:lstStyle/>
          <a:p>
            <a:fld id="{25F238A8-1190-BB46-95A0-C10FA98B630E}" type="slidenum">
              <a:rPr lang="en-US" smtClean="0"/>
              <a:pPr/>
              <a:t>98</a:t>
            </a:fld>
            <a:endParaRPr lang="en-US"/>
          </a:p>
        </p:txBody>
      </p:sp>
    </p:spTree>
    <p:extLst>
      <p:ext uri="{BB962C8B-B14F-4D97-AF65-F5344CB8AC3E}">
        <p14:creationId xmlns:p14="http://schemas.microsoft.com/office/powerpoint/2010/main" val="210461353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dovetails y=x a little more </a:t>
            </a:r>
          </a:p>
          <a:p>
            <a:endParaRPr lang="en-US"/>
          </a:p>
        </p:txBody>
      </p:sp>
      <p:sp>
        <p:nvSpPr>
          <p:cNvPr id="4" name="Slide Number Placeholder 3"/>
          <p:cNvSpPr>
            <a:spLocks noGrp="1"/>
          </p:cNvSpPr>
          <p:nvPr>
            <p:ph type="sldNum" sz="quarter" idx="5"/>
          </p:nvPr>
        </p:nvSpPr>
        <p:spPr/>
        <p:txBody>
          <a:bodyPr/>
          <a:lstStyle/>
          <a:p>
            <a:fld id="{25F238A8-1190-BB46-95A0-C10FA98B630E}" type="slidenum">
              <a:rPr lang="en-US" smtClean="0"/>
              <a:pPr/>
              <a:t>99</a:t>
            </a:fld>
            <a:endParaRPr lang="en-US"/>
          </a:p>
        </p:txBody>
      </p:sp>
    </p:spTree>
    <p:extLst>
      <p:ext uri="{BB962C8B-B14F-4D97-AF65-F5344CB8AC3E}">
        <p14:creationId xmlns:p14="http://schemas.microsoft.com/office/powerpoint/2010/main" val="8859367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measuring cumulative error from fold-wise validation splits </a:t>
            </a:r>
          </a:p>
          <a:p>
            <a:r>
              <a:rPr lang="en-US"/>
              <a:t>- gpt4o finetuning brought error down by a lot. meaning its closer to human expert annotation</a:t>
            </a:r>
          </a:p>
        </p:txBody>
      </p:sp>
      <p:sp>
        <p:nvSpPr>
          <p:cNvPr id="4" name="Slide Number Placeholder 3"/>
          <p:cNvSpPr>
            <a:spLocks noGrp="1"/>
          </p:cNvSpPr>
          <p:nvPr>
            <p:ph type="sldNum" sz="quarter" idx="5"/>
          </p:nvPr>
        </p:nvSpPr>
        <p:spPr/>
        <p:txBody>
          <a:bodyPr/>
          <a:lstStyle/>
          <a:p>
            <a:fld id="{25F238A8-1190-BB46-95A0-C10FA98B630E}" type="slidenum">
              <a:rPr lang="en-US" smtClean="0"/>
              <a:pPr/>
              <a:t>100</a:t>
            </a:fld>
            <a:endParaRPr lang="en-US"/>
          </a:p>
        </p:txBody>
      </p:sp>
    </p:spTree>
    <p:extLst>
      <p:ext uri="{BB962C8B-B14F-4D97-AF65-F5344CB8AC3E}">
        <p14:creationId xmlns:p14="http://schemas.microsoft.com/office/powerpoint/2010/main" val="177776346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5F238A8-1190-BB46-95A0-C10FA98B630E}" type="slidenum">
              <a:rPr lang="en-US" smtClean="0"/>
              <a:pPr/>
              <a:t>101</a:t>
            </a:fld>
            <a:endParaRPr lang="en-US"/>
          </a:p>
        </p:txBody>
      </p:sp>
    </p:spTree>
    <p:extLst>
      <p:ext uri="{BB962C8B-B14F-4D97-AF65-F5344CB8AC3E}">
        <p14:creationId xmlns:p14="http://schemas.microsoft.com/office/powerpoint/2010/main" val="315989710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almost zero correlation with human expert annotated scores. bad signal</a:t>
            </a:r>
          </a:p>
        </p:txBody>
      </p:sp>
      <p:sp>
        <p:nvSpPr>
          <p:cNvPr id="4" name="Slide Number Placeholder 3"/>
          <p:cNvSpPr>
            <a:spLocks noGrp="1"/>
          </p:cNvSpPr>
          <p:nvPr>
            <p:ph type="sldNum" sz="quarter" idx="5"/>
          </p:nvPr>
        </p:nvSpPr>
        <p:spPr/>
        <p:txBody>
          <a:bodyPr/>
          <a:lstStyle/>
          <a:p>
            <a:fld id="{25F238A8-1190-BB46-95A0-C10FA98B630E}" type="slidenum">
              <a:rPr lang="en-US" smtClean="0"/>
              <a:pPr/>
              <a:t>102</a:t>
            </a:fld>
            <a:endParaRPr lang="en-US"/>
          </a:p>
        </p:txBody>
      </p:sp>
    </p:spTree>
    <p:extLst>
      <p:ext uri="{BB962C8B-B14F-4D97-AF65-F5344CB8AC3E}">
        <p14:creationId xmlns:p14="http://schemas.microsoft.com/office/powerpoint/2010/main" val="317748795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almost perfect y=x correlation</a:t>
            </a:r>
          </a:p>
        </p:txBody>
      </p:sp>
      <p:sp>
        <p:nvSpPr>
          <p:cNvPr id="4" name="Slide Number Placeholder 3"/>
          <p:cNvSpPr>
            <a:spLocks noGrp="1"/>
          </p:cNvSpPr>
          <p:nvPr>
            <p:ph type="sldNum" sz="quarter" idx="5"/>
          </p:nvPr>
        </p:nvSpPr>
        <p:spPr/>
        <p:txBody>
          <a:bodyPr/>
          <a:lstStyle/>
          <a:p>
            <a:fld id="{25F238A8-1190-BB46-95A0-C10FA98B630E}" type="slidenum">
              <a:rPr lang="en-US" smtClean="0"/>
              <a:pPr/>
              <a:t>103</a:t>
            </a:fld>
            <a:endParaRPr lang="en-US"/>
          </a:p>
        </p:txBody>
      </p:sp>
    </p:spTree>
    <p:extLst>
      <p:ext uri="{BB962C8B-B14F-4D97-AF65-F5344CB8AC3E}">
        <p14:creationId xmlns:p14="http://schemas.microsoft.com/office/powerpoint/2010/main" val="301855751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F73F3-33C1-EE75-02BB-E1EF0A84DC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D67CB-B69B-6D32-2A4A-E1D2C76BBC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EA412-0E62-4E6D-FDEA-CF327E281812}"/>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796267B-D2F6-5250-979F-21703C65420D}"/>
              </a:ext>
            </a:extLst>
          </p:cNvPr>
          <p:cNvSpPr>
            <a:spLocks noGrp="1"/>
          </p:cNvSpPr>
          <p:nvPr>
            <p:ph type="sldNum" sz="quarter" idx="10"/>
          </p:nvPr>
        </p:nvSpPr>
        <p:spPr/>
        <p:txBody>
          <a:bodyPr/>
          <a:lstStyle/>
          <a:p>
            <a:fld id="{25F238A8-1190-BB46-95A0-C10FA98B630E}" type="slidenum">
              <a:rPr lang="en-US" smtClean="0"/>
              <a:pPr/>
              <a:t>104</a:t>
            </a:fld>
            <a:endParaRPr lang="en-US"/>
          </a:p>
        </p:txBody>
      </p:sp>
    </p:spTree>
    <p:extLst>
      <p:ext uri="{BB962C8B-B14F-4D97-AF65-F5344CB8AC3E}">
        <p14:creationId xmlns:p14="http://schemas.microsoft.com/office/powerpoint/2010/main" val="229501432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278AD-E819-E601-8FD3-C251355DA6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FDD5D-D844-C460-D01C-B7CAA9AFAD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024667-CBD6-FAEF-0EF1-D3E781A6827B}"/>
              </a:ext>
            </a:extLst>
          </p:cNvPr>
          <p:cNvSpPr>
            <a:spLocks noGrp="1"/>
          </p:cNvSpPr>
          <p:nvPr>
            <p:ph type="body" idx="1"/>
          </p:nvPr>
        </p:nvSpPr>
        <p:spPr/>
        <p:txBody>
          <a:bodyPr/>
          <a:lstStyle/>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C9DEC8A-5926-8B86-C0A0-9D366A425F8E}"/>
              </a:ext>
            </a:extLst>
          </p:cNvPr>
          <p:cNvSpPr>
            <a:spLocks noGrp="1"/>
          </p:cNvSpPr>
          <p:nvPr>
            <p:ph type="sldNum" sz="quarter" idx="10"/>
          </p:nvPr>
        </p:nvSpPr>
        <p:spPr/>
        <p:txBody>
          <a:bodyPr/>
          <a:lstStyle/>
          <a:p>
            <a:fld id="{25F238A8-1190-BB46-95A0-C10FA98B630E}" type="slidenum">
              <a:rPr lang="en-US" smtClean="0"/>
              <a:pPr/>
              <a:t>105</a:t>
            </a:fld>
            <a:endParaRPr lang="en-US"/>
          </a:p>
        </p:txBody>
      </p:sp>
    </p:spTree>
    <p:extLst>
      <p:ext uri="{BB962C8B-B14F-4D97-AF65-F5344CB8AC3E}">
        <p14:creationId xmlns:p14="http://schemas.microsoft.com/office/powerpoint/2010/main" val="148150413"/>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FF24D-6995-BCF0-2646-7EC3AEEDBD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F6717-9764-6363-74C3-79B44884C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F5C0B9-5E7F-AD5D-6D19-07AEFCDCA99A}"/>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A3F07183-85F3-A5C2-E0E2-900439AE050C}"/>
              </a:ext>
            </a:extLst>
          </p:cNvPr>
          <p:cNvSpPr>
            <a:spLocks noGrp="1"/>
          </p:cNvSpPr>
          <p:nvPr>
            <p:ph type="sldNum" sz="quarter" idx="10"/>
          </p:nvPr>
        </p:nvSpPr>
        <p:spPr/>
        <p:txBody>
          <a:bodyPr/>
          <a:lstStyle/>
          <a:p>
            <a:fld id="{25F238A8-1190-BB46-95A0-C10FA98B630E}" type="slidenum">
              <a:rPr lang="en-US" smtClean="0"/>
              <a:pPr/>
              <a:t>106</a:t>
            </a:fld>
            <a:endParaRPr lang="en-US"/>
          </a:p>
        </p:txBody>
      </p:sp>
    </p:spTree>
    <p:extLst>
      <p:ext uri="{BB962C8B-B14F-4D97-AF65-F5344CB8AC3E}">
        <p14:creationId xmlns:p14="http://schemas.microsoft.com/office/powerpoint/2010/main" val="28122272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1F12F-54D0-589C-AE68-D29DEB3603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06312-077E-B35C-AC14-59D18CEFA4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31434-29BC-CA00-126F-4506C55CB8BA}"/>
              </a:ext>
            </a:extLst>
          </p:cNvPr>
          <p:cNvSpPr>
            <a:spLocks noGrp="1"/>
          </p:cNvSpPr>
          <p:nvPr>
            <p:ph type="body" idx="1"/>
          </p:nvPr>
        </p:nvSpPr>
        <p:spPr/>
        <p:txBody>
          <a:bodyPr/>
          <a:lstStyle/>
          <a:p>
            <a:r>
              <a:rPr lang="en-US" sz="1200"/>
              <a:t> - good example for task id run check 20260726_191417 Pathogen Resistance</a:t>
            </a:r>
          </a:p>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186C359-B00C-C78F-013A-BA50A4B75866}"/>
              </a:ext>
            </a:extLst>
          </p:cNvPr>
          <p:cNvSpPr>
            <a:spLocks noGrp="1"/>
          </p:cNvSpPr>
          <p:nvPr>
            <p:ph type="sldNum" sz="quarter" idx="10"/>
          </p:nvPr>
        </p:nvSpPr>
        <p:spPr/>
        <p:txBody>
          <a:bodyPr/>
          <a:lstStyle/>
          <a:p>
            <a:fld id="{25F238A8-1190-BB46-95A0-C10FA98B630E}" type="slidenum">
              <a:rPr lang="en-US" smtClean="0"/>
              <a:pPr/>
              <a:t>107</a:t>
            </a:fld>
            <a:endParaRPr lang="en-US"/>
          </a:p>
        </p:txBody>
      </p:sp>
    </p:spTree>
    <p:extLst>
      <p:ext uri="{BB962C8B-B14F-4D97-AF65-F5344CB8AC3E}">
        <p14:creationId xmlns:p14="http://schemas.microsoft.com/office/powerpoint/2010/main" val="70303210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E9AAB-0591-77E1-FC62-A16076CE01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3C16E5-042E-B8C1-B050-A404E2262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07FBC3-A4B3-7B6F-0307-A04BEBB85315}"/>
              </a:ext>
            </a:extLst>
          </p:cNvPr>
          <p:cNvSpPr>
            <a:spLocks noGrp="1"/>
          </p:cNvSpPr>
          <p:nvPr>
            <p:ph type="body" idx="1"/>
          </p:nvPr>
        </p:nvSpPr>
        <p:spPr/>
        <p:txBody>
          <a:bodyPr/>
          <a:lstStyle/>
          <a:p>
            <a:pPr marL="0" marR="0" lvl="0" indent="0" algn="l" defTabSz="121911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4AB19CEC-731C-8673-2052-81926BCBA054}"/>
              </a:ext>
            </a:extLst>
          </p:cNvPr>
          <p:cNvSpPr>
            <a:spLocks noGrp="1"/>
          </p:cNvSpPr>
          <p:nvPr>
            <p:ph type="sldNum" sz="quarter" idx="10"/>
          </p:nvPr>
        </p:nvSpPr>
        <p:spPr/>
        <p:txBody>
          <a:bodyPr/>
          <a:lstStyle/>
          <a:p>
            <a:fld id="{25F238A8-1190-BB46-95A0-C10FA98B630E}" type="slidenum">
              <a:rPr lang="en-US" smtClean="0"/>
              <a:pPr/>
              <a:t>108</a:t>
            </a:fld>
            <a:endParaRPr lang="en-US"/>
          </a:p>
        </p:txBody>
      </p:sp>
    </p:spTree>
    <p:extLst>
      <p:ext uri="{BB962C8B-B14F-4D97-AF65-F5344CB8AC3E}">
        <p14:creationId xmlns:p14="http://schemas.microsoft.com/office/powerpoint/2010/main" val="301417182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6483A-FAB0-63FE-FCE4-0C843AD18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6CD724-73D2-704D-ACC7-0FB807CD30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9D075E-9D62-438F-09FF-9DD7116D521C}"/>
              </a:ext>
            </a:extLst>
          </p:cNvPr>
          <p:cNvSpPr>
            <a:spLocks noGrp="1"/>
          </p:cNvSpPr>
          <p:nvPr>
            <p:ph type="body" idx="1"/>
          </p:nvPr>
        </p:nvSpPr>
        <p:spPr/>
        <p:txBody>
          <a:bodyPr/>
          <a:lstStyle/>
          <a:p>
            <a:r>
              <a:rPr lang="en-US" sz="1200"/>
              <a:t> - good example for task id run check 20260726_191417 Pathogen Resistance</a:t>
            </a:r>
          </a:p>
          <a:p>
            <a:endParaRPr lang="en-US" sz="1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781C1BE-739B-497D-2082-B3E94CFCBDEF}"/>
              </a:ext>
            </a:extLst>
          </p:cNvPr>
          <p:cNvSpPr>
            <a:spLocks noGrp="1"/>
          </p:cNvSpPr>
          <p:nvPr>
            <p:ph type="sldNum" sz="quarter" idx="10"/>
          </p:nvPr>
        </p:nvSpPr>
        <p:spPr/>
        <p:txBody>
          <a:bodyPr/>
          <a:lstStyle/>
          <a:p>
            <a:fld id="{25F238A8-1190-BB46-95A0-C10FA98B630E}" type="slidenum">
              <a:rPr lang="en-US" smtClean="0"/>
              <a:pPr/>
              <a:t>109</a:t>
            </a:fld>
            <a:endParaRPr lang="en-US"/>
          </a:p>
        </p:txBody>
      </p:sp>
    </p:spTree>
    <p:extLst>
      <p:ext uri="{BB962C8B-B14F-4D97-AF65-F5344CB8AC3E}">
        <p14:creationId xmlns:p14="http://schemas.microsoft.com/office/powerpoint/2010/main" val="314663356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A2A86-BF5B-A949-31E0-F3FD42E8CA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8D3A4-FDCA-11FC-C1BB-6DA89BB68C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E3E45-5E03-52A8-395B-0DC8E8EA65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 want to conclude by thanking all of you for listening and thanking those who supported this journey. This research spanned several years and wouldn’t have been possible without my advisor, committee, colleagues, and the annotators and participants who contributed. I truly appreciate your time and attention today.</a:t>
            </a:r>
          </a:p>
        </p:txBody>
      </p:sp>
      <p:sp>
        <p:nvSpPr>
          <p:cNvPr id="4" name="Slide Number Placeholder 3">
            <a:extLst>
              <a:ext uri="{FF2B5EF4-FFF2-40B4-BE49-F238E27FC236}">
                <a16:creationId xmlns:a16="http://schemas.microsoft.com/office/drawing/2014/main" id="{0EF6AE9C-64A6-8AB7-4603-6C331635FDC0}"/>
              </a:ext>
            </a:extLst>
          </p:cNvPr>
          <p:cNvSpPr>
            <a:spLocks noGrp="1"/>
          </p:cNvSpPr>
          <p:nvPr>
            <p:ph type="sldNum" sz="quarter" idx="10"/>
          </p:nvPr>
        </p:nvSpPr>
        <p:spPr/>
        <p:txBody>
          <a:bodyPr/>
          <a:lstStyle/>
          <a:p>
            <a:fld id="{25F238A8-1190-BB46-95A0-C10FA98B630E}" type="slidenum">
              <a:rPr lang="en-US" smtClean="0"/>
              <a:pPr/>
              <a:t>110</a:t>
            </a:fld>
            <a:endParaRPr lang="en-US"/>
          </a:p>
        </p:txBody>
      </p:sp>
    </p:spTree>
    <p:extLst>
      <p:ext uri="{BB962C8B-B14F-4D97-AF65-F5344CB8AC3E}">
        <p14:creationId xmlns:p14="http://schemas.microsoft.com/office/powerpoint/2010/main" val="5944903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0957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19847"/>
            <a:ext cx="10972800" cy="1143004"/>
          </a:xfrm>
        </p:spPr>
        <p:txBody>
          <a:bodyPr>
            <a:normAutofit/>
          </a:bodyPr>
          <a:lstStyle>
            <a:lvl1pPr>
              <a:defRPr sz="5333" b="1" i="0">
                <a:solidFill>
                  <a:schemeClr val="tx1"/>
                </a:solidFill>
              </a:defRPr>
            </a:lvl1pPr>
          </a:lstStyle>
          <a:p>
            <a:r>
              <a:rPr lang="en-US"/>
              <a:t>Click to edit Master title style</a:t>
            </a:r>
          </a:p>
        </p:txBody>
      </p:sp>
      <p:sp>
        <p:nvSpPr>
          <p:cNvPr id="3" name="Rectangle 15">
            <a:extLst>
              <a:ext uri="{FF2B5EF4-FFF2-40B4-BE49-F238E27FC236}">
                <a16:creationId xmlns:a16="http://schemas.microsoft.com/office/drawing/2014/main" id="{CE7CBFD9-DD5D-9E4F-8710-0B65878380D0}"/>
              </a:ext>
            </a:extLst>
          </p:cNvPr>
          <p:cNvSpPr>
            <a:spLocks noGrp="1" noChangeArrowheads="1"/>
          </p:cNvSpPr>
          <p:nvPr>
            <p:ph type="sldNum" sz="quarter" idx="4"/>
          </p:nvPr>
        </p:nvSpPr>
        <p:spPr>
          <a:xfrm>
            <a:off x="9291780" y="6245225"/>
            <a:ext cx="2844800" cy="476251"/>
          </a:xfrm>
          <a:prstGeom prst="rect">
            <a:avLst/>
          </a:prstGeom>
        </p:spPr>
        <p:txBody>
          <a:bodyPr/>
          <a:lstStyle>
            <a:lvl1pPr algn="r">
              <a:defRPr b="1">
                <a:solidFill>
                  <a:schemeClr val="bg1"/>
                </a:solidFill>
              </a:defRPr>
            </a:lvl1pPr>
          </a:lstStyle>
          <a:p>
            <a:fld id="{98B9532F-E207-4442-901F-983BC8C51AAB}" type="slidenum">
              <a:rPr lang="en-US" altLang="en-US" smtClean="0"/>
              <a:pPr/>
              <a:t>‹#›</a:t>
            </a:fld>
            <a:endParaRPr lang="en-US" altLang="en-US"/>
          </a:p>
        </p:txBody>
      </p:sp>
    </p:spTree>
    <p:extLst>
      <p:ext uri="{BB962C8B-B14F-4D97-AF65-F5344CB8AC3E}">
        <p14:creationId xmlns:p14="http://schemas.microsoft.com/office/powerpoint/2010/main" val="2452877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ectangle 15">
            <a:extLst>
              <a:ext uri="{FF2B5EF4-FFF2-40B4-BE49-F238E27FC236}">
                <a16:creationId xmlns:a16="http://schemas.microsoft.com/office/drawing/2014/main" id="{EE1EFEA5-39AB-0D49-B1FB-28AE9830D63A}"/>
              </a:ext>
            </a:extLst>
          </p:cNvPr>
          <p:cNvSpPr>
            <a:spLocks noGrp="1" noChangeArrowheads="1"/>
          </p:cNvSpPr>
          <p:nvPr>
            <p:ph type="sldNum" sz="quarter" idx="4"/>
          </p:nvPr>
        </p:nvSpPr>
        <p:spPr>
          <a:xfrm>
            <a:off x="9291780" y="6245225"/>
            <a:ext cx="2844800" cy="476251"/>
          </a:xfrm>
          <a:prstGeom prst="rect">
            <a:avLst/>
          </a:prstGeom>
        </p:spPr>
        <p:txBody>
          <a:bodyPr/>
          <a:lstStyle>
            <a:lvl1pPr algn="r">
              <a:defRPr b="1">
                <a:solidFill>
                  <a:schemeClr val="bg1"/>
                </a:solidFill>
              </a:defRPr>
            </a:lvl1pPr>
          </a:lstStyle>
          <a:p>
            <a:fld id="{98B9532F-E207-4442-901F-983BC8C51AAB}" type="slidenum">
              <a:rPr lang="en-US" altLang="en-US" smtClean="0"/>
              <a:pPr/>
              <a:t>‹#›</a:t>
            </a:fld>
            <a:endParaRPr lang="en-US" altLang="en-US"/>
          </a:p>
        </p:txBody>
      </p:sp>
    </p:spTree>
    <p:extLst>
      <p:ext uri="{BB962C8B-B14F-4D97-AF65-F5344CB8AC3E}">
        <p14:creationId xmlns:p14="http://schemas.microsoft.com/office/powerpoint/2010/main" val="1255381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3"/>
            <a:ext cx="11151917" cy="886396"/>
          </a:xfrm>
        </p:spPr>
        <p:txBody>
          <a:bodyPr/>
          <a:lstStyle/>
          <a:p>
            <a:r>
              <a:rPr lang="en-US"/>
              <a:t>Click to edit Master title style</a:t>
            </a:r>
          </a:p>
        </p:txBody>
      </p:sp>
      <p:sp>
        <p:nvSpPr>
          <p:cNvPr id="5" name="Text Placeholder 4"/>
          <p:cNvSpPr>
            <a:spLocks noGrp="1"/>
          </p:cNvSpPr>
          <p:nvPr>
            <p:ph type="body" sz="quarter" idx="10"/>
          </p:nvPr>
        </p:nvSpPr>
        <p:spPr>
          <a:xfrm>
            <a:off x="519248" y="1447804"/>
            <a:ext cx="11151917" cy="1079953"/>
          </a:xfrm>
        </p:spPr>
        <p:txBody>
          <a:bodyPr/>
          <a:lstStyle>
            <a:lvl1pPr marL="0" indent="0">
              <a:spcBef>
                <a:spcPts val="0"/>
              </a:spcBef>
              <a:spcAft>
                <a:spcPts val="900"/>
              </a:spcAft>
              <a:buNone/>
              <a:defRPr sz="4267" spc="-133" baseline="0">
                <a:latin typeface="Arial" panose="020B0604020202020204" pitchFamily="34" charset="0"/>
                <a:cs typeface="Arial" panose="020B0604020202020204" pitchFamily="34" charset="0"/>
              </a:defRPr>
            </a:lvl1pPr>
            <a:lvl2pPr marL="0" indent="0">
              <a:spcBef>
                <a:spcPts val="0"/>
              </a:spcBef>
              <a:spcAft>
                <a:spcPts val="400"/>
              </a:spcAft>
              <a:buNone/>
              <a:defRPr sz="2667" spc="-67" baseline="0">
                <a:latin typeface="Arial" panose="020B0604020202020204" pitchFamily="34" charset="0"/>
                <a:cs typeface="Arial" panose="020B0604020202020204" pitchFamily="34" charset="0"/>
              </a:defRPr>
            </a:lvl2pPr>
            <a:lvl3pPr marL="0" indent="0">
              <a:spcBef>
                <a:spcPts val="0"/>
              </a:spcBef>
              <a:spcAft>
                <a:spcPts val="400"/>
              </a:spcAft>
              <a:buNone/>
              <a:defRPr sz="2000"/>
            </a:lvl3pPr>
            <a:lvl4pPr marL="0" indent="0">
              <a:spcBef>
                <a:spcPts val="0"/>
              </a:spcBef>
              <a:spcAft>
                <a:spcPts val="400"/>
              </a:spcAft>
              <a:buNone/>
              <a:defRPr/>
            </a:lvl4pPr>
            <a:lvl5pPr marL="0" indent="0">
              <a:spcBef>
                <a:spcPts val="0"/>
              </a:spcBef>
              <a:spcAft>
                <a:spcPts val="400"/>
              </a:spcAft>
              <a:buNone/>
              <a:defRPr/>
            </a:lvl5pPr>
          </a:lstStyle>
          <a:p>
            <a:pPr lvl="0"/>
            <a:r>
              <a:rPr lang="en-US"/>
              <a:t>Click to edit Master text styles</a:t>
            </a:r>
          </a:p>
          <a:p>
            <a:pPr lvl="1"/>
            <a:r>
              <a:rPr lang="en-US"/>
              <a:t>Second level</a:t>
            </a:r>
          </a:p>
        </p:txBody>
      </p:sp>
      <p:sp>
        <p:nvSpPr>
          <p:cNvPr id="3" name="Slide Number Placeholder 2">
            <a:extLst>
              <a:ext uri="{FF2B5EF4-FFF2-40B4-BE49-F238E27FC236}">
                <a16:creationId xmlns:a16="http://schemas.microsoft.com/office/drawing/2014/main" id="{19A3C8CF-1A85-F84A-9078-DB64DA705A1A}"/>
              </a:ext>
            </a:extLst>
          </p:cNvPr>
          <p:cNvSpPr>
            <a:spLocks noGrp="1"/>
          </p:cNvSpPr>
          <p:nvPr>
            <p:ph type="sldNum" sz="quarter" idx="11"/>
          </p:nvPr>
        </p:nvSpPr>
        <p:spPr/>
        <p:txBody>
          <a:bodyPr/>
          <a:lstStyle/>
          <a:p>
            <a:fld id="{FC2EED17-1836-6142-A4B1-ABB9C7C22E41}" type="slidenum">
              <a:rPr lang="en-US" smtClean="0"/>
              <a:pPr/>
              <a:t>‹#›</a:t>
            </a:fld>
            <a:endParaRPr lang="en-US"/>
          </a:p>
        </p:txBody>
      </p:sp>
    </p:spTree>
    <p:extLst>
      <p:ext uri="{BB962C8B-B14F-4D97-AF65-F5344CB8AC3E}">
        <p14:creationId xmlns:p14="http://schemas.microsoft.com/office/powerpoint/2010/main" val="3647359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19248" y="1447803"/>
            <a:ext cx="11151917" cy="2577116"/>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DAED0097-084C-8D4A-8D34-31668087C031}"/>
              </a:ext>
            </a:extLst>
          </p:cNvPr>
          <p:cNvSpPr>
            <a:spLocks noGrp="1"/>
          </p:cNvSpPr>
          <p:nvPr>
            <p:ph type="sldNum" sz="quarter" idx="10"/>
          </p:nvPr>
        </p:nvSpPr>
        <p:spPr/>
        <p:txBody>
          <a:bodyPr/>
          <a:lstStyle/>
          <a:p>
            <a:fld id="{FC2EED17-1836-6142-A4B1-ABB9C7C22E41}" type="slidenum">
              <a:rPr lang="en-US" smtClean="0"/>
              <a:pPr/>
              <a:t>‹#›</a:t>
            </a:fld>
            <a:endParaRPr lang="en-US"/>
          </a:p>
        </p:txBody>
      </p:sp>
    </p:spTree>
    <p:extLst>
      <p:ext uri="{BB962C8B-B14F-4D97-AF65-F5344CB8AC3E}">
        <p14:creationId xmlns:p14="http://schemas.microsoft.com/office/powerpoint/2010/main" val="2157278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Blank Color 1 Layout">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512897" y="2041525"/>
            <a:ext cx="11231365" cy="1329595"/>
          </a:xfrm>
        </p:spPr>
        <p:txBody>
          <a:bodyPr>
            <a:normAutofit/>
          </a:bodyPr>
          <a:lstStyle>
            <a:lvl1pPr marL="0" indent="0">
              <a:buNone/>
              <a:defRPr lang="en-US" sz="8000" i="0" kern="1200" spc="-100" baseline="0" dirty="0" smtClean="0">
                <a:gradFill>
                  <a:gsLst>
                    <a:gs pos="0">
                      <a:schemeClr val="tx1"/>
                    </a:gs>
                    <a:gs pos="100000">
                      <a:schemeClr val="tx1"/>
                    </a:gs>
                  </a:gsLst>
                  <a:lin ang="5400000" scaled="0"/>
                </a:gradFill>
                <a:latin typeface="Helvetica" pitchFamily="2" charset="0"/>
                <a:ea typeface="+mn-ea"/>
                <a:cs typeface="+mn-cs"/>
              </a:defRPr>
            </a:lvl1pPr>
          </a:lstStyle>
          <a:p>
            <a:pPr marL="0" lvl="0" indent="0" algn="l" defTabSz="914661" rtl="0" eaLnBrk="1" latinLnBrk="0" hangingPunct="1">
              <a:lnSpc>
                <a:spcPct val="90000"/>
              </a:lnSpc>
              <a:spcBef>
                <a:spcPct val="20000"/>
              </a:spcBef>
              <a:buSzPct val="90000"/>
              <a:buFont typeface="Arial" pitchFamily="34" charset="0"/>
              <a:buNone/>
            </a:pPr>
            <a:r>
              <a:rPr lang="en-US"/>
              <a:t>Click to edit title style</a:t>
            </a:r>
          </a:p>
        </p:txBody>
      </p:sp>
      <p:sp>
        <p:nvSpPr>
          <p:cNvPr id="4" name="Text Placeholder 8"/>
          <p:cNvSpPr>
            <a:spLocks noGrp="1"/>
          </p:cNvSpPr>
          <p:nvPr>
            <p:ph type="body" sz="quarter" idx="11" hasCustomPrompt="1"/>
          </p:nvPr>
        </p:nvSpPr>
        <p:spPr>
          <a:xfrm>
            <a:off x="512897" y="3117243"/>
            <a:ext cx="7515595" cy="443199"/>
          </a:xfrm>
        </p:spPr>
        <p:txBody>
          <a:bodyPr/>
          <a:lstStyle>
            <a:lvl1pPr marL="0" indent="0">
              <a:buNone/>
              <a:defRPr lang="en-US" sz="3200" kern="1200" spc="-100" baseline="0" dirty="0">
                <a:gradFill>
                  <a:gsLst>
                    <a:gs pos="0">
                      <a:schemeClr val="tx1"/>
                    </a:gs>
                    <a:gs pos="100000">
                      <a:schemeClr val="tx1"/>
                    </a:gs>
                  </a:gsLst>
                  <a:lin ang="5400000" scaled="0"/>
                </a:gradFill>
                <a:latin typeface="Garamond" panose="02020404030301010803" pitchFamily="18" charset="0"/>
                <a:ea typeface="+mn-ea"/>
                <a:cs typeface="+mn-cs"/>
              </a:defRPr>
            </a:lvl1pPr>
          </a:lstStyle>
          <a:p>
            <a:pPr marL="0" lvl="0" indent="0" algn="l" defTabSz="914661" rtl="0" eaLnBrk="1" latinLnBrk="0" hangingPunct="1">
              <a:lnSpc>
                <a:spcPct val="90000"/>
              </a:lnSpc>
              <a:spcBef>
                <a:spcPct val="20000"/>
              </a:spcBef>
              <a:buSzPct val="90000"/>
              <a:buFont typeface="Arial" pitchFamily="34" charset="0"/>
              <a:buNone/>
            </a:pPr>
            <a:r>
              <a:rPr lang="en-US"/>
              <a:t>Speaker Title</a:t>
            </a:r>
          </a:p>
        </p:txBody>
      </p:sp>
      <p:sp>
        <p:nvSpPr>
          <p:cNvPr id="3" name="Slide Number Placeholder 2">
            <a:extLst>
              <a:ext uri="{FF2B5EF4-FFF2-40B4-BE49-F238E27FC236}">
                <a16:creationId xmlns:a16="http://schemas.microsoft.com/office/drawing/2014/main" id="{5F4168B8-5052-794D-A29B-DD8C57CCA1E0}"/>
              </a:ext>
            </a:extLst>
          </p:cNvPr>
          <p:cNvSpPr>
            <a:spLocks noGrp="1"/>
          </p:cNvSpPr>
          <p:nvPr>
            <p:ph type="sldNum" sz="quarter" idx="12"/>
          </p:nvPr>
        </p:nvSpPr>
        <p:spPr/>
        <p:txBody>
          <a:bodyPr/>
          <a:lstStyle/>
          <a:p>
            <a:fld id="{FC2EED17-1836-6142-A4B1-ABB9C7C22E41}" type="slidenum">
              <a:rPr lang="en-US" smtClean="0"/>
              <a:pPr/>
              <a:t>‹#›</a:t>
            </a:fld>
            <a:endParaRPr lang="en-US"/>
          </a:p>
        </p:txBody>
      </p:sp>
    </p:spTree>
    <p:extLst>
      <p:ext uri="{BB962C8B-B14F-4D97-AF65-F5344CB8AC3E}">
        <p14:creationId xmlns:p14="http://schemas.microsoft.com/office/powerpoint/2010/main" val="103050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3"/>
            <a:ext cx="11151917" cy="886396"/>
          </a:xfrm>
        </p:spPr>
        <p:txBody>
          <a:bodyPr/>
          <a:lstStyle/>
          <a:p>
            <a:r>
              <a:rPr lang="en-US"/>
              <a:t>Click to edit Master title style</a:t>
            </a:r>
          </a:p>
        </p:txBody>
      </p:sp>
      <p:sp>
        <p:nvSpPr>
          <p:cNvPr id="5" name="Text Placeholder 4"/>
          <p:cNvSpPr>
            <a:spLocks noGrp="1"/>
          </p:cNvSpPr>
          <p:nvPr>
            <p:ph type="body" sz="quarter" idx="10"/>
          </p:nvPr>
        </p:nvSpPr>
        <p:spPr>
          <a:xfrm>
            <a:off x="519248" y="1447803"/>
            <a:ext cx="11151917" cy="2577116"/>
          </a:xfrm>
          <a:ln>
            <a:solidFill>
              <a:schemeClr val="accent1"/>
            </a:solid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AE18D9BB-FCB5-464B-B6FE-7F0FA9B52D97}"/>
              </a:ext>
            </a:extLst>
          </p:cNvPr>
          <p:cNvSpPr>
            <a:spLocks noGrp="1"/>
          </p:cNvSpPr>
          <p:nvPr>
            <p:ph type="sldNum" sz="quarter" idx="11"/>
          </p:nvPr>
        </p:nvSpPr>
        <p:spPr/>
        <p:txBody>
          <a:bodyPr/>
          <a:lstStyle/>
          <a:p>
            <a:fld id="{FC2EED17-1836-6142-A4B1-ABB9C7C22E41}" type="slidenum">
              <a:rPr lang="en-US" smtClean="0"/>
              <a:pPr/>
              <a:t>‹#›</a:t>
            </a:fld>
            <a:endParaRPr lang="en-US"/>
          </a:p>
        </p:txBody>
      </p:sp>
    </p:spTree>
    <p:extLst>
      <p:ext uri="{BB962C8B-B14F-4D97-AF65-F5344CB8AC3E}">
        <p14:creationId xmlns:p14="http://schemas.microsoft.com/office/powerpoint/2010/main" val="1237755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3"/>
            <a:ext cx="11151917" cy="886396"/>
          </a:xfrm>
        </p:spPr>
        <p:txBody>
          <a:bodyPr/>
          <a:lstStyle/>
          <a:p>
            <a:r>
              <a:rPr lang="en-US"/>
              <a:t>Click to edit Master title style</a:t>
            </a:r>
          </a:p>
        </p:txBody>
      </p:sp>
      <p:sp>
        <p:nvSpPr>
          <p:cNvPr id="5" name="Text Placeholder 4"/>
          <p:cNvSpPr>
            <a:spLocks noGrp="1"/>
          </p:cNvSpPr>
          <p:nvPr>
            <p:ph type="body" sz="quarter" idx="10"/>
          </p:nvPr>
        </p:nvSpPr>
        <p:spPr>
          <a:xfrm>
            <a:off x="519248" y="1447803"/>
            <a:ext cx="11151917" cy="1043020"/>
          </a:xfrm>
        </p:spPr>
        <p:txBody>
          <a:bodyPr/>
          <a:lstStyle>
            <a:lvl1pPr marL="0" indent="0">
              <a:spcBef>
                <a:spcPts val="0"/>
              </a:spcBef>
              <a:spcAft>
                <a:spcPts val="900"/>
              </a:spcAft>
              <a:buNone/>
              <a:defRPr sz="4267" spc="-133" baseline="0">
                <a:latin typeface="Segoe UI Light" pitchFamily="34" charset="0"/>
              </a:defRPr>
            </a:lvl1pPr>
            <a:lvl2pPr marL="0" indent="0">
              <a:spcBef>
                <a:spcPts val="0"/>
              </a:spcBef>
              <a:spcAft>
                <a:spcPts val="400"/>
              </a:spcAft>
              <a:buNone/>
              <a:defRPr sz="2400" spc="-67" baseline="0"/>
            </a:lvl2pPr>
            <a:lvl3pPr marL="0" indent="0">
              <a:spcBef>
                <a:spcPts val="0"/>
              </a:spcBef>
              <a:spcAft>
                <a:spcPts val="400"/>
              </a:spcAft>
              <a:buNone/>
              <a:defRPr sz="2000"/>
            </a:lvl3pPr>
            <a:lvl4pPr marL="0" indent="0">
              <a:spcBef>
                <a:spcPts val="0"/>
              </a:spcBef>
              <a:spcAft>
                <a:spcPts val="400"/>
              </a:spcAft>
              <a:buNone/>
              <a:defRPr/>
            </a:lvl4pPr>
            <a:lvl5pPr marL="0" indent="0">
              <a:spcBef>
                <a:spcPts val="0"/>
              </a:spcBef>
              <a:spcAft>
                <a:spcPts val="400"/>
              </a:spcAft>
              <a:buNone/>
              <a:defRPr/>
            </a:lvl5pPr>
          </a:lstStyle>
          <a:p>
            <a:pPr lvl="0"/>
            <a:r>
              <a:rPr lang="en-US"/>
              <a:t>Click to edit Master text styles</a:t>
            </a:r>
          </a:p>
          <a:p>
            <a:pPr lvl="1"/>
            <a:r>
              <a:rPr lang="en-US"/>
              <a:t>Second level</a:t>
            </a:r>
          </a:p>
        </p:txBody>
      </p:sp>
      <p:sp>
        <p:nvSpPr>
          <p:cNvPr id="7" name="Content Placeholder 5"/>
          <p:cNvSpPr>
            <a:spLocks noGrp="1"/>
          </p:cNvSpPr>
          <p:nvPr>
            <p:ph sz="quarter" idx="11"/>
          </p:nvPr>
        </p:nvSpPr>
        <p:spPr>
          <a:xfrm>
            <a:off x="10608863" y="5950424"/>
            <a:ext cx="1583140" cy="165091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4851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817083"/>
          </a:xfrm>
          <a:prstGeom prst="rect">
            <a:avLst/>
          </a:prstGeom>
        </p:spPr>
        <p:txBody>
          <a:bodyPr/>
          <a:lstStyle/>
          <a:p>
            <a:r>
              <a:rPr lang="en-US"/>
              <a:t>Click to edit Master title style</a:t>
            </a:r>
          </a:p>
        </p:txBody>
      </p:sp>
      <p:sp>
        <p:nvSpPr>
          <p:cNvPr id="5" name="Text Placeholder 4"/>
          <p:cNvSpPr>
            <a:spLocks noGrp="1"/>
          </p:cNvSpPr>
          <p:nvPr>
            <p:ph type="body" sz="quarter" idx="10"/>
          </p:nvPr>
        </p:nvSpPr>
        <p:spPr>
          <a:xfrm>
            <a:off x="519248" y="1447804"/>
            <a:ext cx="11151917" cy="1079953"/>
          </a:xfrm>
          <a:prstGeom prst="rect">
            <a:avLst/>
          </a:prstGeom>
        </p:spPr>
        <p:txBody>
          <a:bodyPr/>
          <a:lstStyle>
            <a:lvl1pPr marL="0" indent="0">
              <a:spcBef>
                <a:spcPts val="0"/>
              </a:spcBef>
              <a:spcAft>
                <a:spcPts val="900"/>
              </a:spcAft>
              <a:buNone/>
              <a:defRPr sz="4267" spc="-133" baseline="0">
                <a:latin typeface="Garamond" panose="02020404030301010803" pitchFamily="18" charset="0"/>
              </a:defRPr>
            </a:lvl1pPr>
            <a:lvl2pPr marL="0" indent="0">
              <a:spcBef>
                <a:spcPts val="0"/>
              </a:spcBef>
              <a:spcAft>
                <a:spcPts val="400"/>
              </a:spcAft>
              <a:buNone/>
              <a:defRPr sz="2667" spc="-67" baseline="0">
                <a:latin typeface="Garamond" panose="02020404030301010803" pitchFamily="18" charset="0"/>
              </a:defRPr>
            </a:lvl2pPr>
            <a:lvl3pPr marL="0" indent="0">
              <a:spcBef>
                <a:spcPts val="0"/>
              </a:spcBef>
              <a:spcAft>
                <a:spcPts val="400"/>
              </a:spcAft>
              <a:buNone/>
              <a:defRPr sz="2000"/>
            </a:lvl3pPr>
            <a:lvl4pPr marL="0" indent="0">
              <a:spcBef>
                <a:spcPts val="0"/>
              </a:spcBef>
              <a:spcAft>
                <a:spcPts val="400"/>
              </a:spcAft>
              <a:buNone/>
              <a:defRPr/>
            </a:lvl4pPr>
            <a:lvl5pPr marL="0" indent="0">
              <a:spcBef>
                <a:spcPts val="0"/>
              </a:spcBef>
              <a:spcAft>
                <a:spcPts val="400"/>
              </a:spcAft>
              <a:buNone/>
              <a:defRPr/>
            </a:lvl5pPr>
          </a:lstStyle>
          <a:p>
            <a:pPr lvl="0"/>
            <a:r>
              <a:rPr lang="en-US"/>
              <a:t>Click to edit Master text styles</a:t>
            </a:r>
          </a:p>
          <a:p>
            <a:pPr lvl="1"/>
            <a:r>
              <a:rPr lang="en-US"/>
              <a:t>Second level</a:t>
            </a:r>
          </a:p>
        </p:txBody>
      </p:sp>
      <p:sp>
        <p:nvSpPr>
          <p:cNvPr id="3" name="Slide Number Placeholder 2">
            <a:extLst>
              <a:ext uri="{FF2B5EF4-FFF2-40B4-BE49-F238E27FC236}">
                <a16:creationId xmlns:a16="http://schemas.microsoft.com/office/drawing/2014/main" id="{19A3C8CF-1A85-F84A-9078-DB64DA705A1A}"/>
              </a:ext>
            </a:extLst>
          </p:cNvPr>
          <p:cNvSpPr>
            <a:spLocks noGrp="1"/>
          </p:cNvSpPr>
          <p:nvPr>
            <p:ph type="sldNum" sz="quarter" idx="11"/>
          </p:nvPr>
        </p:nvSpPr>
        <p:spPr>
          <a:xfrm>
            <a:off x="9448800" y="6491821"/>
            <a:ext cx="2743200" cy="366183"/>
          </a:xfrm>
          <a:prstGeom prst="rect">
            <a:avLst/>
          </a:prstGeom>
        </p:spPr>
        <p:txBody>
          <a:bodyPr/>
          <a:lstStyle/>
          <a:p>
            <a:fld id="{FC2EED17-1836-6142-A4B1-ABB9C7C22E41}" type="slidenum">
              <a:rPr lang="en-US" smtClean="0"/>
              <a:pPr/>
              <a:t>‹#›</a:t>
            </a:fld>
            <a:endParaRPr lang="en-US"/>
          </a:p>
        </p:txBody>
      </p:sp>
    </p:spTree>
    <p:extLst>
      <p:ext uri="{BB962C8B-B14F-4D97-AF65-F5344CB8AC3E}">
        <p14:creationId xmlns:p14="http://schemas.microsoft.com/office/powerpoint/2010/main" val="26284348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19248" y="1447804"/>
            <a:ext cx="11151917" cy="2622321"/>
          </a:xfrm>
          <a:prstGeom prst="rect">
            <a:avLst/>
          </a:prstGeo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a:xfrm>
            <a:off x="519248" y="228601"/>
            <a:ext cx="11151917" cy="817083"/>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DAED0097-084C-8D4A-8D34-31668087C031}"/>
              </a:ext>
            </a:extLst>
          </p:cNvPr>
          <p:cNvSpPr>
            <a:spLocks noGrp="1"/>
          </p:cNvSpPr>
          <p:nvPr>
            <p:ph type="sldNum" sz="quarter" idx="10"/>
          </p:nvPr>
        </p:nvSpPr>
        <p:spPr>
          <a:xfrm>
            <a:off x="9448800" y="6491821"/>
            <a:ext cx="2743200" cy="366183"/>
          </a:xfrm>
          <a:prstGeom prst="rect">
            <a:avLst/>
          </a:prstGeom>
        </p:spPr>
        <p:txBody>
          <a:bodyPr/>
          <a:lstStyle/>
          <a:p>
            <a:fld id="{FC2EED17-1836-6142-A4B1-ABB9C7C22E41}" type="slidenum">
              <a:rPr lang="en-US" smtClean="0"/>
              <a:pPr/>
              <a:t>‹#›</a:t>
            </a:fld>
            <a:endParaRPr lang="en-US"/>
          </a:p>
        </p:txBody>
      </p:sp>
    </p:spTree>
    <p:extLst>
      <p:ext uri="{BB962C8B-B14F-4D97-AF65-F5344CB8AC3E}">
        <p14:creationId xmlns:p14="http://schemas.microsoft.com/office/powerpoint/2010/main" val="2416377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57"/>
        <p:cNvGrpSpPr/>
        <p:nvPr/>
      </p:nvGrpSpPr>
      <p:grpSpPr>
        <a:xfrm>
          <a:off x="0" y="0"/>
          <a:ext cx="0" cy="0"/>
          <a:chOff x="0" y="0"/>
          <a:chExt cx="0" cy="0"/>
        </a:xfrm>
      </p:grpSpPr>
      <p:sp>
        <p:nvSpPr>
          <p:cNvPr id="59" name="Google Shape;59;p14"/>
          <p:cNvSpPr txBox="1">
            <a:spLocks noGrp="1"/>
          </p:cNvSpPr>
          <p:nvPr>
            <p:ph type="title"/>
          </p:nvPr>
        </p:nvSpPr>
        <p:spPr>
          <a:xfrm>
            <a:off x="519248" y="228600"/>
            <a:ext cx="11151917" cy="73866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1340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9448800" y="6491822"/>
            <a:ext cx="2743200" cy="36618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433876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5">
            <a:extLst>
              <a:ext uri="{FF2B5EF4-FFF2-40B4-BE49-F238E27FC236}">
                <a16:creationId xmlns:a16="http://schemas.microsoft.com/office/drawing/2014/main" id="{0075474E-799D-2044-9D08-833BCDF4973E}"/>
              </a:ext>
            </a:extLst>
          </p:cNvPr>
          <p:cNvSpPr>
            <a:spLocks noGrp="1" noChangeArrowheads="1"/>
          </p:cNvSpPr>
          <p:nvPr>
            <p:ph type="sldNum" sz="quarter" idx="4"/>
          </p:nvPr>
        </p:nvSpPr>
        <p:spPr>
          <a:xfrm>
            <a:off x="9291780" y="6245225"/>
            <a:ext cx="2844800" cy="476251"/>
          </a:xfrm>
          <a:prstGeom prst="rect">
            <a:avLst/>
          </a:prstGeom>
        </p:spPr>
        <p:txBody>
          <a:bodyPr/>
          <a:lstStyle>
            <a:lvl1pPr algn="r">
              <a:defRPr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fld id="{98B9532F-E207-4442-901F-983BC8C51AAB}" type="slidenum">
              <a:rPr lang="en-US" altLang="en-US" smtClean="0"/>
              <a:pPr/>
              <a:t>‹#›</a:t>
            </a:fld>
            <a:endParaRPr lang="en-US" altLang="en-US"/>
          </a:p>
        </p:txBody>
      </p:sp>
      <p:pic>
        <p:nvPicPr>
          <p:cNvPr id="6" name="Picture 5" descr="A blue and orange letter r&#10;&#10;AI-generated content may be incorrect.">
            <a:extLst>
              <a:ext uri="{FF2B5EF4-FFF2-40B4-BE49-F238E27FC236}">
                <a16:creationId xmlns:a16="http://schemas.microsoft.com/office/drawing/2014/main" id="{097BE4D5-D1E6-D28E-1DB6-EC25AAFAE408}"/>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10273745" y="92077"/>
            <a:ext cx="1862835" cy="497827"/>
          </a:xfrm>
          <a:prstGeom prst="rect">
            <a:avLst/>
          </a:prstGeom>
        </p:spPr>
      </p:pic>
    </p:spTree>
    <p:extLst>
      <p:ext uri="{BB962C8B-B14F-4D97-AF65-F5344CB8AC3E}">
        <p14:creationId xmlns:p14="http://schemas.microsoft.com/office/powerpoint/2010/main" val="484154639"/>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95" r:id="rId4"/>
    <p:sldLayoutId id="2147483696" r:id="rId5"/>
    <p:sldLayoutId id="2147483697" r:id="rId6"/>
    <p:sldLayoutId id="2147483698" r:id="rId7"/>
    <p:sldLayoutId id="2147483699" r:id="rId8"/>
  </p:sldLayoutIdLst>
  <p:hf hdr="0" ftr="0" dt="0"/>
  <p:txStyles>
    <p:titleStyle>
      <a:lvl1pPr algn="ctr" defTabSz="609555" rtl="0" eaLnBrk="1" latinLnBrk="0" hangingPunct="1">
        <a:spcBef>
          <a:spcPct val="0"/>
        </a:spcBef>
        <a:buNone/>
        <a:defRPr sz="5333" b="1" kern="1200">
          <a:solidFill>
            <a:srgbClr val="13409F"/>
          </a:solidFill>
          <a:latin typeface="Helvetica" pitchFamily="2" charset="0"/>
          <a:ea typeface="Open Sans" panose="020B0606030504020204" pitchFamily="34" charset="0"/>
          <a:cs typeface="Open Sans" panose="020B0606030504020204" pitchFamily="34" charset="0"/>
        </a:defRPr>
      </a:lvl1pPr>
    </p:titleStyle>
    <p:bodyStyle>
      <a:lvl1pPr marL="457167" indent="-457167" algn="l" defTabSz="609555" rtl="0" eaLnBrk="1" latinLnBrk="0" hangingPunct="1">
        <a:spcBef>
          <a:spcPct val="20000"/>
        </a:spcBef>
        <a:buFont typeface="Courier New" panose="02070309020205020404" pitchFamily="49" charset="0"/>
        <a:buChar char="o"/>
        <a:defRPr sz="4267" b="1" i="0" kern="1200">
          <a:solidFill>
            <a:schemeClr val="tx1"/>
          </a:solidFill>
          <a:latin typeface="Arial" panose="020B0604020202020204" pitchFamily="34" charset="0"/>
          <a:ea typeface="Open Sans" panose="020B0606030504020204" pitchFamily="34" charset="0"/>
          <a:cs typeface="Arial" panose="020B0604020202020204" pitchFamily="34" charset="0"/>
        </a:defRPr>
      </a:lvl1pPr>
      <a:lvl2pPr marL="994758" indent="-380972" algn="l" defTabSz="609555" rtl="0" eaLnBrk="1" latinLnBrk="0" hangingPunct="1">
        <a:spcBef>
          <a:spcPct val="20000"/>
        </a:spcBef>
        <a:buFont typeface="Arial"/>
        <a:buChar char="–"/>
        <a:tabLst/>
        <a:defRPr sz="3733" b="0" i="0"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375730" indent="-306895" algn="l" defTabSz="609555" rtl="0" eaLnBrk="1" latinLnBrk="0" hangingPunct="1">
        <a:spcBef>
          <a:spcPct val="20000"/>
        </a:spcBef>
        <a:buFont typeface="Arial"/>
        <a:buChar char="•"/>
        <a:tabLst/>
        <a:defRPr sz="3200" b="0" i="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1832897" indent="-306895" algn="l" defTabSz="609555" rtl="0" eaLnBrk="1" latinLnBrk="0" hangingPunct="1">
        <a:spcBef>
          <a:spcPct val="20000"/>
        </a:spcBef>
        <a:buFont typeface="Arial"/>
        <a:buChar char="–"/>
        <a:tabLst/>
        <a:defRPr sz="2667" b="0" i="0" kern="1200">
          <a:solidFill>
            <a:schemeClr val="tx1"/>
          </a:solidFill>
          <a:latin typeface="Arial" panose="020B0604020202020204" pitchFamily="34" charset="0"/>
          <a:ea typeface="Open Sans" panose="020B0606030504020204" pitchFamily="34" charset="0"/>
          <a:cs typeface="Arial" panose="020B0604020202020204" pitchFamily="34" charset="0"/>
        </a:defRPr>
      </a:lvl4pPr>
      <a:lvl5pPr marL="2215983" indent="-309011" algn="l" defTabSz="609555" rtl="0" eaLnBrk="1" latinLnBrk="0" hangingPunct="1">
        <a:spcBef>
          <a:spcPct val="20000"/>
        </a:spcBef>
        <a:buFont typeface="Arial"/>
        <a:buChar char="»"/>
        <a:tabLst/>
        <a:defRPr sz="2667" b="0" i="0" kern="1200">
          <a:solidFill>
            <a:schemeClr val="tx1"/>
          </a:solidFill>
          <a:latin typeface="Arial" panose="020B0604020202020204" pitchFamily="34" charset="0"/>
          <a:ea typeface="Open Sans" panose="020B0606030504020204" pitchFamily="34" charset="0"/>
          <a:cs typeface="Arial" panose="020B0604020202020204" pitchFamily="34" charset="0"/>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8" y="228600"/>
            <a:ext cx="11151917" cy="812531"/>
          </a:xfrm>
          <a:prstGeom prst="rect">
            <a:avLst/>
          </a:prstGeom>
        </p:spPr>
        <p:txBody>
          <a:bodyPr vert="horz" wrap="square" lIns="0" tIns="0" rIns="0" bIns="0" rtlCol="0" anchor="t">
            <a:spAutoFit/>
          </a:bodyPr>
          <a:lstStyle/>
          <a:p>
            <a:r>
              <a:rPr lang="en-US"/>
              <a:t>Click to edit Master title style</a:t>
            </a:r>
          </a:p>
        </p:txBody>
      </p:sp>
      <p:sp>
        <p:nvSpPr>
          <p:cNvPr id="3" name="Text Placeholder 2"/>
          <p:cNvSpPr>
            <a:spLocks noGrp="1"/>
          </p:cNvSpPr>
          <p:nvPr>
            <p:ph type="body" idx="1"/>
          </p:nvPr>
        </p:nvSpPr>
        <p:spPr>
          <a:xfrm>
            <a:off x="519250" y="1447804"/>
            <a:ext cx="11151916" cy="2667397"/>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5"/>
            <a:r>
              <a:rPr lang="en-US"/>
              <a:t>Fifth level</a:t>
            </a:r>
          </a:p>
        </p:txBody>
      </p:sp>
      <p:sp>
        <p:nvSpPr>
          <p:cNvPr id="5" name="Slide Number Placeholder 4">
            <a:extLst>
              <a:ext uri="{FF2B5EF4-FFF2-40B4-BE49-F238E27FC236}">
                <a16:creationId xmlns:a16="http://schemas.microsoft.com/office/drawing/2014/main" id="{2C59CF86-D126-9E43-9BA4-ED6F728D93D0}"/>
              </a:ext>
            </a:extLst>
          </p:cNvPr>
          <p:cNvSpPr>
            <a:spLocks noGrp="1"/>
          </p:cNvSpPr>
          <p:nvPr>
            <p:ph type="sldNum" sz="quarter" idx="4"/>
          </p:nvPr>
        </p:nvSpPr>
        <p:spPr>
          <a:xfrm>
            <a:off x="9448800" y="6491821"/>
            <a:ext cx="2743200" cy="366183"/>
          </a:xfrm>
          <a:prstGeom prst="rect">
            <a:avLst/>
          </a:prstGeom>
        </p:spPr>
        <p:txBody>
          <a:bodyPr vert="horz" lIns="91440" tIns="45720" rIns="91440" bIns="45720" rtlCol="0" anchor="ctr"/>
          <a:lstStyle>
            <a:lvl1pPr algn="r">
              <a:defRPr sz="2133" b="1">
                <a:solidFill>
                  <a:schemeClr val="tx1"/>
                </a:solidFill>
              </a:defRPr>
            </a:lvl1pPr>
          </a:lstStyle>
          <a:p>
            <a:fld id="{FC2EED17-1836-6142-A4B1-ABB9C7C22E41}" type="slidenum">
              <a:rPr lang="en-US" smtClean="0"/>
              <a:pPr/>
              <a:t>‹#›</a:t>
            </a:fld>
            <a:endParaRPr lang="en-US"/>
          </a:p>
        </p:txBody>
      </p:sp>
      <p:pic>
        <p:nvPicPr>
          <p:cNvPr id="4" name="Picture 3" descr="A blue and orange letter r&#10;&#10;AI-generated content may be incorrect.">
            <a:extLst>
              <a:ext uri="{FF2B5EF4-FFF2-40B4-BE49-F238E27FC236}">
                <a16:creationId xmlns:a16="http://schemas.microsoft.com/office/drawing/2014/main" id="{F4112B8C-B2B7-A714-6E6C-152332A78B73}"/>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273745" y="92077"/>
            <a:ext cx="1862835" cy="497827"/>
          </a:xfrm>
          <a:prstGeom prst="rect">
            <a:avLst/>
          </a:prstGeom>
        </p:spPr>
      </p:pic>
    </p:spTree>
    <p:extLst>
      <p:ext uri="{BB962C8B-B14F-4D97-AF65-F5344CB8AC3E}">
        <p14:creationId xmlns:p14="http://schemas.microsoft.com/office/powerpoint/2010/main" val="2469833606"/>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700" r:id="rId3"/>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l" defTabSz="914661" rtl="0" eaLnBrk="1" latinLnBrk="0" hangingPunct="1">
        <a:lnSpc>
          <a:spcPct val="90000"/>
        </a:lnSpc>
        <a:spcBef>
          <a:spcPct val="0"/>
        </a:spcBef>
        <a:buNone/>
        <a:defRPr lang="en-US" sz="5867" b="1" kern="1200" cap="none" spc="-133" baseline="0" dirty="0" smtClean="0">
          <a:ln w="3175">
            <a:noFill/>
          </a:ln>
          <a:solidFill>
            <a:srgbClr val="13409F"/>
          </a:solidFill>
          <a:effectLst/>
          <a:latin typeface="Helvetica" pitchFamily="2" charset="0"/>
          <a:ea typeface="Open Sans" panose="020B0606030504020204" pitchFamily="34" charset="0"/>
          <a:cs typeface="Open Sans" panose="020B0606030504020204" pitchFamily="34" charset="0"/>
        </a:defRPr>
      </a:lvl1pPr>
    </p:titleStyle>
    <p:bodyStyle>
      <a:lvl1pPr marL="463515" indent="-463515" algn="l" defTabSz="914661" rtl="0" eaLnBrk="1" latinLnBrk="0" hangingPunct="1">
        <a:lnSpc>
          <a:spcPct val="90000"/>
        </a:lnSpc>
        <a:spcBef>
          <a:spcPct val="20000"/>
        </a:spcBef>
        <a:buSzPct val="90000"/>
        <a:buFont typeface="Courier New" panose="02070309020205020404" pitchFamily="49" charset="0"/>
        <a:buChar char="o"/>
        <a:tabLst/>
        <a:defRPr sz="4267" b="1" kern="1200">
          <a:solidFill>
            <a:schemeClr val="tx1"/>
          </a:solidFill>
          <a:latin typeface="Arial" panose="020B0604020202020204" pitchFamily="34" charset="0"/>
          <a:ea typeface="Open Sans" panose="020B0606030504020204" pitchFamily="34" charset="0"/>
          <a:cs typeface="Arial" panose="020B0604020202020204" pitchFamily="34" charset="0"/>
        </a:defRPr>
      </a:lvl1pPr>
      <a:lvl2pPr marL="994758" indent="-380972" algn="l" defTabSz="914661" rtl="0" eaLnBrk="1" latinLnBrk="0" hangingPunct="1">
        <a:lnSpc>
          <a:spcPct val="90000"/>
        </a:lnSpc>
        <a:spcBef>
          <a:spcPct val="20000"/>
        </a:spcBef>
        <a:buSzPct val="90000"/>
        <a:buFont typeface="System Font Regular"/>
        <a:buChar char="−"/>
        <a:tabLst/>
        <a:defRPr sz="3733" kern="1200">
          <a:solidFill>
            <a:schemeClr val="tx1"/>
          </a:solidFill>
          <a:latin typeface="Arial" panose="020B0604020202020204" pitchFamily="34" charset="0"/>
          <a:ea typeface="Open Sans" panose="020B0606030504020204" pitchFamily="34" charset="0"/>
          <a:cs typeface="Arial" panose="020B0604020202020204" pitchFamily="34" charset="0"/>
        </a:defRPr>
      </a:lvl2pPr>
      <a:lvl3pPr marL="1375730" indent="-289963" algn="l" defTabSz="914661" rtl="0" eaLnBrk="1" latinLnBrk="0" hangingPunct="1">
        <a:lnSpc>
          <a:spcPct val="90000"/>
        </a:lnSpc>
        <a:spcBef>
          <a:spcPct val="20000"/>
        </a:spcBef>
        <a:buSzPct val="90000"/>
        <a:buFont typeface="Arial" panose="020B0604020202020204" pitchFamily="34" charset="0"/>
        <a:buChar char="•"/>
        <a:tabLst/>
        <a:defRPr sz="3200" kern="1200">
          <a:solidFill>
            <a:schemeClr val="tx1"/>
          </a:solidFill>
          <a:latin typeface="Arial" panose="020B0604020202020204" pitchFamily="34" charset="0"/>
          <a:ea typeface="Open Sans" panose="020B0606030504020204" pitchFamily="34" charset="0"/>
          <a:cs typeface="Arial" panose="020B0604020202020204" pitchFamily="34" charset="0"/>
        </a:defRPr>
      </a:lvl3pPr>
      <a:lvl4pPr marL="1832897" indent="-306895" algn="l" defTabSz="914661" rtl="0" eaLnBrk="1" latinLnBrk="0" hangingPunct="1">
        <a:lnSpc>
          <a:spcPct val="90000"/>
        </a:lnSpc>
        <a:spcBef>
          <a:spcPct val="20000"/>
        </a:spcBef>
        <a:buSzPct val="90000"/>
        <a:buFont typeface="System Font Regular"/>
        <a:buChar char="−"/>
        <a:tabLst/>
        <a:defRPr sz="2667" kern="1200">
          <a:solidFill>
            <a:schemeClr val="tx1"/>
          </a:solidFill>
          <a:latin typeface="Arial" panose="020B0604020202020204" pitchFamily="34" charset="0"/>
          <a:ea typeface="Open Sans" panose="020B0606030504020204" pitchFamily="34" charset="0"/>
          <a:cs typeface="Arial" panose="020B0604020202020204" pitchFamily="34" charset="0"/>
        </a:defRPr>
      </a:lvl4pPr>
      <a:lvl5pPr marL="1906975" indent="0" algn="l" defTabSz="914661" rtl="0" eaLnBrk="1" latinLnBrk="0" hangingPunct="1">
        <a:lnSpc>
          <a:spcPct val="90000"/>
        </a:lnSpc>
        <a:spcBef>
          <a:spcPct val="20000"/>
        </a:spcBef>
        <a:buSzPct val="90000"/>
        <a:buFont typeface="Courier New" panose="02070309020205020404" pitchFamily="49" charset="0"/>
        <a:buNone/>
        <a:tabLst/>
        <a:defRPr sz="2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15983" indent="-300543" algn="l" defTabSz="914661" rtl="0" eaLnBrk="1" latinLnBrk="0" hangingPunct="1">
        <a:spcBef>
          <a:spcPct val="20000"/>
        </a:spcBef>
        <a:buFont typeface="Apple Symbols" panose="02000000000000000000" pitchFamily="2" charset="-79"/>
        <a:buChar char="⨠"/>
        <a:tabLst/>
        <a:defRPr sz="2000" kern="1200">
          <a:solidFill>
            <a:schemeClr val="tx1"/>
          </a:solidFill>
          <a:latin typeface="Arial" panose="020B0604020202020204" pitchFamily="34" charset="0"/>
          <a:ea typeface="+mn-ea"/>
          <a:cs typeface="Arial" panose="020B0604020202020204" pitchFamily="34" charset="0"/>
        </a:defRPr>
      </a:lvl6pPr>
      <a:lvl7pPr marL="2972646" indent="-228666" algn="l" defTabSz="91466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978" indent="-228666" algn="l" defTabSz="91466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7308" indent="-228666" algn="l" defTabSz="91466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661" rtl="0" eaLnBrk="1" latinLnBrk="0" hangingPunct="1">
        <a:defRPr sz="1867" kern="1200">
          <a:solidFill>
            <a:schemeClr val="tx1"/>
          </a:solidFill>
          <a:latin typeface="+mn-lt"/>
          <a:ea typeface="+mn-ea"/>
          <a:cs typeface="+mn-cs"/>
        </a:defRPr>
      </a:lvl1pPr>
      <a:lvl2pPr marL="457331" algn="l" defTabSz="914661" rtl="0" eaLnBrk="1" latinLnBrk="0" hangingPunct="1">
        <a:defRPr sz="1867" kern="1200">
          <a:solidFill>
            <a:schemeClr val="tx1"/>
          </a:solidFill>
          <a:latin typeface="+mn-lt"/>
          <a:ea typeface="+mn-ea"/>
          <a:cs typeface="+mn-cs"/>
        </a:defRPr>
      </a:lvl2pPr>
      <a:lvl3pPr marL="914661" algn="l" defTabSz="914661" rtl="0" eaLnBrk="1" latinLnBrk="0" hangingPunct="1">
        <a:defRPr sz="1867" kern="1200">
          <a:solidFill>
            <a:schemeClr val="tx1"/>
          </a:solidFill>
          <a:latin typeface="+mn-lt"/>
          <a:ea typeface="+mn-ea"/>
          <a:cs typeface="+mn-cs"/>
        </a:defRPr>
      </a:lvl3pPr>
      <a:lvl4pPr marL="1371990" algn="l" defTabSz="914661" rtl="0" eaLnBrk="1" latinLnBrk="0" hangingPunct="1">
        <a:defRPr sz="1867" kern="1200">
          <a:solidFill>
            <a:schemeClr val="tx1"/>
          </a:solidFill>
          <a:latin typeface="+mn-lt"/>
          <a:ea typeface="+mn-ea"/>
          <a:cs typeface="+mn-cs"/>
        </a:defRPr>
      </a:lvl4pPr>
      <a:lvl5pPr marL="1829322" algn="l" defTabSz="914661" rtl="0" eaLnBrk="1" latinLnBrk="0" hangingPunct="1">
        <a:defRPr sz="1867" kern="1200">
          <a:solidFill>
            <a:schemeClr val="tx1"/>
          </a:solidFill>
          <a:latin typeface="+mn-lt"/>
          <a:ea typeface="+mn-ea"/>
          <a:cs typeface="+mn-cs"/>
        </a:defRPr>
      </a:lvl5pPr>
      <a:lvl6pPr marL="2286652" algn="l" defTabSz="914661" rtl="0" eaLnBrk="1" latinLnBrk="0" hangingPunct="1">
        <a:defRPr sz="1867" kern="1200">
          <a:solidFill>
            <a:schemeClr val="tx1"/>
          </a:solidFill>
          <a:latin typeface="+mn-lt"/>
          <a:ea typeface="+mn-ea"/>
          <a:cs typeface="+mn-cs"/>
        </a:defRPr>
      </a:lvl6pPr>
      <a:lvl7pPr marL="2743982" algn="l" defTabSz="914661" rtl="0" eaLnBrk="1" latinLnBrk="0" hangingPunct="1">
        <a:defRPr sz="1867" kern="1200">
          <a:solidFill>
            <a:schemeClr val="tx1"/>
          </a:solidFill>
          <a:latin typeface="+mn-lt"/>
          <a:ea typeface="+mn-ea"/>
          <a:cs typeface="+mn-cs"/>
        </a:defRPr>
      </a:lvl7pPr>
      <a:lvl8pPr marL="3201312" algn="l" defTabSz="914661" rtl="0" eaLnBrk="1" latinLnBrk="0" hangingPunct="1">
        <a:defRPr sz="1867" kern="1200">
          <a:solidFill>
            <a:schemeClr val="tx1"/>
          </a:solidFill>
          <a:latin typeface="+mn-lt"/>
          <a:ea typeface="+mn-ea"/>
          <a:cs typeface="+mn-cs"/>
        </a:defRPr>
      </a:lvl8pPr>
      <a:lvl9pPr marL="3658643" algn="l" defTabSz="914661" rtl="0" eaLnBrk="1" latinLnBrk="0" hangingPunct="1">
        <a:defRPr sz="186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hyperlink" Target="http://idir.uta.edu/genesieve" TargetMode="External"/><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2.xml"/><Relationship Id="rId1" Type="http://schemas.openxmlformats.org/officeDocument/2006/relationships/slideLayout" Target="../slideLayouts/slideLayout10.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10.xml"/><Relationship Id="rId5" Type="http://schemas.openxmlformats.org/officeDocument/2006/relationships/image" Target="../media/image15.png"/><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10.xml"/><Relationship Id="rId5" Type="http://schemas.openxmlformats.org/officeDocument/2006/relationships/image" Target="../media/image15.png"/><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10.xml"/><Relationship Id="rId5" Type="http://schemas.openxmlformats.org/officeDocument/2006/relationships/image" Target="../media/image15.png"/><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4.xm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6.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7.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8.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9.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0.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1.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2.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3.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4.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5.xml"/><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8.xml"/><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0.xml"/><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1.xml"/><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2.xml"/><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3.xml"/><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8.xml"/><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9.xml"/><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1.xml"/><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2.xml"/><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3.xml"/><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5.xml"/><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6.xml"/><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8.xml"/><Relationship Id="rId1" Type="http://schemas.openxmlformats.org/officeDocument/2006/relationships/slideLayout" Target="../slideLayouts/slideLayout11.xml"/><Relationship Id="rId4" Type="http://schemas.openxmlformats.org/officeDocument/2006/relationships/image" Target="../media/image45.png"/></Relationships>
</file>

<file path=ppt/slides/_rels/slide9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9.xml"/><Relationship Id="rId1" Type="http://schemas.openxmlformats.org/officeDocument/2006/relationships/slideLayout" Target="../slideLayouts/slideLayout10.xml"/></Relationships>
</file>

<file path=ppt/slides/_rels/slide10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0.xml"/><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2.xml"/><Relationship Id="rId1" Type="http://schemas.openxmlformats.org/officeDocument/2006/relationships/slideLayout" Target="../slideLayouts/slideLayout10.xml"/><Relationship Id="rId4" Type="http://schemas.openxmlformats.org/officeDocument/2006/relationships/image" Target="../media/image49.png"/></Relationships>
</file>

<file path=ppt/slides/_rels/slide10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3.xml"/><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0.xml"/></Relationships>
</file>

<file path=ppt/slides/_rels/slide10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7.xml"/><Relationship Id="rId1" Type="http://schemas.openxmlformats.org/officeDocument/2006/relationships/slideLayout" Target="../slideLayouts/slideLayout10.xml"/><Relationship Id="rId4" Type="http://schemas.openxmlformats.org/officeDocument/2006/relationships/hyperlink" Target="http://idir.uta.edu/genesieve" TargetMode="Externa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0.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0.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94" y="1459540"/>
            <a:ext cx="12210587" cy="1918539"/>
          </a:xfrm>
          <a:prstGeom prst="rect">
            <a:avLst/>
          </a:prstGeom>
          <a:noFill/>
        </p:spPr>
        <p:txBody>
          <a:bodyPr wrap="square" rtlCol="0">
            <a:spAutoFit/>
          </a:bodyPr>
          <a:lstStyle/>
          <a:p>
            <a:pPr algn="ctr"/>
            <a:r>
              <a:rPr lang="en-US" altLang="zh-CN" sz="3867" b="1" err="1">
                <a:solidFill>
                  <a:srgbClr val="1B4C9C"/>
                </a:solidFill>
                <a:latin typeface="Arial" panose="020B0604020202020204" pitchFamily="34" charset="0"/>
                <a:ea typeface="Open Sans" panose="020B0606030504020204" pitchFamily="34" charset="0"/>
                <a:cs typeface="Arial" panose="020B0604020202020204" pitchFamily="34" charset="0"/>
              </a:rPr>
              <a:t>GeneSieve</a:t>
            </a:r>
            <a:r>
              <a:rPr lang="en-US" altLang="zh-CN" sz="3867" b="1">
                <a:solidFill>
                  <a:srgbClr val="1B4C9C"/>
                </a:solidFill>
                <a:latin typeface="Arial" panose="020B0604020202020204" pitchFamily="34" charset="0"/>
                <a:ea typeface="Open Sans" panose="020B0606030504020204" pitchFamily="34" charset="0"/>
                <a:cs typeface="Arial" panose="020B0604020202020204" pitchFamily="34" charset="0"/>
              </a:rPr>
              <a:t>: </a:t>
            </a:r>
            <a:r>
              <a:rPr lang="en-US" sz="3867" b="1">
                <a:solidFill>
                  <a:srgbClr val="1B4C9C"/>
                </a:solidFill>
                <a:latin typeface="Arial" panose="020B0604020202020204" pitchFamily="34" charset="0"/>
                <a:ea typeface="Open Sans" panose="020B0606030504020204" pitchFamily="34" charset="0"/>
                <a:cs typeface="Arial" panose="020B0604020202020204" pitchFamily="34" charset="0"/>
              </a:rPr>
              <a:t>A Knowledge Network Interface for Gene Discovery Across Diverse Crop Species</a:t>
            </a:r>
          </a:p>
          <a:p>
            <a:pPr algn="ctr"/>
            <a:endParaRPr lang="en-US" altLang="zh-CN" sz="3867" b="1">
              <a:solidFill>
                <a:srgbClr val="1B4C9C"/>
              </a:solidFill>
              <a:latin typeface="Arial" panose="020B0604020202020204" pitchFamily="34" charset="0"/>
              <a:ea typeface="Open Sans" panose="020B0606030504020204" pitchFamily="34" charset="0"/>
              <a:cs typeface="Arial" panose="020B0604020202020204" pitchFamily="34" charset="0"/>
            </a:endParaRPr>
          </a:p>
        </p:txBody>
      </p:sp>
      <p:sp>
        <p:nvSpPr>
          <p:cNvPr id="6" name="TextBox 5"/>
          <p:cNvSpPr txBox="1"/>
          <p:nvPr/>
        </p:nvSpPr>
        <p:spPr>
          <a:xfrm>
            <a:off x="-9293" y="3445726"/>
            <a:ext cx="12201293" cy="2144498"/>
          </a:xfrm>
          <a:prstGeom prst="rect">
            <a:avLst/>
          </a:prstGeom>
          <a:noFill/>
        </p:spPr>
        <p:txBody>
          <a:bodyPr wrap="square" rtlCol="0">
            <a:spAutoFit/>
          </a:bodyPr>
          <a:lstStyle/>
          <a:p>
            <a:pPr algn="ctr"/>
            <a:r>
              <a:rPr lang="en-US" altLang="zh-CN" sz="2667" dirty="0">
                <a:latin typeface="Arial" panose="020B0604020202020204" pitchFamily="34" charset="0"/>
                <a:ea typeface="Open Sans" panose="020B0606030504020204" pitchFamily="34" charset="0"/>
                <a:cs typeface="Arial" panose="020B0604020202020204" pitchFamily="34" charset="0"/>
              </a:rPr>
              <a:t>M.S. Thesis</a:t>
            </a:r>
            <a:r>
              <a:rPr lang="zh-CN" altLang="en-US" sz="2667" dirty="0">
                <a:latin typeface="Arial" panose="020B0604020202020204" pitchFamily="34" charset="0"/>
                <a:ea typeface="Open Sans" panose="020B0606030504020204" pitchFamily="34" charset="0"/>
                <a:cs typeface="Arial" panose="020B0604020202020204" pitchFamily="34" charset="0"/>
              </a:rPr>
              <a:t> </a:t>
            </a:r>
            <a:r>
              <a:rPr lang="en-US" altLang="zh-CN" sz="2667" dirty="0">
                <a:latin typeface="Arial" panose="020B0604020202020204" pitchFamily="34" charset="0"/>
                <a:ea typeface="Open Sans" panose="020B0606030504020204" pitchFamily="34" charset="0"/>
                <a:cs typeface="Arial" panose="020B0604020202020204" pitchFamily="34" charset="0"/>
              </a:rPr>
              <a:t>Defense – Pranav Pujar</a:t>
            </a:r>
          </a:p>
          <a:p>
            <a:pPr algn="ctr"/>
            <a:endParaRPr lang="en-US" altLang="zh-CN" sz="2667" b="1" dirty="0">
              <a:latin typeface="Arial" panose="020B0604020202020204" pitchFamily="34" charset="0"/>
              <a:ea typeface="Open Sans" panose="020B0606030504020204" pitchFamily="34" charset="0"/>
              <a:cs typeface="Arial" panose="020B0604020202020204" pitchFamily="34" charset="0"/>
            </a:endParaRPr>
          </a:p>
          <a:p>
            <a:pPr algn="ctr"/>
            <a:r>
              <a:rPr lang="en-US" altLang="zh-CN" sz="2667" dirty="0">
                <a:latin typeface="Arial" panose="020B0604020202020204" pitchFamily="34" charset="0"/>
                <a:ea typeface="Open Sans" panose="020B0606030504020204" pitchFamily="34" charset="0"/>
                <a:cs typeface="Arial" panose="020B0604020202020204" pitchFamily="34" charset="0"/>
              </a:rPr>
              <a:t>Advisor:</a:t>
            </a:r>
            <a:r>
              <a:rPr lang="zh-CN" altLang="en-US" sz="2667" dirty="0">
                <a:latin typeface="Arial" panose="020B0604020202020204" pitchFamily="34" charset="0"/>
                <a:ea typeface="Open Sans" panose="020B0606030504020204" pitchFamily="34" charset="0"/>
                <a:cs typeface="Arial" panose="020B0604020202020204" pitchFamily="34" charset="0"/>
              </a:rPr>
              <a:t> </a:t>
            </a:r>
            <a:r>
              <a:rPr lang="en-US" altLang="zh-CN" sz="2667" dirty="0">
                <a:latin typeface="Arial" panose="020B0604020202020204" pitchFamily="34" charset="0"/>
                <a:ea typeface="Open Sans" panose="020B0606030504020204" pitchFamily="34" charset="0"/>
                <a:cs typeface="Arial" panose="020B0604020202020204" pitchFamily="34" charset="0"/>
              </a:rPr>
              <a:t>Dr.</a:t>
            </a:r>
            <a:r>
              <a:rPr lang="zh-CN" altLang="en-US" sz="2667" dirty="0">
                <a:latin typeface="Arial" panose="020B0604020202020204" pitchFamily="34" charset="0"/>
                <a:ea typeface="Open Sans" panose="020B0606030504020204" pitchFamily="34" charset="0"/>
                <a:cs typeface="Arial" panose="020B0604020202020204" pitchFamily="34" charset="0"/>
              </a:rPr>
              <a:t> </a:t>
            </a:r>
            <a:r>
              <a:rPr lang="en-US" altLang="zh-CN" sz="2667" dirty="0" err="1">
                <a:latin typeface="Arial" panose="020B0604020202020204" pitchFamily="34" charset="0"/>
                <a:ea typeface="Open Sans" panose="020B0606030504020204" pitchFamily="34" charset="0"/>
                <a:cs typeface="Arial" panose="020B0604020202020204" pitchFamily="34" charset="0"/>
              </a:rPr>
              <a:t>Chengkai</a:t>
            </a:r>
            <a:r>
              <a:rPr lang="zh-CN" altLang="en-US" sz="2667" dirty="0">
                <a:latin typeface="Arial" panose="020B0604020202020204" pitchFamily="34" charset="0"/>
                <a:ea typeface="Open Sans" panose="020B0606030504020204" pitchFamily="34" charset="0"/>
                <a:cs typeface="Arial" panose="020B0604020202020204" pitchFamily="34" charset="0"/>
              </a:rPr>
              <a:t> </a:t>
            </a:r>
            <a:r>
              <a:rPr lang="en-US" altLang="zh-CN" sz="2667" dirty="0">
                <a:latin typeface="Arial" panose="020B0604020202020204" pitchFamily="34" charset="0"/>
                <a:ea typeface="Open Sans" panose="020B0606030504020204" pitchFamily="34" charset="0"/>
                <a:cs typeface="Arial" panose="020B0604020202020204" pitchFamily="34" charset="0"/>
              </a:rPr>
              <a:t>Li</a:t>
            </a:r>
          </a:p>
          <a:p>
            <a:pPr algn="ctr"/>
            <a:endParaRPr lang="en-US" altLang="zh-CN" sz="2667" b="1" dirty="0">
              <a:latin typeface="Arial" panose="020B0604020202020204" pitchFamily="34" charset="0"/>
              <a:ea typeface="Open Sans" panose="020B0606030504020204" pitchFamily="34" charset="0"/>
              <a:cs typeface="Arial" panose="020B0604020202020204" pitchFamily="34" charset="0"/>
            </a:endParaRPr>
          </a:p>
          <a:p>
            <a:pPr algn="ctr"/>
            <a:r>
              <a:rPr lang="en-US" altLang="zh-CN" sz="2667" dirty="0">
                <a:latin typeface="Arial" panose="020B0604020202020204" pitchFamily="34" charset="0"/>
                <a:ea typeface="Open Sans" panose="020B0606030504020204" pitchFamily="34" charset="0"/>
                <a:cs typeface="Arial" panose="020B0604020202020204" pitchFamily="34" charset="0"/>
              </a:rPr>
              <a:t>Committee</a:t>
            </a:r>
            <a:r>
              <a:rPr lang="zh-CN" altLang="en-US" sz="2667" dirty="0">
                <a:latin typeface="Arial" panose="020B0604020202020204" pitchFamily="34" charset="0"/>
                <a:ea typeface="Open Sans" panose="020B0606030504020204" pitchFamily="34" charset="0"/>
                <a:cs typeface="Arial" panose="020B0604020202020204" pitchFamily="34" charset="0"/>
              </a:rPr>
              <a:t> </a:t>
            </a:r>
            <a:r>
              <a:rPr lang="en-US" altLang="zh-CN" sz="2667" dirty="0">
                <a:latin typeface="Arial" panose="020B0604020202020204" pitchFamily="34" charset="0"/>
                <a:ea typeface="Open Sans" panose="020B0606030504020204" pitchFamily="34" charset="0"/>
                <a:cs typeface="Arial" panose="020B0604020202020204" pitchFamily="34" charset="0"/>
              </a:rPr>
              <a:t>Members</a:t>
            </a:r>
            <a:r>
              <a:rPr lang="en-US" altLang="zh-CN" sz="2667" dirty="0">
                <a:solidFill>
                  <a:srgbClr val="242424"/>
                </a:solidFill>
                <a:latin typeface="Arial" panose="020B0604020202020204" pitchFamily="34" charset="0"/>
                <a:ea typeface="Open Sans" panose="020B0606030504020204" pitchFamily="34" charset="0"/>
                <a:cs typeface="Arial" panose="020B0604020202020204" pitchFamily="34" charset="0"/>
              </a:rPr>
              <a:t>: </a:t>
            </a:r>
            <a:r>
              <a:rPr lang="en-US" sz="2667" dirty="0">
                <a:solidFill>
                  <a:srgbClr val="000000"/>
                </a:solidFill>
                <a:latin typeface="Arial" panose="020B0604020202020204" pitchFamily="34" charset="0"/>
                <a:cs typeface="Arial" panose="020B0604020202020204" pitchFamily="34" charset="0"/>
              </a:rPr>
              <a:t>Dr. Gautam Das, </a:t>
            </a:r>
            <a:r>
              <a:rPr lang="en-US" altLang="zh-CN" sz="2667" dirty="0">
                <a:solidFill>
                  <a:srgbClr val="000000"/>
                </a:solidFill>
                <a:latin typeface="Arial" panose="020B0604020202020204" pitchFamily="34" charset="0"/>
                <a:cs typeface="Arial" panose="020B0604020202020204" pitchFamily="34" charset="0"/>
              </a:rPr>
              <a:t>Dr. Negin </a:t>
            </a:r>
            <a:r>
              <a:rPr lang="en-US" altLang="zh-CN" sz="2667" dirty="0" err="1">
                <a:solidFill>
                  <a:srgbClr val="000000"/>
                </a:solidFill>
                <a:latin typeface="Arial" panose="020B0604020202020204" pitchFamily="34" charset="0"/>
                <a:cs typeface="Arial" panose="020B0604020202020204" pitchFamily="34" charset="0"/>
              </a:rPr>
              <a:t>Fraidouni</a:t>
            </a:r>
            <a:r>
              <a:rPr lang="en-US" altLang="zh-CN" sz="2667" dirty="0">
                <a:solidFill>
                  <a:srgbClr val="000000"/>
                </a:solidFill>
                <a:latin typeface="Arial" panose="020B0604020202020204" pitchFamily="34" charset="0"/>
                <a:cs typeface="Arial" panose="020B0604020202020204" pitchFamily="34" charset="0"/>
              </a:rPr>
              <a:t> </a:t>
            </a:r>
            <a:endParaRPr lang="en-US" altLang="zh-CN" sz="2667" dirty="0">
              <a:latin typeface="Arial" panose="020B0604020202020204" pitchFamily="34" charset="0"/>
              <a:ea typeface="Open Sans" panose="020B0606030504020204" pitchFamily="34" charset="0"/>
              <a:cs typeface="Arial" panose="020B0604020202020204" pitchFamily="34" charset="0"/>
            </a:endParaRPr>
          </a:p>
        </p:txBody>
      </p:sp>
      <p:cxnSp>
        <p:nvCxnSpPr>
          <p:cNvPr id="8" name="Straight Connector 7"/>
          <p:cNvCxnSpPr/>
          <p:nvPr/>
        </p:nvCxnSpPr>
        <p:spPr>
          <a:xfrm>
            <a:off x="2838024" y="2903152"/>
            <a:ext cx="6515952"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32917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3306-06D1-A17C-DFEF-2318C848D7D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025F72-0481-089D-6121-56E88EBC8596}"/>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2</a:t>
            </a:fld>
            <a:endParaRPr lang="en-US">
              <a:solidFill>
                <a:srgbClr val="000000"/>
              </a:solidFill>
              <a:latin typeface="Segoe UI"/>
            </a:endParaRPr>
          </a:p>
        </p:txBody>
      </p:sp>
      <p:sp>
        <p:nvSpPr>
          <p:cNvPr id="8" name="!!1">
            <a:extLst>
              <a:ext uri="{FF2B5EF4-FFF2-40B4-BE49-F238E27FC236}">
                <a16:creationId xmlns:a16="http://schemas.microsoft.com/office/drawing/2014/main" id="{87773409-2409-2E3C-9DEC-9186BA9F9630}"/>
              </a:ext>
            </a:extLst>
          </p:cNvPr>
          <p:cNvSpPr/>
          <p:nvPr/>
        </p:nvSpPr>
        <p:spPr bwMode="auto">
          <a:xfrm>
            <a:off x="-422783" y="159208"/>
            <a:ext cx="8266030"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Helvetica"/>
                <a:ea typeface="Segoe UI" pitchFamily="34" charset="0"/>
                <a:cs typeface="Arial"/>
              </a:rPr>
              <a:t>Thesis Project Background</a:t>
            </a:r>
            <a:endParaRPr lang="en-US" altLang="zh-CN" sz="4000" b="1">
              <a:solidFill>
                <a:srgbClr val="1B4C9C"/>
              </a:solidFill>
              <a:latin typeface="Helvetica" pitchFamily="2" charset="0"/>
              <a:ea typeface="Segoe UI" pitchFamily="34" charset="0"/>
              <a:cs typeface="Arial" panose="020B0604020202020204" pitchFamily="34" charset="0"/>
            </a:endParaRPr>
          </a:p>
        </p:txBody>
      </p:sp>
      <p:sp>
        <p:nvSpPr>
          <p:cNvPr id="7" name="Rounded Rectangle 6">
            <a:extLst>
              <a:ext uri="{FF2B5EF4-FFF2-40B4-BE49-F238E27FC236}">
                <a16:creationId xmlns:a16="http://schemas.microsoft.com/office/drawing/2014/main" id="{BB9465D1-1576-8387-2A31-13052207D476}"/>
              </a:ext>
            </a:extLst>
          </p:cNvPr>
          <p:cNvSpPr/>
          <p:nvPr/>
        </p:nvSpPr>
        <p:spPr bwMode="auto">
          <a:xfrm>
            <a:off x="427418" y="1208048"/>
            <a:ext cx="11337164" cy="4774112"/>
          </a:xfrm>
          <a:prstGeom prst="roundRect">
            <a:avLst>
              <a:gd name="adj" fmla="val 6592"/>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t" anchorCtr="0" forceAA="0" compatLnSpc="1">
            <a:prstTxWarp prst="textNoShape">
              <a:avLst/>
            </a:prstTxWarp>
            <a:noAutofit/>
          </a:bodyPr>
          <a:lstStyle/>
          <a:p>
            <a:pPr marL="1066165" lvl="1" indent="-456565">
              <a:lnSpc>
                <a:spcPct val="150000"/>
              </a:lnSpc>
              <a:buFont typeface="Arial" panose="020B0604020202020204" pitchFamily="34" charset="0"/>
              <a:buChar char="•"/>
            </a:pPr>
            <a:r>
              <a:rPr lang="en-US" sz="3200" dirty="0">
                <a:solidFill>
                  <a:schemeClr val="tx1"/>
                </a:solidFill>
                <a:latin typeface="Arial"/>
                <a:cs typeface="Arial"/>
              </a:rPr>
              <a:t>Started in Summer 2022</a:t>
            </a:r>
            <a:endParaRPr lang="en-US" dirty="0"/>
          </a:p>
          <a:p>
            <a:pPr marL="1066165" lvl="1" indent="-456565">
              <a:lnSpc>
                <a:spcPct val="150000"/>
              </a:lnSpc>
              <a:buFont typeface="Arial" panose="020B0604020202020204" pitchFamily="34" charset="0"/>
              <a:buChar char="•"/>
            </a:pPr>
            <a:r>
              <a:rPr lang="en-US" sz="3200" dirty="0">
                <a:solidFill>
                  <a:schemeClr val="tx1"/>
                </a:solidFill>
                <a:latin typeface="Arial"/>
                <a:cs typeface="Arial"/>
              </a:rPr>
              <a:t>USDA-UTA collaborative internship project</a:t>
            </a:r>
            <a:endParaRPr lang="en-US" sz="3200" dirty="0">
              <a:solidFill>
                <a:schemeClr val="tx1"/>
              </a:solidFill>
              <a:latin typeface="Arial" panose="020B0604020202020204" pitchFamily="34" charset="0"/>
              <a:cs typeface="Arial" panose="020B0604020202020204" pitchFamily="34" charset="0"/>
            </a:endParaRPr>
          </a:p>
          <a:p>
            <a:pPr marL="1066165" lvl="1" indent="-456565">
              <a:lnSpc>
                <a:spcPct val="150000"/>
              </a:lnSpc>
              <a:buFont typeface="Arial" panose="020B0604020202020204" pitchFamily="34" charset="0"/>
              <a:buChar char="•"/>
            </a:pPr>
            <a:r>
              <a:rPr lang="en-US" sz="3200" dirty="0">
                <a:solidFill>
                  <a:schemeClr val="tx1"/>
                </a:solidFill>
                <a:latin typeface="Arial"/>
                <a:cs typeface="Arial"/>
              </a:rPr>
              <a:t>Previous work done: web interface, database creation, preliminary modeling</a:t>
            </a:r>
          </a:p>
          <a:p>
            <a:pPr marL="1066165" lvl="1" indent="-456565">
              <a:lnSpc>
                <a:spcPct val="150000"/>
              </a:lnSpc>
              <a:buFont typeface="Arial" panose="020B0604020202020204" pitchFamily="34" charset="0"/>
              <a:buChar char="•"/>
            </a:pPr>
            <a:r>
              <a:rPr lang="en-US" sz="3200" dirty="0">
                <a:solidFill>
                  <a:schemeClr val="tx1"/>
                </a:solidFill>
                <a:latin typeface="Arial"/>
                <a:cs typeface="Arial"/>
              </a:rPr>
              <a:t>My contribution: gene ranking model, trait similarity model, web interface enhancement and maintenance.</a:t>
            </a:r>
          </a:p>
        </p:txBody>
      </p:sp>
    </p:spTree>
    <p:extLst>
      <p:ext uri="{BB962C8B-B14F-4D97-AF65-F5344CB8AC3E}">
        <p14:creationId xmlns:p14="http://schemas.microsoft.com/office/powerpoint/2010/main" val="3282715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EF744-E04A-F6BD-A1C8-05A5BA4D6F7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1034F8-3DF5-323B-A58D-EF4AEB617CA0}"/>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3</a:t>
            </a:fld>
            <a:endParaRPr lang="en-US">
              <a:solidFill>
                <a:srgbClr val="000000"/>
              </a:solidFill>
              <a:latin typeface="Segoe UI"/>
            </a:endParaRPr>
          </a:p>
        </p:txBody>
      </p:sp>
      <p:sp>
        <p:nvSpPr>
          <p:cNvPr id="5" name="Rounded Rectangle 9">
            <a:extLst>
              <a:ext uri="{FF2B5EF4-FFF2-40B4-BE49-F238E27FC236}">
                <a16:creationId xmlns:a16="http://schemas.microsoft.com/office/drawing/2014/main" id="{8F7D2FE2-93A1-3705-CE45-88E49FD750C5}"/>
              </a:ext>
            </a:extLst>
          </p:cNvPr>
          <p:cNvSpPr/>
          <p:nvPr/>
        </p:nvSpPr>
        <p:spPr bwMode="auto">
          <a:xfrm>
            <a:off x="871976" y="1261212"/>
            <a:ext cx="3268015" cy="617419"/>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a:spcBef>
                <a:spcPct val="0"/>
              </a:spcBef>
              <a:spcAft>
                <a:spcPct val="0"/>
              </a:spcAft>
            </a:pPr>
            <a:r>
              <a:rPr lang="en-US" altLang="zh-CN" sz="2800" b="1" dirty="0">
                <a:solidFill>
                  <a:srgbClr val="1B4C9C"/>
                </a:solidFill>
                <a:latin typeface="Arial"/>
                <a:cs typeface="Arial"/>
              </a:rPr>
              <a:t>Dr. Justin Vaughn</a:t>
            </a:r>
          </a:p>
        </p:txBody>
      </p:sp>
      <p:sp>
        <p:nvSpPr>
          <p:cNvPr id="14" name="!!1">
            <a:extLst>
              <a:ext uri="{FF2B5EF4-FFF2-40B4-BE49-F238E27FC236}">
                <a16:creationId xmlns:a16="http://schemas.microsoft.com/office/drawing/2014/main" id="{61E9C26B-F77D-AF65-3F97-432C24DEA3E2}"/>
              </a:ext>
            </a:extLst>
          </p:cNvPr>
          <p:cNvSpPr/>
          <p:nvPr/>
        </p:nvSpPr>
        <p:spPr bwMode="auto">
          <a:xfrm>
            <a:off x="4507805" y="2078459"/>
            <a:ext cx="6715144" cy="682734"/>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a:spcBef>
                <a:spcPct val="0"/>
              </a:spcBef>
              <a:spcAft>
                <a:spcPct val="0"/>
              </a:spcAft>
            </a:pPr>
            <a:r>
              <a:rPr lang="en-US" sz="2800" b="1" dirty="0">
                <a:solidFill>
                  <a:srgbClr val="1B4C9C"/>
                </a:solidFill>
                <a:latin typeface="Arial"/>
                <a:ea typeface="Open Sans"/>
                <a:cs typeface="Arial"/>
              </a:rPr>
              <a:t>Scientist in Residence, </a:t>
            </a:r>
            <a:r>
              <a:rPr lang="en-US" sz="2800" b="1" dirty="0" err="1">
                <a:solidFill>
                  <a:srgbClr val="1B4C9C"/>
                </a:solidFill>
                <a:latin typeface="Arial"/>
                <a:ea typeface="Open Sans"/>
                <a:cs typeface="Arial"/>
              </a:rPr>
              <a:t>HudsonAlpha</a:t>
            </a:r>
            <a:endParaRPr lang="en-US" sz="1300" dirty="0">
              <a:solidFill>
                <a:srgbClr val="606C71"/>
              </a:solidFill>
              <a:latin typeface="Open Sans"/>
              <a:ea typeface="Open Sans"/>
              <a:cs typeface="Open Sans"/>
            </a:endParaRPr>
          </a:p>
        </p:txBody>
      </p:sp>
      <p:sp>
        <p:nvSpPr>
          <p:cNvPr id="16" name="!!3">
            <a:extLst>
              <a:ext uri="{FF2B5EF4-FFF2-40B4-BE49-F238E27FC236}">
                <a16:creationId xmlns:a16="http://schemas.microsoft.com/office/drawing/2014/main" id="{DE498E4E-C83E-AE8B-E02A-1B3E27A5A0A5}"/>
              </a:ext>
            </a:extLst>
          </p:cNvPr>
          <p:cNvSpPr/>
          <p:nvPr/>
        </p:nvSpPr>
        <p:spPr bwMode="auto">
          <a:xfrm>
            <a:off x="4507804" y="4270114"/>
            <a:ext cx="6715142" cy="682734"/>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b="1">
                <a:solidFill>
                  <a:srgbClr val="1B4C9C"/>
                </a:solidFill>
                <a:latin typeface="Arial"/>
                <a:ea typeface="Segoe UI" pitchFamily="34" charset="0"/>
                <a:cs typeface="Arial"/>
              </a:rPr>
              <a:t>Plant Genomics Expert for </a:t>
            </a:r>
            <a:r>
              <a:rPr lang="en-US" altLang="zh-CN" sz="2800" b="1" err="1">
                <a:solidFill>
                  <a:srgbClr val="1B4C9C"/>
                </a:solidFill>
                <a:latin typeface="Arial"/>
                <a:ea typeface="Segoe UI" pitchFamily="34" charset="0"/>
                <a:cs typeface="Arial"/>
              </a:rPr>
              <a:t>GeneSieve</a:t>
            </a:r>
          </a:p>
        </p:txBody>
      </p:sp>
      <p:pic>
        <p:nvPicPr>
          <p:cNvPr id="3" name="Picture 2" descr="A person wearing glasses and smiling&#10;&#10;AI-generated content may be incorrect.">
            <a:extLst>
              <a:ext uri="{FF2B5EF4-FFF2-40B4-BE49-F238E27FC236}">
                <a16:creationId xmlns:a16="http://schemas.microsoft.com/office/drawing/2014/main" id="{BA9A5D71-AF53-BA8C-3845-8C06A264A543}"/>
              </a:ext>
            </a:extLst>
          </p:cNvPr>
          <p:cNvPicPr>
            <a:picLocks noChangeAspect="1"/>
          </p:cNvPicPr>
          <p:nvPr/>
        </p:nvPicPr>
        <p:blipFill>
          <a:blip r:embed="rId3"/>
          <a:stretch>
            <a:fillRect/>
          </a:stretch>
        </p:blipFill>
        <p:spPr>
          <a:xfrm>
            <a:off x="871817" y="2075098"/>
            <a:ext cx="3261983" cy="3276498"/>
          </a:xfrm>
          <a:prstGeom prst="rect">
            <a:avLst/>
          </a:prstGeom>
        </p:spPr>
      </p:pic>
      <p:sp>
        <p:nvSpPr>
          <p:cNvPr id="6" name="!!2">
            <a:extLst>
              <a:ext uri="{FF2B5EF4-FFF2-40B4-BE49-F238E27FC236}">
                <a16:creationId xmlns:a16="http://schemas.microsoft.com/office/drawing/2014/main" id="{07D220F5-D2A5-6300-9866-CC8B8F1F2864}"/>
              </a:ext>
            </a:extLst>
          </p:cNvPr>
          <p:cNvSpPr/>
          <p:nvPr/>
        </p:nvSpPr>
        <p:spPr bwMode="auto">
          <a:xfrm>
            <a:off x="4507804" y="3167030"/>
            <a:ext cx="3609087" cy="682734"/>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a:spcBef>
                <a:spcPct val="0"/>
              </a:spcBef>
              <a:spcAft>
                <a:spcPct val="0"/>
              </a:spcAft>
            </a:pPr>
            <a:r>
              <a:rPr lang="en-US" sz="2800" b="1" dirty="0">
                <a:solidFill>
                  <a:srgbClr val="1B4C9C"/>
                </a:solidFill>
                <a:latin typeface="Arial"/>
                <a:ea typeface="Open Sans"/>
                <a:cs typeface="Arial"/>
              </a:rPr>
              <a:t>Prev. @ USDA-ARS</a:t>
            </a:r>
          </a:p>
        </p:txBody>
      </p:sp>
    </p:spTree>
    <p:extLst>
      <p:ext uri="{BB962C8B-B14F-4D97-AF65-F5344CB8AC3E}">
        <p14:creationId xmlns:p14="http://schemas.microsoft.com/office/powerpoint/2010/main" val="7808652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2">
            <a:extLst>
              <a:ext uri="{FF2B5EF4-FFF2-40B4-BE49-F238E27FC236}">
                <a16:creationId xmlns:a16="http://schemas.microsoft.com/office/drawing/2014/main" id="{D8682586-D9FE-B741-BCE9-ABA51D4CC234}"/>
              </a:ext>
            </a:extLst>
          </p:cNvPr>
          <p:cNvSpPr>
            <a:spLocks noGrp="1"/>
          </p:cNvSpPr>
          <p:nvPr>
            <p:ph type="title"/>
          </p:nvPr>
        </p:nvSpPr>
        <p:spPr>
          <a:xfrm>
            <a:off x="217117" y="69643"/>
            <a:ext cx="10571968" cy="963668"/>
          </a:xfrm>
        </p:spPr>
        <p:txBody>
          <a:bodyPr vert="horz" wrap="square" lIns="121920" tIns="60960" rIns="121920" bIns="60960" rtlCol="0" anchor="ctr" anchorCtr="0">
            <a:normAutofit/>
          </a:bodyPr>
          <a:lstStyle/>
          <a:p>
            <a:r>
              <a:rPr lang="en-US" altLang="zh-CN" sz="4000">
                <a:latin typeface="Helvetica"/>
                <a:ea typeface="Open Sans"/>
                <a:cs typeface="Open Sans"/>
              </a:rPr>
              <a:t>Outline</a:t>
            </a:r>
            <a:endParaRPr lang="en-US" sz="4000">
              <a:latin typeface="Open Sans" panose="020B0606030504020204" pitchFamily="34" charset="0"/>
            </a:endParaRPr>
          </a:p>
        </p:txBody>
      </p:sp>
      <p:sp>
        <p:nvSpPr>
          <p:cNvPr id="4" name="Slide Number Placeholder 3">
            <a:extLst>
              <a:ext uri="{FF2B5EF4-FFF2-40B4-BE49-F238E27FC236}">
                <a16:creationId xmlns:a16="http://schemas.microsoft.com/office/drawing/2014/main" id="{52E36876-A182-2147-91AA-69A7E9BD9E9B}"/>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4</a:t>
            </a:fld>
            <a:endParaRPr lang="en-US">
              <a:solidFill>
                <a:srgbClr val="000000"/>
              </a:solidFill>
              <a:latin typeface="Segoe UI"/>
            </a:endParaRPr>
          </a:p>
        </p:txBody>
      </p:sp>
      <p:sp>
        <p:nvSpPr>
          <p:cNvPr id="8" name="!!1">
            <a:extLst>
              <a:ext uri="{FF2B5EF4-FFF2-40B4-BE49-F238E27FC236}">
                <a16:creationId xmlns:a16="http://schemas.microsoft.com/office/drawing/2014/main" id="{E1DC9713-941C-B5BC-61F3-2089D0E89394}"/>
              </a:ext>
            </a:extLst>
          </p:cNvPr>
          <p:cNvSpPr/>
          <p:nvPr/>
        </p:nvSpPr>
        <p:spPr bwMode="auto">
          <a:xfrm>
            <a:off x="342205" y="1381773"/>
            <a:ext cx="5394344"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solidFill>
                <a:latin typeface="Arial" panose="020B0604020202020204" pitchFamily="34" charset="0"/>
                <a:cs typeface="Arial" panose="020B0604020202020204" pitchFamily="34" charset="0"/>
              </a:rPr>
              <a:t>1. Self-Introduction</a:t>
            </a:r>
            <a:endParaRPr lang="en-US" sz="2800" spc="-67">
              <a:solidFill>
                <a:srgbClr val="1B4C9C"/>
              </a:solidFill>
              <a:latin typeface="Arial" panose="020B0604020202020204" pitchFamily="34" charset="0"/>
              <a:ea typeface="Segoe UI" pitchFamily="34" charset="0"/>
              <a:cs typeface="Arial" panose="020B0604020202020204" pitchFamily="34" charset="0"/>
            </a:endParaRPr>
          </a:p>
        </p:txBody>
      </p:sp>
      <p:sp>
        <p:nvSpPr>
          <p:cNvPr id="9" name="Rounded Rectangle 8">
            <a:extLst>
              <a:ext uri="{FF2B5EF4-FFF2-40B4-BE49-F238E27FC236}">
                <a16:creationId xmlns:a16="http://schemas.microsoft.com/office/drawing/2014/main" id="{0C1A4F5E-1F1A-D0DF-2BBE-4775C52ED99B}"/>
              </a:ext>
            </a:extLst>
          </p:cNvPr>
          <p:cNvSpPr/>
          <p:nvPr/>
        </p:nvSpPr>
        <p:spPr bwMode="auto">
          <a:xfrm>
            <a:off x="342204" y="2576978"/>
            <a:ext cx="5394345"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solidFill>
                <a:latin typeface="Arial" panose="020B0604020202020204" pitchFamily="34" charset="0"/>
                <a:cs typeface="Arial" panose="020B0604020202020204" pitchFamily="34" charset="0"/>
              </a:rPr>
              <a:t>2. </a:t>
            </a:r>
            <a:r>
              <a:rPr lang="en-US" altLang="zh-CN" sz="2800" err="1">
                <a:solidFill>
                  <a:srgbClr val="1B4C9C"/>
                </a:solidFill>
                <a:latin typeface="Arial" panose="020B0604020202020204" pitchFamily="34" charset="0"/>
                <a:cs typeface="Arial" panose="020B0604020202020204" pitchFamily="34" charset="0"/>
              </a:rPr>
              <a:t>GeneSieve</a:t>
            </a:r>
            <a:r>
              <a:rPr lang="en-US" altLang="zh-CN" sz="2800">
                <a:solidFill>
                  <a:srgbClr val="1B4C9C"/>
                </a:solidFill>
                <a:latin typeface="Arial" panose="020B0604020202020204" pitchFamily="34" charset="0"/>
                <a:cs typeface="Arial" panose="020B0604020202020204" pitchFamily="34" charset="0"/>
              </a:rPr>
              <a:t> Overview</a:t>
            </a:r>
            <a:endParaRPr lang="en-US" sz="2800" spc="-67">
              <a:solidFill>
                <a:srgbClr val="1B4C9C"/>
              </a:solidFill>
              <a:latin typeface="Arial" panose="020B0604020202020204" pitchFamily="34" charset="0"/>
              <a:ea typeface="Segoe UI" pitchFamily="34" charset="0"/>
              <a:cs typeface="Arial" panose="020B0604020202020204" pitchFamily="34" charset="0"/>
            </a:endParaRPr>
          </a:p>
        </p:txBody>
      </p:sp>
      <p:sp>
        <p:nvSpPr>
          <p:cNvPr id="10" name="Rounded Rectangle 9">
            <a:extLst>
              <a:ext uri="{FF2B5EF4-FFF2-40B4-BE49-F238E27FC236}">
                <a16:creationId xmlns:a16="http://schemas.microsoft.com/office/drawing/2014/main" id="{39B4D243-8C01-D6C3-8870-A353973466FA}"/>
              </a:ext>
            </a:extLst>
          </p:cNvPr>
          <p:cNvSpPr/>
          <p:nvPr/>
        </p:nvSpPr>
        <p:spPr bwMode="auto">
          <a:xfrm>
            <a:off x="342205" y="3772184"/>
            <a:ext cx="5394356"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solidFill>
                <a:latin typeface="Arial" panose="020B0604020202020204" pitchFamily="34" charset="0"/>
                <a:cs typeface="Arial" panose="020B0604020202020204" pitchFamily="34" charset="0"/>
              </a:rPr>
              <a:t>3. Biological Evidence Data</a:t>
            </a:r>
            <a:endParaRPr lang="en-US" sz="2800">
              <a:solidFill>
                <a:srgbClr val="1B4C9C"/>
              </a:solidFill>
              <a:latin typeface="Arial" panose="020B0604020202020204" pitchFamily="34" charset="0"/>
              <a:cs typeface="Arial" panose="020B0604020202020204" pitchFamily="34" charset="0"/>
            </a:endParaRPr>
          </a:p>
        </p:txBody>
      </p:sp>
      <p:sp>
        <p:nvSpPr>
          <p:cNvPr id="11" name="Rounded Rectangle 10">
            <a:extLst>
              <a:ext uri="{FF2B5EF4-FFF2-40B4-BE49-F238E27FC236}">
                <a16:creationId xmlns:a16="http://schemas.microsoft.com/office/drawing/2014/main" id="{D369AE79-81DD-E380-B959-E0112D798312}"/>
              </a:ext>
            </a:extLst>
          </p:cNvPr>
          <p:cNvSpPr/>
          <p:nvPr/>
        </p:nvSpPr>
        <p:spPr bwMode="auto">
          <a:xfrm>
            <a:off x="342213" y="4925510"/>
            <a:ext cx="539435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solidFill>
                <a:latin typeface="Arial" panose="020B0604020202020204" pitchFamily="34" charset="0"/>
                <a:cs typeface="Arial" panose="020B0604020202020204" pitchFamily="34" charset="0"/>
              </a:rPr>
              <a:t>4. Trait-Gene Association Graph</a:t>
            </a:r>
            <a:endParaRPr lang="en-US" sz="2800" spc="-67">
              <a:solidFill>
                <a:srgbClr val="1B4C9C"/>
              </a:solidFill>
              <a:latin typeface="Arial" panose="020B0604020202020204" pitchFamily="34" charset="0"/>
              <a:ea typeface="Segoe UI"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C0C374B9-1A6C-31C2-3251-B703C1F69B4A}"/>
              </a:ext>
            </a:extLst>
          </p:cNvPr>
          <p:cNvSpPr/>
          <p:nvPr/>
        </p:nvSpPr>
        <p:spPr bwMode="auto">
          <a:xfrm>
            <a:off x="6461788" y="2580793"/>
            <a:ext cx="5387997" cy="849648"/>
          </a:xfrm>
          <a:prstGeom prst="roundRect">
            <a:avLst>
              <a:gd name="adj" fmla="val 20246"/>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solidFill>
                <a:latin typeface="Arial" panose="020B0604020202020204" pitchFamily="34" charset="0"/>
                <a:cs typeface="Arial" panose="020B0604020202020204" pitchFamily="34" charset="0"/>
              </a:rPr>
              <a:t>6. Trait Similarity Models</a:t>
            </a:r>
            <a:endParaRPr lang="en-US" sz="2800" spc="-67">
              <a:solidFill>
                <a:srgbClr val="1B4C9C"/>
              </a:solidFill>
              <a:latin typeface="Arial" panose="020B0604020202020204" pitchFamily="34" charset="0"/>
              <a:ea typeface="Segoe UI" pitchFamily="34" charset="0"/>
              <a:cs typeface="Arial" panose="020B0604020202020204" pitchFamily="34" charset="0"/>
            </a:endParaRPr>
          </a:p>
        </p:txBody>
      </p:sp>
      <p:sp>
        <p:nvSpPr>
          <p:cNvPr id="15" name="Rounded Rectangle 14">
            <a:extLst>
              <a:ext uri="{FF2B5EF4-FFF2-40B4-BE49-F238E27FC236}">
                <a16:creationId xmlns:a16="http://schemas.microsoft.com/office/drawing/2014/main" id="{1B8CD442-52F9-C0BE-9C20-2909225851E0}"/>
              </a:ext>
            </a:extLst>
          </p:cNvPr>
          <p:cNvSpPr/>
          <p:nvPr/>
        </p:nvSpPr>
        <p:spPr bwMode="auto">
          <a:xfrm>
            <a:off x="6461788" y="3772184"/>
            <a:ext cx="5387995"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solidFill>
                <a:latin typeface="Arial" panose="020B0604020202020204" pitchFamily="34" charset="0"/>
                <a:cs typeface="Arial" panose="020B0604020202020204" pitchFamily="34" charset="0"/>
              </a:rPr>
              <a:t>7. Website Live Demo</a:t>
            </a:r>
            <a:endParaRPr lang="en-US" sz="2800" spc="-67">
              <a:solidFill>
                <a:srgbClr val="1B4C9C"/>
              </a:solidFill>
              <a:latin typeface="Arial" panose="020B0604020202020204" pitchFamily="34" charset="0"/>
              <a:ea typeface="Segoe UI" pitchFamily="34" charset="0"/>
              <a:cs typeface="Arial" panose="020B0604020202020204" pitchFamily="34" charset="0"/>
            </a:endParaRPr>
          </a:p>
        </p:txBody>
      </p:sp>
      <p:sp>
        <p:nvSpPr>
          <p:cNvPr id="16" name="Rounded Rectangle 15">
            <a:extLst>
              <a:ext uri="{FF2B5EF4-FFF2-40B4-BE49-F238E27FC236}">
                <a16:creationId xmlns:a16="http://schemas.microsoft.com/office/drawing/2014/main" id="{005CABDF-F02E-9E86-B828-E37C429AB83B}"/>
              </a:ext>
            </a:extLst>
          </p:cNvPr>
          <p:cNvSpPr/>
          <p:nvPr/>
        </p:nvSpPr>
        <p:spPr bwMode="auto">
          <a:xfrm>
            <a:off x="6461788" y="4925510"/>
            <a:ext cx="538798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solidFill>
                <a:latin typeface="Arial" panose="020B0604020202020204" pitchFamily="34" charset="0"/>
                <a:cs typeface="Arial" panose="020B0604020202020204" pitchFamily="34" charset="0"/>
              </a:rPr>
              <a:t>8. Conclusion</a:t>
            </a:r>
            <a:endParaRPr lang="en-US" sz="2800" spc="-67">
              <a:solidFill>
                <a:srgbClr val="1B4C9C"/>
              </a:solidFill>
              <a:latin typeface="Arial" panose="020B0604020202020204" pitchFamily="34" charset="0"/>
              <a:ea typeface="Segoe UI" pitchFamily="34" charset="0"/>
              <a:cs typeface="Arial" panose="020B0604020202020204" pitchFamily="34" charset="0"/>
            </a:endParaRPr>
          </a:p>
        </p:txBody>
      </p:sp>
      <p:sp>
        <p:nvSpPr>
          <p:cNvPr id="19" name="Rounded Rectangle 18">
            <a:extLst>
              <a:ext uri="{FF2B5EF4-FFF2-40B4-BE49-F238E27FC236}">
                <a16:creationId xmlns:a16="http://schemas.microsoft.com/office/drawing/2014/main" id="{C5AC0194-0214-A7E1-D3B3-4DBC86127B2B}"/>
              </a:ext>
            </a:extLst>
          </p:cNvPr>
          <p:cNvSpPr/>
          <p:nvPr/>
        </p:nvSpPr>
        <p:spPr bwMode="auto">
          <a:xfrm>
            <a:off x="6461789" y="1360440"/>
            <a:ext cx="538800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solidFill>
                <a:latin typeface="Arial" panose="020B0604020202020204" pitchFamily="34" charset="0"/>
                <a:cs typeface="Arial" panose="020B0604020202020204" pitchFamily="34" charset="0"/>
              </a:rPr>
              <a:t>5. Gene Ranking Models</a:t>
            </a:r>
            <a:endParaRPr lang="en-US" sz="2800" spc="-67">
              <a:solidFill>
                <a:srgbClr val="1B4C9C"/>
              </a:solidFill>
              <a:latin typeface="Arial" panose="020B0604020202020204" pitchFamily="34" charset="0"/>
              <a:ea typeface="Segoe UI" pitchFamily="34" charset="0"/>
              <a:cs typeface="Arial" panose="020B0604020202020204" pitchFamily="34" charset="0"/>
            </a:endParaRPr>
          </a:p>
        </p:txBody>
      </p:sp>
      <p:cxnSp>
        <p:nvCxnSpPr>
          <p:cNvPr id="3" name="Straight Connector 2">
            <a:extLst>
              <a:ext uri="{FF2B5EF4-FFF2-40B4-BE49-F238E27FC236}">
                <a16:creationId xmlns:a16="http://schemas.microsoft.com/office/drawing/2014/main" id="{95C388A9-5EAC-ED4F-1516-9563852E90B9}"/>
              </a:ext>
            </a:extLst>
          </p:cNvPr>
          <p:cNvCxnSpPr>
            <a:cxnSpLocks/>
          </p:cNvCxnSpPr>
          <p:nvPr/>
        </p:nvCxnSpPr>
        <p:spPr>
          <a:xfrm>
            <a:off x="6096000" y="1384624"/>
            <a:ext cx="0" cy="4449931"/>
          </a:xfrm>
          <a:prstGeom prst="line">
            <a:avLst/>
          </a:prstGeom>
          <a:ln w="38100">
            <a:solidFill>
              <a:srgbClr val="E7E7E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13147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883E9-8C0A-F8A0-62BC-F23539FCA731}"/>
            </a:ext>
          </a:extLst>
        </p:cNvPr>
        <p:cNvGrpSpPr/>
        <p:nvPr/>
      </p:nvGrpSpPr>
      <p:grpSpPr>
        <a:xfrm>
          <a:off x="0" y="0"/>
          <a:ext cx="0" cy="0"/>
          <a:chOff x="0" y="0"/>
          <a:chExt cx="0" cy="0"/>
        </a:xfrm>
      </p:grpSpPr>
      <p:sp>
        <p:nvSpPr>
          <p:cNvPr id="13" name="Title 2">
            <a:extLst>
              <a:ext uri="{FF2B5EF4-FFF2-40B4-BE49-F238E27FC236}">
                <a16:creationId xmlns:a16="http://schemas.microsoft.com/office/drawing/2014/main" id="{C9F14A2E-9E54-936A-F3EE-54C5E5E9582F}"/>
              </a:ext>
            </a:extLst>
          </p:cNvPr>
          <p:cNvSpPr>
            <a:spLocks noGrp="1"/>
          </p:cNvSpPr>
          <p:nvPr>
            <p:ph type="title"/>
          </p:nvPr>
        </p:nvSpPr>
        <p:spPr>
          <a:xfrm>
            <a:off x="217117" y="69643"/>
            <a:ext cx="10571968" cy="963668"/>
          </a:xfrm>
        </p:spPr>
        <p:txBody>
          <a:bodyPr vert="horz" wrap="square" lIns="121920" tIns="60960" rIns="121920" bIns="60960" rtlCol="0" anchor="ctr" anchorCtr="0">
            <a:normAutofit/>
          </a:bodyPr>
          <a:lstStyle/>
          <a:p>
            <a:r>
              <a:rPr lang="en-US" altLang="zh-CN" sz="4000"/>
              <a:t>Outline</a:t>
            </a:r>
            <a:endParaRPr lang="en-US" sz="4000">
              <a:latin typeface="Open Sans" panose="020B0606030504020204" pitchFamily="34" charset="0"/>
            </a:endParaRPr>
          </a:p>
        </p:txBody>
      </p:sp>
      <p:sp>
        <p:nvSpPr>
          <p:cNvPr id="4" name="Slide Number Placeholder 3">
            <a:extLst>
              <a:ext uri="{FF2B5EF4-FFF2-40B4-BE49-F238E27FC236}">
                <a16:creationId xmlns:a16="http://schemas.microsoft.com/office/drawing/2014/main" id="{8E032EEB-ACD2-9A63-C20E-49F428E75148}"/>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5</a:t>
            </a:fld>
            <a:endParaRPr lang="en-US">
              <a:solidFill>
                <a:srgbClr val="000000"/>
              </a:solidFill>
              <a:latin typeface="Segoe UI"/>
            </a:endParaRPr>
          </a:p>
        </p:txBody>
      </p:sp>
      <p:sp>
        <p:nvSpPr>
          <p:cNvPr id="8" name="!!1">
            <a:extLst>
              <a:ext uri="{FF2B5EF4-FFF2-40B4-BE49-F238E27FC236}">
                <a16:creationId xmlns:a16="http://schemas.microsoft.com/office/drawing/2014/main" id="{7CDEC29B-E921-EB1F-82F6-384808332995}"/>
              </a:ext>
            </a:extLst>
          </p:cNvPr>
          <p:cNvSpPr/>
          <p:nvPr/>
        </p:nvSpPr>
        <p:spPr bwMode="auto">
          <a:xfrm>
            <a:off x="342205" y="1381773"/>
            <a:ext cx="5394344"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b="1">
                <a:solidFill>
                  <a:srgbClr val="1B4C9C"/>
                </a:solidFill>
                <a:latin typeface="Arial" panose="020B0604020202020204" pitchFamily="34" charset="0"/>
                <a:cs typeface="Arial" panose="020B0604020202020204" pitchFamily="34" charset="0"/>
              </a:rPr>
              <a:t>1. Self-Introduction</a:t>
            </a:r>
            <a:endParaRPr lang="en-US" sz="28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10" name="Rounded Rectangle 9">
            <a:extLst>
              <a:ext uri="{FF2B5EF4-FFF2-40B4-BE49-F238E27FC236}">
                <a16:creationId xmlns:a16="http://schemas.microsoft.com/office/drawing/2014/main" id="{852FE853-C48E-42AA-97FF-E230BF98A052}"/>
              </a:ext>
            </a:extLst>
          </p:cNvPr>
          <p:cNvSpPr/>
          <p:nvPr/>
        </p:nvSpPr>
        <p:spPr bwMode="auto">
          <a:xfrm>
            <a:off x="342205" y="3772184"/>
            <a:ext cx="5394356"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3. Biological Evidence Data</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1" name="Rounded Rectangle 10">
            <a:extLst>
              <a:ext uri="{FF2B5EF4-FFF2-40B4-BE49-F238E27FC236}">
                <a16:creationId xmlns:a16="http://schemas.microsoft.com/office/drawing/2014/main" id="{E33E5EB7-B01B-7908-583E-B9EBBEBE600B}"/>
              </a:ext>
            </a:extLst>
          </p:cNvPr>
          <p:cNvSpPr/>
          <p:nvPr/>
        </p:nvSpPr>
        <p:spPr bwMode="auto">
          <a:xfrm>
            <a:off x="342213" y="4925510"/>
            <a:ext cx="539435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4. Trait-Gene Association Graph</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F9221D75-8B3F-948C-ABA0-3A2F253F8C43}"/>
              </a:ext>
            </a:extLst>
          </p:cNvPr>
          <p:cNvSpPr/>
          <p:nvPr/>
        </p:nvSpPr>
        <p:spPr bwMode="auto">
          <a:xfrm>
            <a:off x="6455421" y="1388487"/>
            <a:ext cx="5387997" cy="849648"/>
          </a:xfrm>
          <a:prstGeom prst="roundRect">
            <a:avLst>
              <a:gd name="adj" fmla="val 20246"/>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5. Gene Ranking Models</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5" name="Rounded Rectangle 14">
            <a:extLst>
              <a:ext uri="{FF2B5EF4-FFF2-40B4-BE49-F238E27FC236}">
                <a16:creationId xmlns:a16="http://schemas.microsoft.com/office/drawing/2014/main" id="{D1C489A1-E4D0-643F-F991-EE618893682D}"/>
              </a:ext>
            </a:extLst>
          </p:cNvPr>
          <p:cNvSpPr/>
          <p:nvPr/>
        </p:nvSpPr>
        <p:spPr bwMode="auto">
          <a:xfrm>
            <a:off x="6461788" y="3772184"/>
            <a:ext cx="5387995"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7. Website Live Demo</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6" name="Rounded Rectangle 15">
            <a:extLst>
              <a:ext uri="{FF2B5EF4-FFF2-40B4-BE49-F238E27FC236}">
                <a16:creationId xmlns:a16="http://schemas.microsoft.com/office/drawing/2014/main" id="{1F0C6FF7-8B1E-48BC-0F0A-7A31936D6BC6}"/>
              </a:ext>
            </a:extLst>
          </p:cNvPr>
          <p:cNvSpPr/>
          <p:nvPr/>
        </p:nvSpPr>
        <p:spPr bwMode="auto">
          <a:xfrm>
            <a:off x="6455431" y="4925510"/>
            <a:ext cx="538798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8. Conclusion</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9" name="Rounded Rectangle 18">
            <a:extLst>
              <a:ext uri="{FF2B5EF4-FFF2-40B4-BE49-F238E27FC236}">
                <a16:creationId xmlns:a16="http://schemas.microsoft.com/office/drawing/2014/main" id="{4699EB24-4866-8314-64AD-D9EA532FA2AA}"/>
              </a:ext>
            </a:extLst>
          </p:cNvPr>
          <p:cNvSpPr/>
          <p:nvPr/>
        </p:nvSpPr>
        <p:spPr bwMode="auto">
          <a:xfrm>
            <a:off x="6461788" y="2574074"/>
            <a:ext cx="538800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6. Trait Similarity Models</a:t>
            </a:r>
            <a:endParaRPr lang="en-US" sz="2800">
              <a:solidFill>
                <a:srgbClr val="1B4C9C">
                  <a:alpha val="16000"/>
                </a:srgbClr>
              </a:solidFill>
              <a:latin typeface="Arial" panose="020B0604020202020204" pitchFamily="34" charset="0"/>
              <a:cs typeface="Arial" panose="020B0604020202020204" pitchFamily="34" charset="0"/>
            </a:endParaRPr>
          </a:p>
        </p:txBody>
      </p:sp>
      <p:cxnSp>
        <p:nvCxnSpPr>
          <p:cNvPr id="3" name="Straight Connector 2">
            <a:extLst>
              <a:ext uri="{FF2B5EF4-FFF2-40B4-BE49-F238E27FC236}">
                <a16:creationId xmlns:a16="http://schemas.microsoft.com/office/drawing/2014/main" id="{6B6622E4-8A63-51B1-7B18-194F1F25DA98}"/>
              </a:ext>
            </a:extLst>
          </p:cNvPr>
          <p:cNvCxnSpPr>
            <a:cxnSpLocks/>
          </p:cNvCxnSpPr>
          <p:nvPr/>
        </p:nvCxnSpPr>
        <p:spPr>
          <a:xfrm>
            <a:off x="6096000" y="1384624"/>
            <a:ext cx="0" cy="4449931"/>
          </a:xfrm>
          <a:prstGeom prst="line">
            <a:avLst/>
          </a:prstGeom>
          <a:ln w="38100">
            <a:solidFill>
              <a:srgbClr val="E7E7E7"/>
            </a:solidFill>
          </a:ln>
        </p:spPr>
        <p:style>
          <a:lnRef idx="1">
            <a:schemeClr val="accent1"/>
          </a:lnRef>
          <a:fillRef idx="0">
            <a:schemeClr val="accent1"/>
          </a:fillRef>
          <a:effectRef idx="0">
            <a:schemeClr val="accent1"/>
          </a:effectRef>
          <a:fontRef idx="minor">
            <a:schemeClr val="tx1"/>
          </a:fontRef>
        </p:style>
      </p:cxnSp>
      <p:sp>
        <p:nvSpPr>
          <p:cNvPr id="2" name="Rounded Rectangle 1">
            <a:extLst>
              <a:ext uri="{FF2B5EF4-FFF2-40B4-BE49-F238E27FC236}">
                <a16:creationId xmlns:a16="http://schemas.microsoft.com/office/drawing/2014/main" id="{ABBD936D-5D91-700B-A728-389CA19DBA0D}"/>
              </a:ext>
            </a:extLst>
          </p:cNvPr>
          <p:cNvSpPr/>
          <p:nvPr/>
        </p:nvSpPr>
        <p:spPr bwMode="auto">
          <a:xfrm>
            <a:off x="342204" y="2574074"/>
            <a:ext cx="5394363"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2. </a:t>
            </a:r>
            <a:r>
              <a:rPr lang="en-US" altLang="zh-CN" sz="2800" err="1">
                <a:solidFill>
                  <a:srgbClr val="1B4C9C">
                    <a:alpha val="16000"/>
                  </a:srgbClr>
                </a:solidFill>
                <a:latin typeface="Arial" panose="020B0604020202020204" pitchFamily="34" charset="0"/>
                <a:cs typeface="Arial" panose="020B0604020202020204" pitchFamily="34" charset="0"/>
              </a:rPr>
              <a:t>GeneSieve</a:t>
            </a:r>
            <a:r>
              <a:rPr lang="en-US" altLang="zh-CN" sz="2800">
                <a:solidFill>
                  <a:srgbClr val="1B4C9C">
                    <a:alpha val="16000"/>
                  </a:srgbClr>
                </a:solidFill>
                <a:latin typeface="Arial" panose="020B0604020202020204" pitchFamily="34" charset="0"/>
                <a:cs typeface="Arial" panose="020B0604020202020204" pitchFamily="34" charset="0"/>
              </a:rPr>
              <a:t> Overview</a:t>
            </a:r>
            <a:endParaRPr lang="en-US" sz="2800" spc="-67">
              <a:solidFill>
                <a:srgbClr val="1B4C9C">
                  <a:alpha val="16000"/>
                </a:srgbClr>
              </a:solidFill>
              <a:latin typeface="Arial" panose="020B0604020202020204" pitchFamily="34" charset="0"/>
              <a:ea typeface="Segoe UI" pitchFamily="34" charset="0"/>
              <a:cs typeface="Arial" panose="020B0604020202020204" pitchFamily="34" charset="0"/>
            </a:endParaRPr>
          </a:p>
        </p:txBody>
      </p:sp>
    </p:spTree>
    <p:extLst>
      <p:ext uri="{BB962C8B-B14F-4D97-AF65-F5344CB8AC3E}">
        <p14:creationId xmlns:p14="http://schemas.microsoft.com/office/powerpoint/2010/main" val="16840573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519AE-8E91-1EA9-03BA-BAB4AAEC9E2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CF9DEC-DE08-30C2-CDE2-E55EF07C93D8}"/>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6</a:t>
            </a:fld>
            <a:endParaRPr lang="en-US">
              <a:solidFill>
                <a:srgbClr val="000000"/>
              </a:solidFill>
              <a:latin typeface="Segoe UI"/>
            </a:endParaRPr>
          </a:p>
        </p:txBody>
      </p:sp>
      <p:sp>
        <p:nvSpPr>
          <p:cNvPr id="8" name="!!1">
            <a:extLst>
              <a:ext uri="{FF2B5EF4-FFF2-40B4-BE49-F238E27FC236}">
                <a16:creationId xmlns:a16="http://schemas.microsoft.com/office/drawing/2014/main" id="{3C47F149-8595-F87C-AB69-EA9CFD7D0DC1}"/>
              </a:ext>
            </a:extLst>
          </p:cNvPr>
          <p:cNvSpPr/>
          <p:nvPr/>
        </p:nvSpPr>
        <p:spPr bwMode="auto">
          <a:xfrm>
            <a:off x="-132497" y="159208"/>
            <a:ext cx="4818888"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Helvetica" pitchFamily="2" charset="0"/>
                <a:cs typeface="Arial" panose="020B0604020202020204" pitchFamily="34" charset="0"/>
              </a:rPr>
              <a:t>Self-Introduction</a:t>
            </a:r>
            <a:endParaRPr lang="en-US" sz="4000" b="1" spc="-67">
              <a:solidFill>
                <a:srgbClr val="1B4C9C"/>
              </a:solidFill>
              <a:latin typeface="Helvetica" pitchFamily="2" charset="0"/>
              <a:ea typeface="Segoe UI" pitchFamily="34" charset="0"/>
              <a:cs typeface="Arial" panose="020B0604020202020204" pitchFamily="34" charset="0"/>
            </a:endParaRPr>
          </a:p>
        </p:txBody>
      </p:sp>
      <p:sp>
        <p:nvSpPr>
          <p:cNvPr id="3" name="Rounded Rectangle 2">
            <a:extLst>
              <a:ext uri="{FF2B5EF4-FFF2-40B4-BE49-F238E27FC236}">
                <a16:creationId xmlns:a16="http://schemas.microsoft.com/office/drawing/2014/main" id="{7F849631-5A7B-711D-4CBB-FC64A73F014D}"/>
              </a:ext>
            </a:extLst>
          </p:cNvPr>
          <p:cNvSpPr/>
          <p:nvPr/>
        </p:nvSpPr>
        <p:spPr bwMode="auto">
          <a:xfrm>
            <a:off x="754810" y="1008856"/>
            <a:ext cx="10682383" cy="849649"/>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lvl="1"/>
            <a:r>
              <a:rPr lang="en-US" sz="3200" b="1">
                <a:solidFill>
                  <a:srgbClr val="13409F"/>
                </a:solidFill>
                <a:latin typeface="Arial" panose="020B0604020202020204" pitchFamily="34" charset="0"/>
                <a:cs typeface="Arial" panose="020B0604020202020204" pitchFamily="34" charset="0"/>
              </a:rPr>
              <a:t>Pranav Pujar</a:t>
            </a:r>
          </a:p>
        </p:txBody>
      </p:sp>
      <p:sp>
        <p:nvSpPr>
          <p:cNvPr id="7" name="Rounded Rectangle 6">
            <a:extLst>
              <a:ext uri="{FF2B5EF4-FFF2-40B4-BE49-F238E27FC236}">
                <a16:creationId xmlns:a16="http://schemas.microsoft.com/office/drawing/2014/main" id="{A0C2EE44-9063-2A5D-9E4F-E3EA65A4ECE5}"/>
              </a:ext>
            </a:extLst>
          </p:cNvPr>
          <p:cNvSpPr/>
          <p:nvPr/>
        </p:nvSpPr>
        <p:spPr bwMode="auto">
          <a:xfrm>
            <a:off x="754809" y="2280792"/>
            <a:ext cx="10682381" cy="4056540"/>
          </a:xfrm>
          <a:prstGeom prst="roundRect">
            <a:avLst>
              <a:gd name="adj" fmla="val 6592"/>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t" anchorCtr="0" forceAA="0" compatLnSpc="1">
            <a:prstTxWarp prst="textNoShape">
              <a:avLst/>
            </a:prstTxWarp>
            <a:noAutofit/>
          </a:bodyPr>
          <a:lstStyle/>
          <a:p>
            <a:pPr marL="1066720" lvl="1" indent="-457167">
              <a:lnSpc>
                <a:spcPct val="150000"/>
              </a:lnSpc>
              <a:buFont typeface="Arial" panose="020B0604020202020204" pitchFamily="34" charset="0"/>
              <a:buChar char="•"/>
            </a:pPr>
            <a:r>
              <a:rPr lang="en-US" sz="3200">
                <a:solidFill>
                  <a:schemeClr val="tx1">
                    <a:alpha val="16000"/>
                  </a:schemeClr>
                </a:solidFill>
                <a:latin typeface="Arial" panose="020B0604020202020204" pitchFamily="34" charset="0"/>
                <a:cs typeface="Arial" panose="020B0604020202020204" pitchFamily="34" charset="0"/>
              </a:rPr>
              <a:t>B.S. + M.S. in CS @ UT Arlington</a:t>
            </a:r>
          </a:p>
          <a:p>
            <a:pPr marL="1066720" lvl="1" indent="-457167">
              <a:lnSpc>
                <a:spcPct val="150000"/>
              </a:lnSpc>
              <a:buFont typeface="Arial" panose="020B0604020202020204" pitchFamily="34" charset="0"/>
              <a:buChar char="•"/>
            </a:pPr>
            <a:r>
              <a:rPr lang="en-US" sz="3200">
                <a:solidFill>
                  <a:schemeClr val="tx1">
                    <a:alpha val="16000"/>
                  </a:schemeClr>
                </a:solidFill>
                <a:latin typeface="Arial" panose="020B0604020202020204" pitchFamily="34" charset="0"/>
                <a:cs typeface="Arial" panose="020B0604020202020204" pitchFamily="34" charset="0"/>
              </a:rPr>
              <a:t>GRA @ IDIR Lab | SWE Intern @ AMD, Adobe</a:t>
            </a:r>
          </a:p>
          <a:p>
            <a:pPr marL="1066720" lvl="1" indent="-457167">
              <a:lnSpc>
                <a:spcPct val="150000"/>
              </a:lnSpc>
              <a:buFont typeface="Arial" panose="020B0604020202020204" pitchFamily="34" charset="0"/>
              <a:buChar char="•"/>
            </a:pPr>
            <a:r>
              <a:rPr lang="en-US" sz="3200">
                <a:solidFill>
                  <a:schemeClr val="tx1">
                    <a:alpha val="16000"/>
                  </a:schemeClr>
                </a:solidFill>
                <a:latin typeface="Arial" panose="020B0604020202020204" pitchFamily="34" charset="0"/>
                <a:cs typeface="Arial" panose="020B0604020202020204" pitchFamily="34" charset="0"/>
              </a:rPr>
              <a:t>Outstanding Master's Student Award – 2026</a:t>
            </a:r>
          </a:p>
          <a:p>
            <a:pPr marL="1066720" lvl="1" indent="-457167">
              <a:lnSpc>
                <a:spcPct val="150000"/>
              </a:lnSpc>
              <a:buFont typeface="Arial" panose="020B0604020202020204" pitchFamily="34" charset="0"/>
              <a:buChar char="•"/>
            </a:pPr>
            <a:r>
              <a:rPr lang="en-US" sz="3200">
                <a:solidFill>
                  <a:schemeClr val="tx1">
                    <a:alpha val="16000"/>
                  </a:schemeClr>
                </a:solidFill>
                <a:latin typeface="Arial" panose="020B0604020202020204" pitchFamily="34" charset="0"/>
                <a:cs typeface="Arial" panose="020B0604020202020204" pitchFamily="34" charset="0"/>
              </a:rPr>
              <a:t>Lonestar Scholarship, Dean's List x4</a:t>
            </a:r>
          </a:p>
        </p:txBody>
      </p:sp>
    </p:spTree>
    <p:extLst>
      <p:ext uri="{BB962C8B-B14F-4D97-AF65-F5344CB8AC3E}">
        <p14:creationId xmlns:p14="http://schemas.microsoft.com/office/powerpoint/2010/main" val="15488291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F1624-F06B-B2DB-07B1-C85C822B974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B60423-C89A-8BE6-9D51-6A18054C159C}"/>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7</a:t>
            </a:fld>
            <a:endParaRPr lang="en-US">
              <a:solidFill>
                <a:srgbClr val="000000"/>
              </a:solidFill>
              <a:latin typeface="Segoe UI"/>
            </a:endParaRPr>
          </a:p>
        </p:txBody>
      </p:sp>
      <p:sp>
        <p:nvSpPr>
          <p:cNvPr id="8" name="!!1">
            <a:extLst>
              <a:ext uri="{FF2B5EF4-FFF2-40B4-BE49-F238E27FC236}">
                <a16:creationId xmlns:a16="http://schemas.microsoft.com/office/drawing/2014/main" id="{073B97C1-2E5C-D0CC-83B1-AB6E6178CE35}"/>
              </a:ext>
            </a:extLst>
          </p:cNvPr>
          <p:cNvSpPr/>
          <p:nvPr/>
        </p:nvSpPr>
        <p:spPr bwMode="auto">
          <a:xfrm>
            <a:off x="-132497" y="159208"/>
            <a:ext cx="4818888"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Helvetica" pitchFamily="2" charset="0"/>
                <a:cs typeface="Arial" panose="020B0604020202020204" pitchFamily="34" charset="0"/>
              </a:rPr>
              <a:t>Self-Introduction</a:t>
            </a:r>
            <a:endParaRPr lang="en-US" sz="4000" b="1" spc="-67">
              <a:solidFill>
                <a:srgbClr val="1B4C9C"/>
              </a:solidFill>
              <a:latin typeface="Helvetica" pitchFamily="2" charset="0"/>
              <a:ea typeface="Segoe UI" pitchFamily="34" charset="0"/>
              <a:cs typeface="Arial" panose="020B0604020202020204" pitchFamily="34" charset="0"/>
            </a:endParaRPr>
          </a:p>
        </p:txBody>
      </p:sp>
      <p:sp>
        <p:nvSpPr>
          <p:cNvPr id="2" name="Rounded Rectangle 1">
            <a:extLst>
              <a:ext uri="{FF2B5EF4-FFF2-40B4-BE49-F238E27FC236}">
                <a16:creationId xmlns:a16="http://schemas.microsoft.com/office/drawing/2014/main" id="{2A263E9B-111F-D33B-7BB5-4E03B154CF70}"/>
              </a:ext>
            </a:extLst>
          </p:cNvPr>
          <p:cNvSpPr/>
          <p:nvPr/>
        </p:nvSpPr>
        <p:spPr bwMode="auto">
          <a:xfrm>
            <a:off x="754809" y="2280792"/>
            <a:ext cx="10682381" cy="4056540"/>
          </a:xfrm>
          <a:prstGeom prst="roundRect">
            <a:avLst>
              <a:gd name="adj" fmla="val 6592"/>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t" anchorCtr="0" forceAA="0" compatLnSpc="1">
            <a:prstTxWarp prst="textNoShape">
              <a:avLst/>
            </a:prstTxWarp>
            <a:noAutofit/>
          </a:bodyPr>
          <a:lstStyle/>
          <a:p>
            <a:pPr marL="1066720" lvl="1" indent="-457167">
              <a:lnSpc>
                <a:spcPct val="150000"/>
              </a:lnSpc>
              <a:buFont typeface="Arial" panose="020B0604020202020204" pitchFamily="34" charset="0"/>
              <a:buChar char="•"/>
            </a:pPr>
            <a:r>
              <a:rPr lang="en-US" sz="3200">
                <a:solidFill>
                  <a:schemeClr val="tx1"/>
                </a:solidFill>
                <a:latin typeface="Arial" panose="020B0604020202020204" pitchFamily="34" charset="0"/>
                <a:cs typeface="Arial" panose="020B0604020202020204" pitchFamily="34" charset="0"/>
              </a:rPr>
              <a:t>B.S. + M.S. in CS @ UT Arlington</a:t>
            </a:r>
          </a:p>
          <a:p>
            <a:pPr marL="1066720" lvl="1" indent="-457167">
              <a:lnSpc>
                <a:spcPct val="150000"/>
              </a:lnSpc>
              <a:buFont typeface="Arial" panose="020B0604020202020204" pitchFamily="34" charset="0"/>
              <a:buChar char="•"/>
            </a:pPr>
            <a:r>
              <a:rPr lang="en-US" sz="3200">
                <a:solidFill>
                  <a:schemeClr val="tx1"/>
                </a:solidFill>
                <a:latin typeface="Arial" panose="020B0604020202020204" pitchFamily="34" charset="0"/>
                <a:cs typeface="Arial" panose="020B0604020202020204" pitchFamily="34" charset="0"/>
              </a:rPr>
              <a:t>GRA @ IDIR Lab | SWE Intern @ AMD, Adobe</a:t>
            </a:r>
          </a:p>
          <a:p>
            <a:pPr marL="1066720" lvl="1" indent="-457167">
              <a:lnSpc>
                <a:spcPct val="150000"/>
              </a:lnSpc>
              <a:buFont typeface="Arial" panose="020B0604020202020204" pitchFamily="34" charset="0"/>
              <a:buChar char="•"/>
            </a:pPr>
            <a:r>
              <a:rPr lang="en-US" sz="3200">
                <a:solidFill>
                  <a:schemeClr val="tx1">
                    <a:alpha val="16000"/>
                  </a:schemeClr>
                </a:solidFill>
                <a:latin typeface="Arial" panose="020B0604020202020204" pitchFamily="34" charset="0"/>
                <a:cs typeface="Arial" panose="020B0604020202020204" pitchFamily="34" charset="0"/>
              </a:rPr>
              <a:t>Outstanding Master's Student Award – 2026</a:t>
            </a:r>
          </a:p>
          <a:p>
            <a:pPr marL="1066720" lvl="1" indent="-457167">
              <a:lnSpc>
                <a:spcPct val="150000"/>
              </a:lnSpc>
              <a:buFont typeface="Arial" panose="020B0604020202020204" pitchFamily="34" charset="0"/>
              <a:buChar char="•"/>
            </a:pPr>
            <a:r>
              <a:rPr lang="en-US" sz="3200">
                <a:solidFill>
                  <a:schemeClr val="tx1">
                    <a:alpha val="16000"/>
                  </a:schemeClr>
                </a:solidFill>
                <a:latin typeface="Arial" panose="020B0604020202020204" pitchFamily="34" charset="0"/>
                <a:cs typeface="Arial" panose="020B0604020202020204" pitchFamily="34" charset="0"/>
              </a:rPr>
              <a:t>Lonestar Scholarship, Dean's List x4</a:t>
            </a:r>
          </a:p>
        </p:txBody>
      </p:sp>
      <p:sp>
        <p:nvSpPr>
          <p:cNvPr id="7" name="Rounded Rectangle 6">
            <a:extLst>
              <a:ext uri="{FF2B5EF4-FFF2-40B4-BE49-F238E27FC236}">
                <a16:creationId xmlns:a16="http://schemas.microsoft.com/office/drawing/2014/main" id="{9526257E-2C8D-9548-EE04-333905A46AC8}"/>
              </a:ext>
            </a:extLst>
          </p:cNvPr>
          <p:cNvSpPr/>
          <p:nvPr/>
        </p:nvSpPr>
        <p:spPr bwMode="auto">
          <a:xfrm>
            <a:off x="754810" y="1008856"/>
            <a:ext cx="10682383" cy="849649"/>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lvl="1"/>
            <a:r>
              <a:rPr lang="en-US" sz="3200" b="1">
                <a:solidFill>
                  <a:srgbClr val="13409F">
                    <a:alpha val="16000"/>
                  </a:srgbClr>
                </a:solidFill>
                <a:latin typeface="Arial" panose="020B0604020202020204" pitchFamily="34" charset="0"/>
                <a:cs typeface="Arial" panose="020B0604020202020204" pitchFamily="34" charset="0"/>
              </a:rPr>
              <a:t>Pranav Pujar</a:t>
            </a:r>
          </a:p>
        </p:txBody>
      </p:sp>
    </p:spTree>
    <p:extLst>
      <p:ext uri="{BB962C8B-B14F-4D97-AF65-F5344CB8AC3E}">
        <p14:creationId xmlns:p14="http://schemas.microsoft.com/office/powerpoint/2010/main" val="1830093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A74A7-2720-0793-11EC-8AF1116313E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60AF185-4FF7-85D8-1EE1-28BB348AD65E}"/>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8</a:t>
            </a:fld>
            <a:endParaRPr lang="en-US">
              <a:solidFill>
                <a:srgbClr val="000000"/>
              </a:solidFill>
              <a:latin typeface="Segoe UI"/>
            </a:endParaRPr>
          </a:p>
        </p:txBody>
      </p:sp>
      <p:sp>
        <p:nvSpPr>
          <p:cNvPr id="8" name="!!1">
            <a:extLst>
              <a:ext uri="{FF2B5EF4-FFF2-40B4-BE49-F238E27FC236}">
                <a16:creationId xmlns:a16="http://schemas.microsoft.com/office/drawing/2014/main" id="{5784A94F-4360-627D-5F42-AB3AEE4C1A33}"/>
              </a:ext>
            </a:extLst>
          </p:cNvPr>
          <p:cNvSpPr/>
          <p:nvPr/>
        </p:nvSpPr>
        <p:spPr bwMode="auto">
          <a:xfrm>
            <a:off x="-132497" y="159208"/>
            <a:ext cx="4818888"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Helvetica" pitchFamily="2" charset="0"/>
                <a:cs typeface="Arial" panose="020B0604020202020204" pitchFamily="34" charset="0"/>
              </a:rPr>
              <a:t>Self-Introduction</a:t>
            </a:r>
            <a:endParaRPr lang="en-US" sz="4000" b="1" spc="-67">
              <a:solidFill>
                <a:srgbClr val="1B4C9C"/>
              </a:solidFill>
              <a:latin typeface="Helvetica" pitchFamily="2" charset="0"/>
              <a:ea typeface="Segoe UI" pitchFamily="34" charset="0"/>
              <a:cs typeface="Arial" panose="020B0604020202020204" pitchFamily="34" charset="0"/>
            </a:endParaRPr>
          </a:p>
        </p:txBody>
      </p:sp>
      <p:sp>
        <p:nvSpPr>
          <p:cNvPr id="2" name="Rounded Rectangle 1">
            <a:extLst>
              <a:ext uri="{FF2B5EF4-FFF2-40B4-BE49-F238E27FC236}">
                <a16:creationId xmlns:a16="http://schemas.microsoft.com/office/drawing/2014/main" id="{7B9BDCE1-B872-08F9-14BE-807926635441}"/>
              </a:ext>
            </a:extLst>
          </p:cNvPr>
          <p:cNvSpPr/>
          <p:nvPr/>
        </p:nvSpPr>
        <p:spPr bwMode="auto">
          <a:xfrm>
            <a:off x="754809" y="2280792"/>
            <a:ext cx="10682381" cy="4056540"/>
          </a:xfrm>
          <a:prstGeom prst="roundRect">
            <a:avLst>
              <a:gd name="adj" fmla="val 6592"/>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t" anchorCtr="0" forceAA="0" compatLnSpc="1">
            <a:prstTxWarp prst="textNoShape">
              <a:avLst/>
            </a:prstTxWarp>
            <a:noAutofit/>
          </a:bodyPr>
          <a:lstStyle/>
          <a:p>
            <a:pPr marL="1066720" lvl="1" indent="-457167">
              <a:lnSpc>
                <a:spcPct val="150000"/>
              </a:lnSpc>
              <a:buFont typeface="Arial" panose="020B0604020202020204" pitchFamily="34" charset="0"/>
              <a:buChar char="•"/>
            </a:pPr>
            <a:r>
              <a:rPr lang="en-US" sz="3200">
                <a:solidFill>
                  <a:schemeClr val="tx1">
                    <a:alpha val="16000"/>
                  </a:schemeClr>
                </a:solidFill>
                <a:latin typeface="Arial" panose="020B0604020202020204" pitchFamily="34" charset="0"/>
                <a:cs typeface="Arial" panose="020B0604020202020204" pitchFamily="34" charset="0"/>
              </a:rPr>
              <a:t>B.S. + M.S. in CS @ UT Arlington</a:t>
            </a:r>
          </a:p>
          <a:p>
            <a:pPr marL="1066720" lvl="1" indent="-457167">
              <a:lnSpc>
                <a:spcPct val="150000"/>
              </a:lnSpc>
              <a:buFont typeface="Arial" panose="020B0604020202020204" pitchFamily="34" charset="0"/>
              <a:buChar char="•"/>
            </a:pPr>
            <a:r>
              <a:rPr lang="en-US" sz="3200">
                <a:solidFill>
                  <a:schemeClr val="tx1">
                    <a:alpha val="16000"/>
                  </a:schemeClr>
                </a:solidFill>
                <a:latin typeface="Arial" panose="020B0604020202020204" pitchFamily="34" charset="0"/>
                <a:cs typeface="Arial" panose="020B0604020202020204" pitchFamily="34" charset="0"/>
              </a:rPr>
              <a:t>GRA @ IDIR Lab | SWE Intern @ AMD, Adobe</a:t>
            </a:r>
          </a:p>
          <a:p>
            <a:pPr marL="1066720" lvl="1" indent="-457167">
              <a:lnSpc>
                <a:spcPct val="150000"/>
              </a:lnSpc>
              <a:buFont typeface="Arial" panose="020B0604020202020204" pitchFamily="34" charset="0"/>
              <a:buChar char="•"/>
            </a:pPr>
            <a:r>
              <a:rPr lang="en-US" sz="3200">
                <a:solidFill>
                  <a:schemeClr val="tx1"/>
                </a:solidFill>
                <a:latin typeface="Arial" panose="020B0604020202020204" pitchFamily="34" charset="0"/>
                <a:cs typeface="Arial" panose="020B0604020202020204" pitchFamily="34" charset="0"/>
              </a:rPr>
              <a:t>Outstanding Master's Student Award – 2026</a:t>
            </a:r>
          </a:p>
          <a:p>
            <a:pPr marL="1066720" lvl="1" indent="-457167">
              <a:lnSpc>
                <a:spcPct val="150000"/>
              </a:lnSpc>
              <a:buFont typeface="Arial" panose="020B0604020202020204" pitchFamily="34" charset="0"/>
              <a:buChar char="•"/>
            </a:pPr>
            <a:r>
              <a:rPr lang="en-US" sz="3200">
                <a:solidFill>
                  <a:schemeClr val="tx1"/>
                </a:solidFill>
                <a:latin typeface="Arial" panose="020B0604020202020204" pitchFamily="34" charset="0"/>
                <a:cs typeface="Arial" panose="020B0604020202020204" pitchFamily="34" charset="0"/>
              </a:rPr>
              <a:t>Lonestar Scholarship, Dean's List x4</a:t>
            </a:r>
          </a:p>
        </p:txBody>
      </p:sp>
      <p:sp>
        <p:nvSpPr>
          <p:cNvPr id="5" name="Rounded Rectangle 4">
            <a:extLst>
              <a:ext uri="{FF2B5EF4-FFF2-40B4-BE49-F238E27FC236}">
                <a16:creationId xmlns:a16="http://schemas.microsoft.com/office/drawing/2014/main" id="{3E9FB770-D60B-1B18-0F56-8C212132CA55}"/>
              </a:ext>
            </a:extLst>
          </p:cNvPr>
          <p:cNvSpPr/>
          <p:nvPr/>
        </p:nvSpPr>
        <p:spPr bwMode="auto">
          <a:xfrm>
            <a:off x="754810" y="1008856"/>
            <a:ext cx="10682383" cy="849649"/>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lvl="1"/>
            <a:r>
              <a:rPr lang="en-US" sz="3200" b="1">
                <a:solidFill>
                  <a:srgbClr val="13409F">
                    <a:alpha val="16000"/>
                  </a:srgbClr>
                </a:solidFill>
                <a:latin typeface="Arial" panose="020B0604020202020204" pitchFamily="34" charset="0"/>
                <a:cs typeface="Arial" panose="020B0604020202020204" pitchFamily="34" charset="0"/>
              </a:rPr>
              <a:t>Pranav Pujar</a:t>
            </a:r>
          </a:p>
        </p:txBody>
      </p:sp>
    </p:spTree>
    <p:extLst>
      <p:ext uri="{BB962C8B-B14F-4D97-AF65-F5344CB8AC3E}">
        <p14:creationId xmlns:p14="http://schemas.microsoft.com/office/powerpoint/2010/main" val="3823204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4A07B-4DF0-10F1-C302-65F789887A62}"/>
            </a:ext>
          </a:extLst>
        </p:cNvPr>
        <p:cNvGrpSpPr/>
        <p:nvPr/>
      </p:nvGrpSpPr>
      <p:grpSpPr>
        <a:xfrm>
          <a:off x="0" y="0"/>
          <a:ext cx="0" cy="0"/>
          <a:chOff x="0" y="0"/>
          <a:chExt cx="0" cy="0"/>
        </a:xfrm>
      </p:grpSpPr>
      <p:sp>
        <p:nvSpPr>
          <p:cNvPr id="13" name="Title 2">
            <a:extLst>
              <a:ext uri="{FF2B5EF4-FFF2-40B4-BE49-F238E27FC236}">
                <a16:creationId xmlns:a16="http://schemas.microsoft.com/office/drawing/2014/main" id="{2148E133-7A87-0049-7213-5328C371468A}"/>
              </a:ext>
            </a:extLst>
          </p:cNvPr>
          <p:cNvSpPr>
            <a:spLocks noGrp="1"/>
          </p:cNvSpPr>
          <p:nvPr>
            <p:ph type="title"/>
          </p:nvPr>
        </p:nvSpPr>
        <p:spPr>
          <a:xfrm>
            <a:off x="217117" y="69643"/>
            <a:ext cx="10571968" cy="963668"/>
          </a:xfrm>
        </p:spPr>
        <p:txBody>
          <a:bodyPr vert="horz" wrap="square" lIns="121920" tIns="60960" rIns="121920" bIns="60960" rtlCol="0" anchor="ctr" anchorCtr="0">
            <a:normAutofit/>
          </a:bodyPr>
          <a:lstStyle/>
          <a:p>
            <a:r>
              <a:rPr lang="en-US" altLang="zh-CN" sz="4000"/>
              <a:t>Outline</a:t>
            </a:r>
            <a:endParaRPr lang="en-US" sz="4000">
              <a:latin typeface="Open Sans" panose="020B0606030504020204" pitchFamily="34" charset="0"/>
            </a:endParaRPr>
          </a:p>
        </p:txBody>
      </p:sp>
      <p:sp>
        <p:nvSpPr>
          <p:cNvPr id="4" name="Slide Number Placeholder 3">
            <a:extLst>
              <a:ext uri="{FF2B5EF4-FFF2-40B4-BE49-F238E27FC236}">
                <a16:creationId xmlns:a16="http://schemas.microsoft.com/office/drawing/2014/main" id="{1E065824-CD29-C62A-3D87-EB3263055DA5}"/>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9</a:t>
            </a:fld>
            <a:endParaRPr lang="en-US">
              <a:solidFill>
                <a:srgbClr val="000000"/>
              </a:solidFill>
              <a:latin typeface="Segoe UI"/>
            </a:endParaRPr>
          </a:p>
        </p:txBody>
      </p:sp>
      <p:sp>
        <p:nvSpPr>
          <p:cNvPr id="8" name="!!1">
            <a:extLst>
              <a:ext uri="{FF2B5EF4-FFF2-40B4-BE49-F238E27FC236}">
                <a16:creationId xmlns:a16="http://schemas.microsoft.com/office/drawing/2014/main" id="{0F2A2946-001E-E89F-53F6-A3C10AFE9234}"/>
              </a:ext>
            </a:extLst>
          </p:cNvPr>
          <p:cNvSpPr/>
          <p:nvPr/>
        </p:nvSpPr>
        <p:spPr bwMode="auto">
          <a:xfrm>
            <a:off x="342205" y="1381773"/>
            <a:ext cx="5394344"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1. Self-Introduction</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0" name="Rounded Rectangle 9">
            <a:extLst>
              <a:ext uri="{FF2B5EF4-FFF2-40B4-BE49-F238E27FC236}">
                <a16:creationId xmlns:a16="http://schemas.microsoft.com/office/drawing/2014/main" id="{AC3DFF7F-C636-8532-2960-734263016938}"/>
              </a:ext>
            </a:extLst>
          </p:cNvPr>
          <p:cNvSpPr/>
          <p:nvPr/>
        </p:nvSpPr>
        <p:spPr bwMode="auto">
          <a:xfrm>
            <a:off x="342205" y="3772184"/>
            <a:ext cx="5394356"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3. Biological Evidence Data</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1" name="Rounded Rectangle 10">
            <a:extLst>
              <a:ext uri="{FF2B5EF4-FFF2-40B4-BE49-F238E27FC236}">
                <a16:creationId xmlns:a16="http://schemas.microsoft.com/office/drawing/2014/main" id="{99AFFCE8-C71E-A83A-D6FD-DA8126D14328}"/>
              </a:ext>
            </a:extLst>
          </p:cNvPr>
          <p:cNvSpPr/>
          <p:nvPr/>
        </p:nvSpPr>
        <p:spPr bwMode="auto">
          <a:xfrm>
            <a:off x="342213" y="4925510"/>
            <a:ext cx="539435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4. Trait-Gene Association Graph</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8A832C56-BC83-712B-B865-67B86BC681C5}"/>
              </a:ext>
            </a:extLst>
          </p:cNvPr>
          <p:cNvSpPr/>
          <p:nvPr/>
        </p:nvSpPr>
        <p:spPr bwMode="auto">
          <a:xfrm>
            <a:off x="6461788" y="2580793"/>
            <a:ext cx="5387997" cy="849648"/>
          </a:xfrm>
          <a:prstGeom prst="roundRect">
            <a:avLst>
              <a:gd name="adj" fmla="val 20246"/>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6. </a:t>
            </a:r>
            <a:r>
              <a:rPr lang="en-US" sz="2800">
                <a:solidFill>
                  <a:srgbClr val="1B4C9C">
                    <a:alpha val="16000"/>
                  </a:srgbClr>
                </a:solidFill>
                <a:latin typeface="Arial" panose="020B0604020202020204" pitchFamily="34" charset="0"/>
                <a:cs typeface="Arial" panose="020B0604020202020204" pitchFamily="34" charset="0"/>
              </a:rPr>
              <a:t>Trait Similarity Models</a:t>
            </a:r>
          </a:p>
        </p:txBody>
      </p:sp>
      <p:sp>
        <p:nvSpPr>
          <p:cNvPr id="15" name="Rounded Rectangle 14">
            <a:extLst>
              <a:ext uri="{FF2B5EF4-FFF2-40B4-BE49-F238E27FC236}">
                <a16:creationId xmlns:a16="http://schemas.microsoft.com/office/drawing/2014/main" id="{A2451766-270C-80BE-DE46-8D70E767FE70}"/>
              </a:ext>
            </a:extLst>
          </p:cNvPr>
          <p:cNvSpPr/>
          <p:nvPr/>
        </p:nvSpPr>
        <p:spPr bwMode="auto">
          <a:xfrm>
            <a:off x="6461788" y="3772184"/>
            <a:ext cx="5387995"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7. Website Live Demo</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6" name="Rounded Rectangle 15">
            <a:extLst>
              <a:ext uri="{FF2B5EF4-FFF2-40B4-BE49-F238E27FC236}">
                <a16:creationId xmlns:a16="http://schemas.microsoft.com/office/drawing/2014/main" id="{CEEAB974-6ABA-BBB0-AD42-6972989F7E40}"/>
              </a:ext>
            </a:extLst>
          </p:cNvPr>
          <p:cNvSpPr/>
          <p:nvPr/>
        </p:nvSpPr>
        <p:spPr bwMode="auto">
          <a:xfrm>
            <a:off x="6455431" y="4925510"/>
            <a:ext cx="538798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dirty="0">
                <a:solidFill>
                  <a:srgbClr val="1B4C9C">
                    <a:alpha val="16000"/>
                  </a:srgbClr>
                </a:solidFill>
                <a:latin typeface="Arial" panose="020B0604020202020204" pitchFamily="34" charset="0"/>
                <a:cs typeface="Arial" panose="020B0604020202020204" pitchFamily="34" charset="0"/>
              </a:rPr>
              <a:t>8. Conclusion</a:t>
            </a:r>
            <a:endParaRPr lang="en-US" sz="2800" dirty="0">
              <a:solidFill>
                <a:srgbClr val="1B4C9C">
                  <a:alpha val="16000"/>
                </a:srgbClr>
              </a:solidFill>
              <a:latin typeface="Arial" panose="020B0604020202020204" pitchFamily="34" charset="0"/>
              <a:cs typeface="Arial" panose="020B0604020202020204" pitchFamily="34" charset="0"/>
            </a:endParaRPr>
          </a:p>
        </p:txBody>
      </p:sp>
      <p:sp>
        <p:nvSpPr>
          <p:cNvPr id="19" name="Rounded Rectangle 18">
            <a:extLst>
              <a:ext uri="{FF2B5EF4-FFF2-40B4-BE49-F238E27FC236}">
                <a16:creationId xmlns:a16="http://schemas.microsoft.com/office/drawing/2014/main" id="{2C3E9964-21F0-B589-6C1E-7D7E54F7C002}"/>
              </a:ext>
            </a:extLst>
          </p:cNvPr>
          <p:cNvSpPr/>
          <p:nvPr/>
        </p:nvSpPr>
        <p:spPr bwMode="auto">
          <a:xfrm>
            <a:off x="6461789" y="1360440"/>
            <a:ext cx="538800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5. </a:t>
            </a:r>
            <a:r>
              <a:rPr lang="en-US" sz="2800">
                <a:solidFill>
                  <a:srgbClr val="1B4C9C">
                    <a:alpha val="16000"/>
                  </a:srgbClr>
                </a:solidFill>
                <a:latin typeface="Arial" panose="020B0604020202020204" pitchFamily="34" charset="0"/>
                <a:cs typeface="Arial" panose="020B0604020202020204" pitchFamily="34" charset="0"/>
              </a:rPr>
              <a:t>Gene Ranking Models</a:t>
            </a:r>
          </a:p>
        </p:txBody>
      </p:sp>
      <p:cxnSp>
        <p:nvCxnSpPr>
          <p:cNvPr id="3" name="Straight Connector 2">
            <a:extLst>
              <a:ext uri="{FF2B5EF4-FFF2-40B4-BE49-F238E27FC236}">
                <a16:creationId xmlns:a16="http://schemas.microsoft.com/office/drawing/2014/main" id="{B5B697E3-7B20-92A2-EFED-B7C03ECF3858}"/>
              </a:ext>
            </a:extLst>
          </p:cNvPr>
          <p:cNvCxnSpPr>
            <a:cxnSpLocks/>
          </p:cNvCxnSpPr>
          <p:nvPr/>
        </p:nvCxnSpPr>
        <p:spPr>
          <a:xfrm>
            <a:off x="6096000" y="1384624"/>
            <a:ext cx="0" cy="4449931"/>
          </a:xfrm>
          <a:prstGeom prst="line">
            <a:avLst/>
          </a:prstGeom>
          <a:ln w="38100">
            <a:solidFill>
              <a:srgbClr val="E7E7E7"/>
            </a:solidFill>
          </a:ln>
        </p:spPr>
        <p:style>
          <a:lnRef idx="1">
            <a:schemeClr val="accent1"/>
          </a:lnRef>
          <a:fillRef idx="0">
            <a:schemeClr val="accent1"/>
          </a:fillRef>
          <a:effectRef idx="0">
            <a:schemeClr val="accent1"/>
          </a:effectRef>
          <a:fontRef idx="minor">
            <a:schemeClr val="tx1"/>
          </a:fontRef>
        </p:style>
      </p:cxnSp>
      <p:sp>
        <p:nvSpPr>
          <p:cNvPr id="2" name="!!2">
            <a:extLst>
              <a:ext uri="{FF2B5EF4-FFF2-40B4-BE49-F238E27FC236}">
                <a16:creationId xmlns:a16="http://schemas.microsoft.com/office/drawing/2014/main" id="{AF9CF058-3121-2162-DA50-0DCDA8771BB2}"/>
              </a:ext>
            </a:extLst>
          </p:cNvPr>
          <p:cNvSpPr/>
          <p:nvPr/>
        </p:nvSpPr>
        <p:spPr bwMode="auto">
          <a:xfrm>
            <a:off x="342204" y="2574074"/>
            <a:ext cx="5394363"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b="1">
                <a:solidFill>
                  <a:srgbClr val="1B4C9C"/>
                </a:solidFill>
                <a:latin typeface="Arial" panose="020B0604020202020204" pitchFamily="34" charset="0"/>
                <a:cs typeface="Arial" panose="020B0604020202020204" pitchFamily="34" charset="0"/>
              </a:rPr>
              <a:t>2. </a:t>
            </a:r>
            <a:r>
              <a:rPr lang="en-US" altLang="zh-CN" sz="2800" b="1" err="1">
                <a:solidFill>
                  <a:srgbClr val="1B4C9C"/>
                </a:solidFill>
                <a:latin typeface="Arial" panose="020B0604020202020204" pitchFamily="34" charset="0"/>
                <a:cs typeface="Arial" panose="020B0604020202020204" pitchFamily="34" charset="0"/>
              </a:rPr>
              <a:t>GeneSieve</a:t>
            </a:r>
            <a:r>
              <a:rPr lang="en-US" altLang="zh-CN" sz="2800" b="1">
                <a:solidFill>
                  <a:srgbClr val="1B4C9C"/>
                </a:solidFill>
                <a:latin typeface="Arial" panose="020B0604020202020204" pitchFamily="34" charset="0"/>
                <a:cs typeface="Arial" panose="020B0604020202020204" pitchFamily="34" charset="0"/>
              </a:rPr>
              <a:t> Overview</a:t>
            </a:r>
            <a:endParaRPr lang="en-US" sz="2800" b="1">
              <a:solidFill>
                <a:srgbClr val="1B4C9C"/>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34573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EFCB0-8EF4-D8A0-F6AE-A91D1B7E73B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632C63-3441-717F-408A-15D4A96C7E10}"/>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10</a:t>
            </a:fld>
            <a:endParaRPr lang="en-US">
              <a:solidFill>
                <a:srgbClr val="000000"/>
              </a:solidFill>
              <a:latin typeface="Segoe UI"/>
            </a:endParaRPr>
          </a:p>
        </p:txBody>
      </p:sp>
      <p:sp>
        <p:nvSpPr>
          <p:cNvPr id="9" name="!!2">
            <a:extLst>
              <a:ext uri="{FF2B5EF4-FFF2-40B4-BE49-F238E27FC236}">
                <a16:creationId xmlns:a16="http://schemas.microsoft.com/office/drawing/2014/main" id="{170C1B17-979D-815D-B6D7-17AD0AD6ABD8}"/>
              </a:ext>
            </a:extLst>
          </p:cNvPr>
          <p:cNvSpPr/>
          <p:nvPr/>
        </p:nvSpPr>
        <p:spPr bwMode="auto">
          <a:xfrm>
            <a:off x="43923" y="173108"/>
            <a:ext cx="5966223"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err="1">
                <a:solidFill>
                  <a:srgbClr val="1B4C9C"/>
                </a:solidFill>
                <a:latin typeface="Arial" panose="020B0604020202020204" pitchFamily="34" charset="0"/>
                <a:cs typeface="Arial" panose="020B0604020202020204" pitchFamily="34" charset="0"/>
              </a:rPr>
              <a:t>GeneSieve</a:t>
            </a:r>
            <a:r>
              <a:rPr lang="en-US" altLang="zh-CN" sz="4000" b="1">
                <a:solidFill>
                  <a:srgbClr val="1B4C9C"/>
                </a:solidFill>
                <a:latin typeface="Arial" panose="020B0604020202020204" pitchFamily="34" charset="0"/>
                <a:cs typeface="Arial" panose="020B0604020202020204" pitchFamily="34" charset="0"/>
              </a:rPr>
              <a:t> Overview</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7" name="Rounded Rectangle 6">
            <a:extLst>
              <a:ext uri="{FF2B5EF4-FFF2-40B4-BE49-F238E27FC236}">
                <a16:creationId xmlns:a16="http://schemas.microsoft.com/office/drawing/2014/main" id="{0FAC3070-27C8-0726-7F41-FAF761C9348D}"/>
              </a:ext>
            </a:extLst>
          </p:cNvPr>
          <p:cNvSpPr/>
          <p:nvPr/>
        </p:nvSpPr>
        <p:spPr bwMode="auto">
          <a:xfrm>
            <a:off x="1080248" y="1335461"/>
            <a:ext cx="9869450" cy="849648"/>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dirty="0">
                <a:solidFill>
                  <a:schemeClr val="tx1"/>
                </a:solidFill>
                <a:latin typeface="Arial" panose="020B0604020202020204" pitchFamily="34" charset="0"/>
                <a:cs typeface="Arial" panose="020B0604020202020204" pitchFamily="34" charset="0"/>
              </a:rPr>
              <a:t>Genes are largely responsible for trait expression</a:t>
            </a:r>
          </a:p>
        </p:txBody>
      </p:sp>
      <p:sp>
        <p:nvSpPr>
          <p:cNvPr id="6" name="Rounded Rectangle 5">
            <a:extLst>
              <a:ext uri="{FF2B5EF4-FFF2-40B4-BE49-F238E27FC236}">
                <a16:creationId xmlns:a16="http://schemas.microsoft.com/office/drawing/2014/main" id="{A0C66CEB-A221-5BD1-8532-715BFFEEAC44}"/>
              </a:ext>
            </a:extLst>
          </p:cNvPr>
          <p:cNvSpPr/>
          <p:nvPr/>
        </p:nvSpPr>
        <p:spPr bwMode="auto">
          <a:xfrm>
            <a:off x="1080248" y="3964389"/>
            <a:ext cx="9869450" cy="849648"/>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a:solidFill>
                  <a:schemeClr val="tx1"/>
                </a:solidFill>
                <a:latin typeface="Arial" panose="020B0604020202020204" pitchFamily="34" charset="0"/>
                <a:cs typeface="Arial" panose="020B0604020202020204" pitchFamily="34" charset="0"/>
              </a:rPr>
              <a:t>Experimentally validating genes is costly &amp; slow</a:t>
            </a:r>
          </a:p>
        </p:txBody>
      </p:sp>
      <p:sp>
        <p:nvSpPr>
          <p:cNvPr id="2" name="!!point1">
            <a:extLst>
              <a:ext uri="{FF2B5EF4-FFF2-40B4-BE49-F238E27FC236}">
                <a16:creationId xmlns:a16="http://schemas.microsoft.com/office/drawing/2014/main" id="{CF8B6646-11AB-442E-A969-8D08AF115C13}"/>
              </a:ext>
            </a:extLst>
          </p:cNvPr>
          <p:cNvSpPr/>
          <p:nvPr/>
        </p:nvSpPr>
        <p:spPr bwMode="auto">
          <a:xfrm>
            <a:off x="1080248" y="5278853"/>
            <a:ext cx="9869450" cy="849648"/>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a:solidFill>
                  <a:schemeClr val="tx1"/>
                </a:solidFill>
                <a:latin typeface="Arial" panose="020B0604020202020204" pitchFamily="34" charset="0"/>
                <a:cs typeface="Arial" panose="020B0604020202020204" pitchFamily="34" charset="0"/>
              </a:rPr>
              <a:t>Need for computational methods</a:t>
            </a:r>
          </a:p>
        </p:txBody>
      </p:sp>
      <p:sp>
        <p:nvSpPr>
          <p:cNvPr id="5" name="Rounded Rectangle 4">
            <a:extLst>
              <a:ext uri="{FF2B5EF4-FFF2-40B4-BE49-F238E27FC236}">
                <a16:creationId xmlns:a16="http://schemas.microsoft.com/office/drawing/2014/main" id="{50EEC1B4-F805-1B68-B714-BA7DD16DD7CB}"/>
              </a:ext>
            </a:extLst>
          </p:cNvPr>
          <p:cNvSpPr/>
          <p:nvPr/>
        </p:nvSpPr>
        <p:spPr bwMode="auto">
          <a:xfrm>
            <a:off x="1070594" y="2548429"/>
            <a:ext cx="9869450" cy="1073936"/>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a:solidFill>
                  <a:schemeClr val="tx1"/>
                </a:solidFill>
                <a:latin typeface="Arial" panose="020B0604020202020204" pitchFamily="34" charset="0"/>
                <a:cs typeface="Arial" panose="020B0604020202020204" pitchFamily="34" charset="0"/>
              </a:rPr>
              <a:t>Plant Scientists want to know – which gene is responsible for a trait?</a:t>
            </a:r>
          </a:p>
        </p:txBody>
      </p:sp>
    </p:spTree>
    <p:extLst>
      <p:ext uri="{BB962C8B-B14F-4D97-AF65-F5344CB8AC3E}">
        <p14:creationId xmlns:p14="http://schemas.microsoft.com/office/powerpoint/2010/main" val="29726146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35B6C-9D93-4FF4-17F2-8DFCC5599E3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D9E47E0-EA1E-6A0E-8A44-6371F70FEC7E}"/>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11</a:t>
            </a:fld>
            <a:endParaRPr lang="en-US">
              <a:solidFill>
                <a:srgbClr val="000000"/>
              </a:solidFill>
              <a:latin typeface="Segoe UI"/>
            </a:endParaRPr>
          </a:p>
        </p:txBody>
      </p:sp>
      <p:sp>
        <p:nvSpPr>
          <p:cNvPr id="9" name="!!2">
            <a:extLst>
              <a:ext uri="{FF2B5EF4-FFF2-40B4-BE49-F238E27FC236}">
                <a16:creationId xmlns:a16="http://schemas.microsoft.com/office/drawing/2014/main" id="{800208C9-B5DD-3208-B6EC-D751D859EA5F}"/>
              </a:ext>
            </a:extLst>
          </p:cNvPr>
          <p:cNvSpPr/>
          <p:nvPr/>
        </p:nvSpPr>
        <p:spPr bwMode="auto">
          <a:xfrm>
            <a:off x="43923" y="173108"/>
            <a:ext cx="5966223"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err="1">
                <a:solidFill>
                  <a:srgbClr val="1B4C9C"/>
                </a:solidFill>
                <a:latin typeface="Arial" panose="020B0604020202020204" pitchFamily="34" charset="0"/>
                <a:cs typeface="Arial" panose="020B0604020202020204" pitchFamily="34" charset="0"/>
              </a:rPr>
              <a:t>GeneSieve</a:t>
            </a:r>
            <a:r>
              <a:rPr lang="en-US" altLang="zh-CN" sz="4000" b="1">
                <a:solidFill>
                  <a:srgbClr val="1B4C9C"/>
                </a:solidFill>
                <a:latin typeface="Arial" panose="020B0604020202020204" pitchFamily="34" charset="0"/>
                <a:cs typeface="Arial" panose="020B0604020202020204" pitchFamily="34" charset="0"/>
              </a:rPr>
              <a:t> Overview</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5" name="!!point1">
            <a:extLst>
              <a:ext uri="{FF2B5EF4-FFF2-40B4-BE49-F238E27FC236}">
                <a16:creationId xmlns:a16="http://schemas.microsoft.com/office/drawing/2014/main" id="{5DEA62A5-C498-95D0-2113-01B6E2108B86}"/>
              </a:ext>
            </a:extLst>
          </p:cNvPr>
          <p:cNvSpPr/>
          <p:nvPr/>
        </p:nvSpPr>
        <p:spPr bwMode="auto">
          <a:xfrm>
            <a:off x="972431" y="1215416"/>
            <a:ext cx="10054798" cy="1161079"/>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dirty="0" err="1">
                <a:solidFill>
                  <a:schemeClr val="tx1"/>
                </a:solidFill>
                <a:latin typeface="Arial" panose="020B0604020202020204" pitchFamily="34" charset="0"/>
                <a:cs typeface="Arial" panose="020B0604020202020204" pitchFamily="34" charset="0"/>
              </a:rPr>
              <a:t>GeneSieve</a:t>
            </a:r>
            <a:r>
              <a:rPr lang="en-US" sz="3200" dirty="0">
                <a:solidFill>
                  <a:schemeClr val="tx1"/>
                </a:solidFill>
                <a:latin typeface="Arial" panose="020B0604020202020204" pitchFamily="34" charset="0"/>
                <a:cs typeface="Arial" panose="020B0604020202020204" pitchFamily="34" charset="0"/>
              </a:rPr>
              <a:t> prioritizes genes based on evidence for their causal role in a trait</a:t>
            </a:r>
          </a:p>
        </p:txBody>
      </p:sp>
      <p:sp>
        <p:nvSpPr>
          <p:cNvPr id="11" name="!!point1">
            <a:extLst>
              <a:ext uri="{FF2B5EF4-FFF2-40B4-BE49-F238E27FC236}">
                <a16:creationId xmlns:a16="http://schemas.microsoft.com/office/drawing/2014/main" id="{AF09BCF7-C1BA-51A0-2E5B-DC69EBD09AB6}"/>
              </a:ext>
            </a:extLst>
          </p:cNvPr>
          <p:cNvSpPr/>
          <p:nvPr/>
        </p:nvSpPr>
        <p:spPr bwMode="auto">
          <a:xfrm>
            <a:off x="972430" y="3984077"/>
            <a:ext cx="10054798" cy="2442602"/>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dirty="0">
                <a:solidFill>
                  <a:schemeClr val="tx1"/>
                </a:solidFill>
                <a:latin typeface="Arial" panose="020B0604020202020204" pitchFamily="34" charset="0"/>
                <a:cs typeface="Arial" panose="020B0604020202020204" pitchFamily="34" charset="0"/>
              </a:rPr>
              <a:t>TGAG integrates evidence collected from:</a:t>
            </a:r>
          </a:p>
          <a:p>
            <a:pPr marL="1066755" lvl="1" indent="-457200">
              <a:buFont typeface="Arial" panose="020B0604020202020204" pitchFamily="34" charset="0"/>
              <a:buChar char="•"/>
            </a:pPr>
            <a:r>
              <a:rPr lang="en-US" sz="2800">
                <a:solidFill>
                  <a:schemeClr val="tx1"/>
                </a:solidFill>
                <a:latin typeface="Arial" panose="020B0604020202020204" pitchFamily="34" charset="0"/>
                <a:cs typeface="Arial" panose="020B0604020202020204" pitchFamily="34" charset="0"/>
              </a:rPr>
              <a:t>Known trait-gene </a:t>
            </a:r>
            <a:r>
              <a:rPr lang="en-US" sz="2800" dirty="0">
                <a:solidFill>
                  <a:schemeClr val="tx1"/>
                </a:solidFill>
                <a:latin typeface="Arial" panose="020B0604020202020204" pitchFamily="34" charset="0"/>
                <a:cs typeface="Arial" panose="020B0604020202020204" pitchFamily="34" charset="0"/>
              </a:rPr>
              <a:t>associations </a:t>
            </a:r>
          </a:p>
          <a:p>
            <a:pPr marL="1066755" lvl="1" indent="-457200">
              <a:buFont typeface="Arial" panose="020B0604020202020204" pitchFamily="34" charset="0"/>
              <a:buChar char="•"/>
            </a:pPr>
            <a:r>
              <a:rPr lang="en-US" sz="2800">
                <a:solidFill>
                  <a:schemeClr val="tx1"/>
                </a:solidFill>
                <a:latin typeface="Arial" panose="020B0604020202020204" pitchFamily="34" charset="0"/>
                <a:cs typeface="Arial" panose="020B0604020202020204" pitchFamily="34" charset="0"/>
              </a:rPr>
              <a:t>Gene-gene </a:t>
            </a:r>
            <a:r>
              <a:rPr lang="en-US" sz="2800" dirty="0">
                <a:solidFill>
                  <a:schemeClr val="tx1"/>
                </a:solidFill>
                <a:latin typeface="Arial" panose="020B0604020202020204" pitchFamily="34" charset="0"/>
                <a:cs typeface="Arial" panose="020B0604020202020204" pitchFamily="34" charset="0"/>
              </a:rPr>
              <a:t>co-expression</a:t>
            </a:r>
          </a:p>
          <a:p>
            <a:pPr marL="1066755" lvl="1" indent="-457200">
              <a:buFont typeface="Arial" panose="020B0604020202020204" pitchFamily="34" charset="0"/>
              <a:buChar char="•"/>
            </a:pPr>
            <a:r>
              <a:rPr lang="en-US" sz="2800" dirty="0">
                <a:solidFill>
                  <a:schemeClr val="tx1"/>
                </a:solidFill>
                <a:latin typeface="Arial" panose="020B0604020202020204" pitchFamily="34" charset="0"/>
                <a:cs typeface="Arial" panose="020B0604020202020204" pitchFamily="34" charset="0"/>
              </a:rPr>
              <a:t>Trait-trait semantic similarity </a:t>
            </a:r>
          </a:p>
          <a:p>
            <a:pPr marL="1066755" lvl="1" indent="-457200">
              <a:buFont typeface="Arial" panose="020B0604020202020204" pitchFamily="34" charset="0"/>
              <a:buChar char="•"/>
            </a:pPr>
            <a:r>
              <a:rPr lang="en-US" sz="2800">
                <a:solidFill>
                  <a:schemeClr val="tx1"/>
                </a:solidFill>
                <a:latin typeface="Arial" panose="020B0604020202020204" pitchFamily="34" charset="0"/>
                <a:cs typeface="Arial" panose="020B0604020202020204" pitchFamily="34" charset="0"/>
              </a:rPr>
              <a:t>Gene-gene</a:t>
            </a:r>
            <a:r>
              <a:rPr lang="en-US" sz="2800" dirty="0">
                <a:solidFill>
                  <a:schemeClr val="tx1"/>
                </a:solidFill>
                <a:latin typeface="Arial" panose="020B0604020202020204" pitchFamily="34" charset="0"/>
                <a:cs typeface="Arial" panose="020B0604020202020204" pitchFamily="34" charset="0"/>
              </a:rPr>
              <a:t> sequence homology</a:t>
            </a:r>
          </a:p>
        </p:txBody>
      </p:sp>
      <p:sp>
        <p:nvSpPr>
          <p:cNvPr id="15" name="Rounded Rectangle 14">
            <a:extLst>
              <a:ext uri="{FF2B5EF4-FFF2-40B4-BE49-F238E27FC236}">
                <a16:creationId xmlns:a16="http://schemas.microsoft.com/office/drawing/2014/main" id="{31CA8DC2-CDA8-6F3A-B6EF-E72FAC25FB56}"/>
              </a:ext>
            </a:extLst>
          </p:cNvPr>
          <p:cNvSpPr/>
          <p:nvPr/>
        </p:nvSpPr>
        <p:spPr bwMode="auto">
          <a:xfrm>
            <a:off x="972430" y="2630338"/>
            <a:ext cx="10054799" cy="1161078"/>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dirty="0">
                <a:solidFill>
                  <a:schemeClr val="tx1"/>
                </a:solidFill>
                <a:latin typeface="Arial" panose="020B0604020202020204" pitchFamily="34" charset="0"/>
                <a:cs typeface="Arial" panose="020B0604020202020204" pitchFamily="34" charset="0"/>
              </a:rPr>
              <a:t>The evidence is represented using a data model called a Trait-Gene Association Graph (TGAG)</a:t>
            </a:r>
          </a:p>
        </p:txBody>
      </p:sp>
    </p:spTree>
    <p:extLst>
      <p:ext uri="{BB962C8B-B14F-4D97-AF65-F5344CB8AC3E}">
        <p14:creationId xmlns:p14="http://schemas.microsoft.com/office/powerpoint/2010/main" val="1746195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7C18-A511-556C-04B9-A89F3F14DF8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BC3EA49-C63A-3DFC-9890-D399EE9E7FAC}"/>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12</a:t>
            </a:fld>
            <a:endParaRPr lang="en-US">
              <a:solidFill>
                <a:srgbClr val="000000"/>
              </a:solidFill>
              <a:latin typeface="Segoe UI"/>
            </a:endParaRPr>
          </a:p>
        </p:txBody>
      </p:sp>
      <p:sp>
        <p:nvSpPr>
          <p:cNvPr id="9" name="!!2">
            <a:extLst>
              <a:ext uri="{FF2B5EF4-FFF2-40B4-BE49-F238E27FC236}">
                <a16:creationId xmlns:a16="http://schemas.microsoft.com/office/drawing/2014/main" id="{B0445AF6-92F9-34EA-1FAD-DF548269CE3C}"/>
              </a:ext>
            </a:extLst>
          </p:cNvPr>
          <p:cNvSpPr/>
          <p:nvPr/>
        </p:nvSpPr>
        <p:spPr bwMode="auto">
          <a:xfrm>
            <a:off x="43923" y="173108"/>
            <a:ext cx="5966223"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err="1">
                <a:solidFill>
                  <a:srgbClr val="1B4C9C"/>
                </a:solidFill>
                <a:latin typeface="Arial" panose="020B0604020202020204" pitchFamily="34" charset="0"/>
                <a:cs typeface="Arial" panose="020B0604020202020204" pitchFamily="34" charset="0"/>
              </a:rPr>
              <a:t>GeneSieve</a:t>
            </a:r>
            <a:r>
              <a:rPr lang="en-US" altLang="zh-CN" sz="4000" b="1">
                <a:solidFill>
                  <a:srgbClr val="1B4C9C"/>
                </a:solidFill>
                <a:latin typeface="Arial" panose="020B0604020202020204" pitchFamily="34" charset="0"/>
                <a:cs typeface="Arial" panose="020B0604020202020204" pitchFamily="34" charset="0"/>
              </a:rPr>
              <a:t> Overview</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2" name="Rounded Rectangle 1">
            <a:extLst>
              <a:ext uri="{FF2B5EF4-FFF2-40B4-BE49-F238E27FC236}">
                <a16:creationId xmlns:a16="http://schemas.microsoft.com/office/drawing/2014/main" id="{4CF578EB-6120-23B3-A623-22B51689D463}"/>
              </a:ext>
            </a:extLst>
          </p:cNvPr>
          <p:cNvSpPr/>
          <p:nvPr/>
        </p:nvSpPr>
        <p:spPr bwMode="auto">
          <a:xfrm>
            <a:off x="1166651" y="2678541"/>
            <a:ext cx="8978013" cy="1276656"/>
          </a:xfrm>
          <a:prstGeom prst="roundRect">
            <a:avLst>
              <a:gd name="adj" fmla="val 28944"/>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dirty="0" err="1">
                <a:solidFill>
                  <a:schemeClr val="tx1"/>
                </a:solidFill>
                <a:latin typeface="Arial" panose="020B0604020202020204" pitchFamily="34" charset="0"/>
                <a:cs typeface="Arial" panose="020B0604020202020204" pitchFamily="34" charset="0"/>
              </a:rPr>
              <a:t>GeneSieve</a:t>
            </a:r>
            <a:r>
              <a:rPr lang="en-US" sz="3200" dirty="0">
                <a:solidFill>
                  <a:schemeClr val="tx1"/>
                </a:solidFill>
                <a:latin typeface="Arial" panose="020B0604020202020204" pitchFamily="34" charset="0"/>
                <a:cs typeface="Arial" panose="020B0604020202020204" pitchFamily="34" charset="0"/>
              </a:rPr>
              <a:t> provides a </a:t>
            </a:r>
            <a:r>
              <a:rPr lang="en-US" sz="3200">
                <a:solidFill>
                  <a:schemeClr val="tx1"/>
                </a:solidFill>
                <a:latin typeface="Arial" panose="020B0604020202020204" pitchFamily="34" charset="0"/>
                <a:cs typeface="Arial" panose="020B0604020202020204" pitchFamily="34" charset="0"/>
              </a:rPr>
              <a:t>web interface</a:t>
            </a:r>
            <a:r>
              <a:rPr lang="en-US" sz="3200" dirty="0">
                <a:solidFill>
                  <a:schemeClr val="tx1"/>
                </a:solidFill>
                <a:latin typeface="Arial" panose="020B0604020202020204" pitchFamily="34" charset="0"/>
                <a:cs typeface="Arial" panose="020B0604020202020204" pitchFamily="34" charset="0"/>
              </a:rPr>
              <a:t> to explore biological evidences connecting </a:t>
            </a:r>
            <a:r>
              <a:rPr lang="en-US" sz="3200">
                <a:solidFill>
                  <a:schemeClr val="tx1"/>
                </a:solidFill>
                <a:latin typeface="Arial" panose="020B0604020202020204" pitchFamily="34" charset="0"/>
                <a:cs typeface="Arial" panose="020B0604020202020204" pitchFamily="34" charset="0"/>
              </a:rPr>
              <a:t>traits </a:t>
            </a:r>
            <a:r>
              <a:rPr lang="en-US" sz="3200" dirty="0">
                <a:solidFill>
                  <a:schemeClr val="tx1"/>
                </a:solidFill>
                <a:latin typeface="Arial" panose="020B0604020202020204" pitchFamily="34" charset="0"/>
                <a:cs typeface="Arial" panose="020B0604020202020204" pitchFamily="34" charset="0"/>
              </a:rPr>
              <a:t>to </a:t>
            </a:r>
            <a:r>
              <a:rPr lang="en-US" sz="3200">
                <a:solidFill>
                  <a:schemeClr val="tx1"/>
                </a:solidFill>
                <a:latin typeface="Arial" panose="020B0604020202020204" pitchFamily="34" charset="0"/>
                <a:cs typeface="Arial" panose="020B0604020202020204" pitchFamily="34" charset="0"/>
              </a:rPr>
              <a:t>genes</a:t>
            </a:r>
            <a:endParaRPr lang="en-US" sz="3200" dirty="0">
              <a:solidFill>
                <a:schemeClr val="tx1"/>
              </a:solidFill>
              <a:latin typeface="Arial" panose="020B0604020202020204" pitchFamily="34" charset="0"/>
              <a:cs typeface="Arial" panose="020B0604020202020204" pitchFamily="34" charset="0"/>
            </a:endParaRPr>
          </a:p>
        </p:txBody>
      </p:sp>
      <p:sp>
        <p:nvSpPr>
          <p:cNvPr id="5" name="Rounded Rectangle 4">
            <a:extLst>
              <a:ext uri="{FF2B5EF4-FFF2-40B4-BE49-F238E27FC236}">
                <a16:creationId xmlns:a16="http://schemas.microsoft.com/office/drawing/2014/main" id="{C67E70B1-3AA2-A7D0-892A-4FDE7E32D68E}"/>
              </a:ext>
            </a:extLst>
          </p:cNvPr>
          <p:cNvSpPr/>
          <p:nvPr/>
        </p:nvSpPr>
        <p:spPr bwMode="auto">
          <a:xfrm>
            <a:off x="1166652" y="4512374"/>
            <a:ext cx="8978011" cy="719760"/>
          </a:xfrm>
          <a:prstGeom prst="roundRect">
            <a:avLst>
              <a:gd name="adj" fmla="val 36377"/>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dirty="0">
                <a:solidFill>
                  <a:schemeClr val="tx1"/>
                </a:solidFill>
                <a:latin typeface="Arial" panose="020B0604020202020204" pitchFamily="34" charset="0"/>
                <a:cs typeface="Arial" panose="020B0604020202020204" pitchFamily="34" charset="0"/>
              </a:rPr>
              <a:t>Website live at </a:t>
            </a:r>
            <a:r>
              <a:rPr lang="en-US" sz="3200" dirty="0">
                <a:solidFill>
                  <a:schemeClr val="tx1"/>
                </a:solidFill>
                <a:latin typeface="Arial" panose="020B0604020202020204" pitchFamily="34" charset="0"/>
                <a:cs typeface="Arial" panose="020B0604020202020204" pitchFamily="34" charset="0"/>
                <a:hlinkClick r:id="rId3"/>
              </a:rPr>
              <a:t>http://idir.uta.edu/genesieve</a:t>
            </a:r>
            <a:endParaRPr lang="en-US" sz="3200" dirty="0">
              <a:solidFill>
                <a:schemeClr val="tx1"/>
              </a:solidFill>
              <a:latin typeface="Arial" panose="020B0604020202020204" pitchFamily="34" charset="0"/>
              <a:cs typeface="Arial" panose="020B0604020202020204" pitchFamily="34" charset="0"/>
            </a:endParaRPr>
          </a:p>
        </p:txBody>
      </p:sp>
      <p:sp>
        <p:nvSpPr>
          <p:cNvPr id="6" name="!!point1">
            <a:extLst>
              <a:ext uri="{FF2B5EF4-FFF2-40B4-BE49-F238E27FC236}">
                <a16:creationId xmlns:a16="http://schemas.microsoft.com/office/drawing/2014/main" id="{91CC0826-331E-44EB-6E4A-A1B295CBAD34}"/>
              </a:ext>
            </a:extLst>
          </p:cNvPr>
          <p:cNvSpPr/>
          <p:nvPr/>
        </p:nvSpPr>
        <p:spPr bwMode="auto">
          <a:xfrm>
            <a:off x="1166651" y="1189094"/>
            <a:ext cx="8978012" cy="100690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err="1">
                <a:solidFill>
                  <a:schemeClr val="tx1"/>
                </a:solidFill>
                <a:latin typeface="Arial" panose="020B0604020202020204" pitchFamily="34" charset="0"/>
                <a:cs typeface="Arial" panose="020B0604020202020204" pitchFamily="34" charset="0"/>
              </a:rPr>
              <a:t>GeneSieve</a:t>
            </a:r>
            <a:r>
              <a:rPr lang="en-US" sz="3200">
                <a:solidFill>
                  <a:schemeClr val="tx1"/>
                </a:solidFill>
                <a:latin typeface="Arial" panose="020B0604020202020204" pitchFamily="34" charset="0"/>
                <a:cs typeface="Arial" panose="020B0604020202020204" pitchFamily="34" charset="0"/>
              </a:rPr>
              <a:t> uses relational</a:t>
            </a:r>
            <a:r>
              <a:rPr lang="en-US" sz="3200" dirty="0">
                <a:solidFill>
                  <a:schemeClr val="tx1"/>
                </a:solidFill>
                <a:latin typeface="Arial" panose="020B0604020202020204" pitchFamily="34" charset="0"/>
                <a:cs typeface="Arial" panose="020B0604020202020204" pitchFamily="34" charset="0"/>
              </a:rPr>
              <a:t> GCN to prioritize genes </a:t>
            </a:r>
          </a:p>
        </p:txBody>
      </p:sp>
    </p:spTree>
    <p:extLst>
      <p:ext uri="{BB962C8B-B14F-4D97-AF65-F5344CB8AC3E}">
        <p14:creationId xmlns:p14="http://schemas.microsoft.com/office/powerpoint/2010/main" val="42757054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0D97D-E8F0-4EB4-7D47-D032640BF770}"/>
            </a:ext>
          </a:extLst>
        </p:cNvPr>
        <p:cNvGrpSpPr/>
        <p:nvPr/>
      </p:nvGrpSpPr>
      <p:grpSpPr>
        <a:xfrm>
          <a:off x="0" y="0"/>
          <a:ext cx="0" cy="0"/>
          <a:chOff x="0" y="0"/>
          <a:chExt cx="0" cy="0"/>
        </a:xfrm>
      </p:grpSpPr>
      <p:sp>
        <p:nvSpPr>
          <p:cNvPr id="15" name="Rounded Rectangle 14">
            <a:extLst>
              <a:ext uri="{FF2B5EF4-FFF2-40B4-BE49-F238E27FC236}">
                <a16:creationId xmlns:a16="http://schemas.microsoft.com/office/drawing/2014/main" id="{8A885F93-0554-C4D2-7C6B-3C0F0573E705}"/>
              </a:ext>
            </a:extLst>
          </p:cNvPr>
          <p:cNvSpPr/>
          <p:nvPr/>
        </p:nvSpPr>
        <p:spPr bwMode="auto">
          <a:xfrm>
            <a:off x="879895" y="4430705"/>
            <a:ext cx="10035057" cy="1564486"/>
          </a:xfrm>
          <a:prstGeom prst="roundRect">
            <a:avLst>
              <a:gd name="adj" fmla="val 9082"/>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dirty="0">
              <a:solidFill>
                <a:schemeClr val="tx1"/>
              </a:solidFill>
              <a:latin typeface="Arial" panose="020B0604020202020204" pitchFamily="34" charset="0"/>
              <a:cs typeface="Arial" panose="020B0604020202020204" pitchFamily="34" charset="0"/>
            </a:endParaRPr>
          </a:p>
          <a:p>
            <a:r>
              <a:rPr lang="en-US" sz="3200" dirty="0">
                <a:solidFill>
                  <a:schemeClr val="tx1"/>
                </a:solidFill>
                <a:latin typeface="Arial" panose="020B0604020202020204" pitchFamily="34" charset="0"/>
                <a:cs typeface="Arial" panose="020B0604020202020204" pitchFamily="34" charset="0"/>
              </a:rPr>
              <a:t>Browse benchmark TGAGs for queries with candidate gene sets containing an experimentally validated causal gene </a:t>
            </a:r>
          </a:p>
          <a:p>
            <a:endParaRPr lang="en-US" sz="320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C0AE7C7-DB6A-0C40-83A4-6B5BB22BC96F}"/>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13</a:t>
            </a:fld>
            <a:endParaRPr lang="en-US">
              <a:solidFill>
                <a:srgbClr val="000000"/>
              </a:solidFill>
              <a:latin typeface="Segoe UI"/>
            </a:endParaRPr>
          </a:p>
        </p:txBody>
      </p:sp>
      <p:sp>
        <p:nvSpPr>
          <p:cNvPr id="9" name="!!2">
            <a:extLst>
              <a:ext uri="{FF2B5EF4-FFF2-40B4-BE49-F238E27FC236}">
                <a16:creationId xmlns:a16="http://schemas.microsoft.com/office/drawing/2014/main" id="{3894DD1C-0B48-2C1A-37F1-68D33E5D2283}"/>
              </a:ext>
            </a:extLst>
          </p:cNvPr>
          <p:cNvSpPr/>
          <p:nvPr/>
        </p:nvSpPr>
        <p:spPr bwMode="auto">
          <a:xfrm>
            <a:off x="43923" y="173108"/>
            <a:ext cx="754487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err="1">
                <a:solidFill>
                  <a:srgbClr val="1B4C9C"/>
                </a:solidFill>
                <a:latin typeface="Arial" panose="020B0604020202020204" pitchFamily="34" charset="0"/>
                <a:cs typeface="Arial" panose="020B0604020202020204" pitchFamily="34" charset="0"/>
              </a:rPr>
              <a:t>GeneSieve</a:t>
            </a:r>
            <a:r>
              <a:rPr lang="en-US" altLang="zh-CN" sz="4000" b="1">
                <a:solidFill>
                  <a:srgbClr val="1B4C9C"/>
                </a:solidFill>
                <a:latin typeface="Arial" panose="020B0604020202020204" pitchFamily="34" charset="0"/>
                <a:cs typeface="Arial" panose="020B0604020202020204" pitchFamily="34" charset="0"/>
              </a:rPr>
              <a:t> Web</a:t>
            </a:r>
            <a:r>
              <a:rPr lang="en-US" altLang="zh-CN" sz="4000" b="1" dirty="0">
                <a:solidFill>
                  <a:srgbClr val="1B4C9C"/>
                </a:solidFill>
                <a:latin typeface="Arial" panose="020B0604020202020204" pitchFamily="34" charset="0"/>
                <a:cs typeface="Arial" panose="020B0604020202020204" pitchFamily="34" charset="0"/>
              </a:rPr>
              <a:t> Interface</a:t>
            </a:r>
            <a:endParaRPr lang="en-US" sz="4000" b="1" spc="-67" dirty="0">
              <a:solidFill>
                <a:srgbClr val="1B4C9C"/>
              </a:solidFill>
              <a:latin typeface="Arial" panose="020B0604020202020204" pitchFamily="34" charset="0"/>
              <a:ea typeface="Segoe UI" pitchFamily="34" charset="0"/>
              <a:cs typeface="Arial" panose="020B0604020202020204" pitchFamily="34" charset="0"/>
            </a:endParaRPr>
          </a:p>
        </p:txBody>
      </p:sp>
      <p:sp>
        <p:nvSpPr>
          <p:cNvPr id="2" name="Rounded Rectangle 1">
            <a:extLst>
              <a:ext uri="{FF2B5EF4-FFF2-40B4-BE49-F238E27FC236}">
                <a16:creationId xmlns:a16="http://schemas.microsoft.com/office/drawing/2014/main" id="{8D351AE3-1EBE-7EC0-971D-C40D8312B997}"/>
              </a:ext>
            </a:extLst>
          </p:cNvPr>
          <p:cNvSpPr/>
          <p:nvPr/>
        </p:nvSpPr>
        <p:spPr bwMode="auto">
          <a:xfrm>
            <a:off x="879896" y="1359438"/>
            <a:ext cx="10035056" cy="1067857"/>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dirty="0">
                <a:solidFill>
                  <a:schemeClr val="tx1"/>
                </a:solidFill>
                <a:latin typeface="Arial" panose="020B0604020202020204" pitchFamily="34" charset="0"/>
                <a:cs typeface="Arial" panose="020B0604020202020204" pitchFamily="34" charset="0"/>
              </a:rPr>
              <a:t>Users can submit queries (</a:t>
            </a:r>
            <a:r>
              <a:rPr lang="en-US" sz="3200">
                <a:solidFill>
                  <a:schemeClr val="tx1"/>
                </a:solidFill>
                <a:latin typeface="Arial" panose="020B0604020202020204" pitchFamily="34" charset="0"/>
                <a:cs typeface="Arial" panose="020B0604020202020204" pitchFamily="34" charset="0"/>
              </a:rPr>
              <a:t>natural language trait </a:t>
            </a:r>
            <a:r>
              <a:rPr lang="en-US" sz="3200" dirty="0">
                <a:solidFill>
                  <a:schemeClr val="tx1"/>
                </a:solidFill>
                <a:latin typeface="Arial" panose="020B0604020202020204" pitchFamily="34" charset="0"/>
                <a:cs typeface="Arial" panose="020B0604020202020204" pitchFamily="34" charset="0"/>
              </a:rPr>
              <a:t>+ </a:t>
            </a:r>
            <a:r>
              <a:rPr lang="en-US" sz="3200">
                <a:solidFill>
                  <a:schemeClr val="tx1"/>
                </a:solidFill>
                <a:latin typeface="Arial" panose="020B0604020202020204" pitchFamily="34" charset="0"/>
                <a:cs typeface="Arial" panose="020B0604020202020204" pitchFamily="34" charset="0"/>
              </a:rPr>
              <a:t>candidate</a:t>
            </a:r>
            <a:r>
              <a:rPr lang="en-US" sz="3200" dirty="0">
                <a:solidFill>
                  <a:schemeClr val="tx1"/>
                </a:solidFill>
                <a:latin typeface="Arial" panose="020B0604020202020204" pitchFamily="34" charset="0"/>
                <a:cs typeface="Arial" panose="020B0604020202020204" pitchFamily="34" charset="0"/>
              </a:rPr>
              <a:t> </a:t>
            </a:r>
            <a:r>
              <a:rPr lang="en-US" sz="3200">
                <a:solidFill>
                  <a:schemeClr val="tx1"/>
                </a:solidFill>
                <a:latin typeface="Arial" panose="020B0604020202020204" pitchFamily="34" charset="0"/>
                <a:cs typeface="Arial" panose="020B0604020202020204" pitchFamily="34" charset="0"/>
              </a:rPr>
              <a:t>gene set</a:t>
            </a:r>
            <a:r>
              <a:rPr lang="en-US" sz="3200" dirty="0">
                <a:solidFill>
                  <a:schemeClr val="tx1"/>
                </a:solidFill>
                <a:latin typeface="Arial" panose="020B0604020202020204" pitchFamily="34" charset="0"/>
                <a:cs typeface="Arial" panose="020B0604020202020204" pitchFamily="34" charset="0"/>
              </a:rPr>
              <a:t>)</a:t>
            </a:r>
          </a:p>
        </p:txBody>
      </p:sp>
      <p:sp>
        <p:nvSpPr>
          <p:cNvPr id="3" name="Rounded Rectangle 2">
            <a:extLst>
              <a:ext uri="{FF2B5EF4-FFF2-40B4-BE49-F238E27FC236}">
                <a16:creationId xmlns:a16="http://schemas.microsoft.com/office/drawing/2014/main" id="{741A647D-F22F-C308-0762-1207887A8625}"/>
              </a:ext>
            </a:extLst>
          </p:cNvPr>
          <p:cNvSpPr/>
          <p:nvPr/>
        </p:nvSpPr>
        <p:spPr bwMode="auto">
          <a:xfrm>
            <a:off x="879894" y="2895071"/>
            <a:ext cx="10035057" cy="1067857"/>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dirty="0">
                <a:solidFill>
                  <a:schemeClr val="tx1"/>
                </a:solidFill>
                <a:latin typeface="Arial" panose="020B0604020202020204" pitchFamily="34" charset="0"/>
                <a:cs typeface="Arial" panose="020B0604020202020204" pitchFamily="34" charset="0"/>
              </a:rPr>
              <a:t>View ranked candidates and their Trait-Gene Association Graphs (TGAGs)</a:t>
            </a:r>
          </a:p>
        </p:txBody>
      </p:sp>
    </p:spTree>
    <p:extLst>
      <p:ext uri="{BB962C8B-B14F-4D97-AF65-F5344CB8AC3E}">
        <p14:creationId xmlns:p14="http://schemas.microsoft.com/office/powerpoint/2010/main" val="2472164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 grpId="0" animBg="1"/>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D12A9-6CDF-74AC-C30C-2B1B7988F78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DE4179F-5F0B-A513-2980-8ACC83CE7BC1}"/>
              </a:ext>
            </a:extLst>
          </p:cNvPr>
          <p:cNvPicPr>
            <a:picLocks noChangeAspect="1"/>
          </p:cNvPicPr>
          <p:nvPr/>
        </p:nvPicPr>
        <p:blipFill>
          <a:blip r:embed="rId3"/>
          <a:stretch>
            <a:fillRect/>
          </a:stretch>
        </p:blipFill>
        <p:spPr>
          <a:xfrm>
            <a:off x="483120" y="1226932"/>
            <a:ext cx="11054051" cy="4056531"/>
          </a:xfrm>
          <a:prstGeom prst="rect">
            <a:avLst/>
          </a:prstGeom>
        </p:spPr>
      </p:pic>
      <p:sp>
        <p:nvSpPr>
          <p:cNvPr id="4" name="Slide Number Placeholder 3">
            <a:extLst>
              <a:ext uri="{FF2B5EF4-FFF2-40B4-BE49-F238E27FC236}">
                <a16:creationId xmlns:a16="http://schemas.microsoft.com/office/drawing/2014/main" id="{A685C47C-FBBE-0F0C-BEF0-F3E99F77DC1F}"/>
              </a:ext>
            </a:extLst>
          </p:cNvPr>
          <p:cNvSpPr>
            <a:spLocks noGrp="1"/>
          </p:cNvSpPr>
          <p:nvPr>
            <p:ph type="sldNum" sz="quarter" idx="10"/>
          </p:nvPr>
        </p:nvSpPr>
        <p:spPr>
          <a:xfrm>
            <a:off x="9448800" y="6491820"/>
            <a:ext cx="2743200" cy="366183"/>
          </a:xfrm>
        </p:spPr>
        <p:txBody>
          <a:bodyPr/>
          <a:lstStyle/>
          <a:p>
            <a:pPr defTabSz="914661">
              <a:defRPr/>
            </a:pPr>
            <a:fld id="{FC2EED17-1836-6142-A4B1-ABB9C7C22E41}" type="slidenum">
              <a:rPr lang="en-US">
                <a:solidFill>
                  <a:srgbClr val="000000"/>
                </a:solidFill>
                <a:latin typeface="Segoe UI"/>
              </a:rPr>
              <a:pPr defTabSz="914661">
                <a:defRPr/>
              </a:pPr>
              <a:t>14</a:t>
            </a:fld>
            <a:endParaRPr lang="en-US">
              <a:solidFill>
                <a:srgbClr val="000000"/>
              </a:solidFill>
              <a:latin typeface="Segoe UI"/>
            </a:endParaRPr>
          </a:p>
        </p:txBody>
      </p:sp>
      <p:sp>
        <p:nvSpPr>
          <p:cNvPr id="5" name="!!descbox">
            <a:extLst>
              <a:ext uri="{FF2B5EF4-FFF2-40B4-BE49-F238E27FC236}">
                <a16:creationId xmlns:a16="http://schemas.microsoft.com/office/drawing/2014/main" id="{3038E16E-87FA-5BAC-5EA4-20391E36F80B}"/>
              </a:ext>
            </a:extLst>
          </p:cNvPr>
          <p:cNvSpPr/>
          <p:nvPr/>
        </p:nvSpPr>
        <p:spPr bwMode="auto">
          <a:xfrm>
            <a:off x="280331" y="5487640"/>
            <a:ext cx="2015754"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Input Trait</a:t>
            </a:r>
          </a:p>
        </p:txBody>
      </p:sp>
      <p:sp>
        <p:nvSpPr>
          <p:cNvPr id="10" name="Rounded Rectangle 9">
            <a:extLst>
              <a:ext uri="{FF2B5EF4-FFF2-40B4-BE49-F238E27FC236}">
                <a16:creationId xmlns:a16="http://schemas.microsoft.com/office/drawing/2014/main" id="{7AC5D774-1A45-8D34-EEF8-E627749284F2}"/>
              </a:ext>
            </a:extLst>
          </p:cNvPr>
          <p:cNvSpPr/>
          <p:nvPr/>
        </p:nvSpPr>
        <p:spPr bwMode="auto">
          <a:xfrm>
            <a:off x="2856875" y="5492786"/>
            <a:ext cx="1344656"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Traits</a:t>
            </a:r>
          </a:p>
        </p:txBody>
      </p:sp>
      <p:sp>
        <p:nvSpPr>
          <p:cNvPr id="11" name="Rounded Rectangle 10">
            <a:extLst>
              <a:ext uri="{FF2B5EF4-FFF2-40B4-BE49-F238E27FC236}">
                <a16:creationId xmlns:a16="http://schemas.microsoft.com/office/drawing/2014/main" id="{06CB911B-D260-7428-79B4-D82E9B66C5C8}"/>
              </a:ext>
            </a:extLst>
          </p:cNvPr>
          <p:cNvSpPr/>
          <p:nvPr/>
        </p:nvSpPr>
        <p:spPr bwMode="auto">
          <a:xfrm>
            <a:off x="6108589" y="5497057"/>
            <a:ext cx="1475732" cy="763929"/>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Genes</a:t>
            </a:r>
          </a:p>
        </p:txBody>
      </p:sp>
      <p:sp>
        <p:nvSpPr>
          <p:cNvPr id="12" name="Rounded Rectangle 11">
            <a:extLst>
              <a:ext uri="{FF2B5EF4-FFF2-40B4-BE49-F238E27FC236}">
                <a16:creationId xmlns:a16="http://schemas.microsoft.com/office/drawing/2014/main" id="{31324D44-8EA9-EF28-0D9E-E8D324138205}"/>
              </a:ext>
            </a:extLst>
          </p:cNvPr>
          <p:cNvSpPr/>
          <p:nvPr/>
        </p:nvSpPr>
        <p:spPr bwMode="auto">
          <a:xfrm>
            <a:off x="9034381" y="5482764"/>
            <a:ext cx="2987157"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Candidate Gene</a:t>
            </a:r>
          </a:p>
        </p:txBody>
      </p:sp>
      <p:cxnSp>
        <p:nvCxnSpPr>
          <p:cNvPr id="15" name="Straight Connector 14">
            <a:extLst>
              <a:ext uri="{FF2B5EF4-FFF2-40B4-BE49-F238E27FC236}">
                <a16:creationId xmlns:a16="http://schemas.microsoft.com/office/drawing/2014/main" id="{A1B78DA5-1E0B-CB19-C384-225A2F111B56}"/>
              </a:ext>
            </a:extLst>
          </p:cNvPr>
          <p:cNvCxnSpPr>
            <a:cxnSpLocks/>
          </p:cNvCxnSpPr>
          <p:nvPr/>
        </p:nvCxnSpPr>
        <p:spPr>
          <a:xfrm>
            <a:off x="2461549" y="1139745"/>
            <a:ext cx="0" cy="5191607"/>
          </a:xfrm>
          <a:prstGeom prst="line">
            <a:avLst/>
          </a:prstGeom>
          <a:ln w="38100">
            <a:solidFill>
              <a:srgbClr val="E7E7E7"/>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D161515-70CF-8F84-DFF0-6D5B851FAA58}"/>
              </a:ext>
            </a:extLst>
          </p:cNvPr>
          <p:cNvCxnSpPr>
            <a:cxnSpLocks/>
          </p:cNvCxnSpPr>
          <p:nvPr/>
        </p:nvCxnSpPr>
        <p:spPr>
          <a:xfrm>
            <a:off x="4735126" y="1139743"/>
            <a:ext cx="0" cy="5191607"/>
          </a:xfrm>
          <a:prstGeom prst="line">
            <a:avLst/>
          </a:prstGeom>
          <a:ln w="38100">
            <a:solidFill>
              <a:srgbClr val="E7E7E7"/>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C4C7656-85F1-3785-BBC2-5341446BFEAA}"/>
              </a:ext>
            </a:extLst>
          </p:cNvPr>
          <p:cNvCxnSpPr>
            <a:cxnSpLocks/>
          </p:cNvCxnSpPr>
          <p:nvPr/>
        </p:nvCxnSpPr>
        <p:spPr>
          <a:xfrm>
            <a:off x="8957784" y="1139743"/>
            <a:ext cx="0" cy="5191607"/>
          </a:xfrm>
          <a:prstGeom prst="line">
            <a:avLst/>
          </a:prstGeom>
          <a:ln w="38100">
            <a:solidFill>
              <a:srgbClr val="E7E7E7"/>
            </a:solidFill>
          </a:ln>
        </p:spPr>
        <p:style>
          <a:lnRef idx="1">
            <a:schemeClr val="accent1"/>
          </a:lnRef>
          <a:fillRef idx="0">
            <a:schemeClr val="accent1"/>
          </a:fillRef>
          <a:effectRef idx="0">
            <a:schemeClr val="accent1"/>
          </a:effectRef>
          <a:fontRef idx="minor">
            <a:schemeClr val="tx1"/>
          </a:fontRef>
        </p:style>
      </p:cxnSp>
      <p:sp>
        <p:nvSpPr>
          <p:cNvPr id="3" name="!!2">
            <a:extLst>
              <a:ext uri="{FF2B5EF4-FFF2-40B4-BE49-F238E27FC236}">
                <a16:creationId xmlns:a16="http://schemas.microsoft.com/office/drawing/2014/main" id="{6EDDCE86-8DDE-C139-E9F1-E69E0DB34021}"/>
              </a:ext>
            </a:extLst>
          </p:cNvPr>
          <p:cNvSpPr/>
          <p:nvPr/>
        </p:nvSpPr>
        <p:spPr bwMode="auto">
          <a:xfrm>
            <a:off x="43923" y="173108"/>
            <a:ext cx="984167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 (TGAG)</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Tree>
    <p:extLst>
      <p:ext uri="{BB962C8B-B14F-4D97-AF65-F5344CB8AC3E}">
        <p14:creationId xmlns:p14="http://schemas.microsoft.com/office/powerpoint/2010/main" val="32796262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5AB50-9FB8-0BFA-2214-AB86B422D9F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5029369-9DCE-FB26-648A-360C83DF67E9}"/>
              </a:ext>
            </a:extLst>
          </p:cNvPr>
          <p:cNvPicPr>
            <a:picLocks noChangeAspect="1"/>
          </p:cNvPicPr>
          <p:nvPr/>
        </p:nvPicPr>
        <p:blipFill>
          <a:blip r:embed="rId3"/>
          <a:stretch>
            <a:fillRect/>
          </a:stretch>
        </p:blipFill>
        <p:spPr>
          <a:xfrm>
            <a:off x="483120" y="1226932"/>
            <a:ext cx="11054051" cy="4056531"/>
          </a:xfrm>
          <a:prstGeom prst="rect">
            <a:avLst/>
          </a:prstGeom>
        </p:spPr>
      </p:pic>
      <p:sp>
        <p:nvSpPr>
          <p:cNvPr id="4" name="Slide Number Placeholder 3">
            <a:extLst>
              <a:ext uri="{FF2B5EF4-FFF2-40B4-BE49-F238E27FC236}">
                <a16:creationId xmlns:a16="http://schemas.microsoft.com/office/drawing/2014/main" id="{205C9ED9-1383-2F68-E883-85ACB7F2B3E1}"/>
              </a:ext>
            </a:extLst>
          </p:cNvPr>
          <p:cNvSpPr>
            <a:spLocks noGrp="1"/>
          </p:cNvSpPr>
          <p:nvPr>
            <p:ph type="sldNum" sz="quarter" idx="10"/>
          </p:nvPr>
        </p:nvSpPr>
        <p:spPr>
          <a:xfrm>
            <a:off x="9448800" y="6491820"/>
            <a:ext cx="2743200" cy="366183"/>
          </a:xfrm>
        </p:spPr>
        <p:txBody>
          <a:bodyPr/>
          <a:lstStyle/>
          <a:p>
            <a:pPr defTabSz="914661">
              <a:defRPr/>
            </a:pPr>
            <a:fld id="{FC2EED17-1836-6142-A4B1-ABB9C7C22E41}" type="slidenum">
              <a:rPr lang="en-US">
                <a:solidFill>
                  <a:srgbClr val="000000"/>
                </a:solidFill>
                <a:latin typeface="Segoe UI"/>
              </a:rPr>
              <a:pPr defTabSz="914661">
                <a:defRPr/>
              </a:pPr>
              <a:t>15</a:t>
            </a:fld>
            <a:endParaRPr lang="en-US">
              <a:solidFill>
                <a:srgbClr val="000000"/>
              </a:solidFill>
              <a:latin typeface="Segoe UI"/>
            </a:endParaRPr>
          </a:p>
        </p:txBody>
      </p:sp>
      <p:sp>
        <p:nvSpPr>
          <p:cNvPr id="9" name="!!2">
            <a:extLst>
              <a:ext uri="{FF2B5EF4-FFF2-40B4-BE49-F238E27FC236}">
                <a16:creationId xmlns:a16="http://schemas.microsoft.com/office/drawing/2014/main" id="{7115B6E6-0F14-EDAB-1843-F3BF572DE806}"/>
              </a:ext>
            </a:extLst>
          </p:cNvPr>
          <p:cNvSpPr/>
          <p:nvPr/>
        </p:nvSpPr>
        <p:spPr bwMode="auto">
          <a:xfrm>
            <a:off x="43923" y="173108"/>
            <a:ext cx="984167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 (TGAG)</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5" name="!!descbox">
            <a:extLst>
              <a:ext uri="{FF2B5EF4-FFF2-40B4-BE49-F238E27FC236}">
                <a16:creationId xmlns:a16="http://schemas.microsoft.com/office/drawing/2014/main" id="{74168A48-2428-ECBF-2C7F-35A2888624BF}"/>
              </a:ext>
            </a:extLst>
          </p:cNvPr>
          <p:cNvSpPr/>
          <p:nvPr/>
        </p:nvSpPr>
        <p:spPr bwMode="auto">
          <a:xfrm>
            <a:off x="524907" y="5706527"/>
            <a:ext cx="2658727"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Trait Similarity</a:t>
            </a:r>
          </a:p>
        </p:txBody>
      </p:sp>
      <p:sp>
        <p:nvSpPr>
          <p:cNvPr id="2" name="!!box">
            <a:extLst>
              <a:ext uri="{FF2B5EF4-FFF2-40B4-BE49-F238E27FC236}">
                <a16:creationId xmlns:a16="http://schemas.microsoft.com/office/drawing/2014/main" id="{2DD8F666-A8EE-7B76-6DD7-349AB900FA12}"/>
              </a:ext>
            </a:extLst>
          </p:cNvPr>
          <p:cNvSpPr/>
          <p:nvPr/>
        </p:nvSpPr>
        <p:spPr bwMode="auto">
          <a:xfrm>
            <a:off x="1057396" y="1165541"/>
            <a:ext cx="1572768" cy="4465527"/>
          </a:xfrm>
          <a:prstGeom prst="rect">
            <a:avLst/>
          </a:prstGeom>
          <a:solidFill>
            <a:srgbClr val="82E0AA">
              <a:alpha val="36863"/>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7" name="!!descbox">
            <a:extLst>
              <a:ext uri="{FF2B5EF4-FFF2-40B4-BE49-F238E27FC236}">
                <a16:creationId xmlns:a16="http://schemas.microsoft.com/office/drawing/2014/main" id="{475D1F8C-78AB-A174-83D5-1DD4BA37723E}"/>
              </a:ext>
            </a:extLst>
          </p:cNvPr>
          <p:cNvSpPr/>
          <p:nvPr/>
        </p:nvSpPr>
        <p:spPr bwMode="auto">
          <a:xfrm>
            <a:off x="43923" y="880812"/>
            <a:ext cx="2015754"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Input Trait</a:t>
            </a:r>
          </a:p>
        </p:txBody>
      </p:sp>
      <p:sp>
        <p:nvSpPr>
          <p:cNvPr id="8" name="Rounded Rectangle 7">
            <a:extLst>
              <a:ext uri="{FF2B5EF4-FFF2-40B4-BE49-F238E27FC236}">
                <a16:creationId xmlns:a16="http://schemas.microsoft.com/office/drawing/2014/main" id="{D6D81ECE-7FAE-3861-253C-6B05D3BF24E9}"/>
              </a:ext>
            </a:extLst>
          </p:cNvPr>
          <p:cNvSpPr/>
          <p:nvPr/>
        </p:nvSpPr>
        <p:spPr bwMode="auto">
          <a:xfrm>
            <a:off x="2620467" y="885958"/>
            <a:ext cx="1344656"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Traits</a:t>
            </a:r>
          </a:p>
        </p:txBody>
      </p:sp>
      <p:sp>
        <p:nvSpPr>
          <p:cNvPr id="10" name="Rounded Rectangle 9">
            <a:extLst>
              <a:ext uri="{FF2B5EF4-FFF2-40B4-BE49-F238E27FC236}">
                <a16:creationId xmlns:a16="http://schemas.microsoft.com/office/drawing/2014/main" id="{B6B24069-5BD5-3405-26B3-697ABD533314}"/>
              </a:ext>
            </a:extLst>
          </p:cNvPr>
          <p:cNvSpPr/>
          <p:nvPr/>
        </p:nvSpPr>
        <p:spPr bwMode="auto">
          <a:xfrm>
            <a:off x="5872181" y="890229"/>
            <a:ext cx="1475732" cy="763929"/>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Genes</a:t>
            </a:r>
          </a:p>
        </p:txBody>
      </p:sp>
      <p:sp>
        <p:nvSpPr>
          <p:cNvPr id="11" name="Rounded Rectangle 10">
            <a:extLst>
              <a:ext uri="{FF2B5EF4-FFF2-40B4-BE49-F238E27FC236}">
                <a16:creationId xmlns:a16="http://schemas.microsoft.com/office/drawing/2014/main" id="{C81CDDB9-1FF5-23C7-9408-060C6C9832F0}"/>
              </a:ext>
            </a:extLst>
          </p:cNvPr>
          <p:cNvSpPr/>
          <p:nvPr/>
        </p:nvSpPr>
        <p:spPr bwMode="auto">
          <a:xfrm>
            <a:off x="8797973" y="875936"/>
            <a:ext cx="2987157"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Candidate Gene</a:t>
            </a:r>
          </a:p>
        </p:txBody>
      </p:sp>
    </p:spTree>
    <p:extLst>
      <p:ext uri="{BB962C8B-B14F-4D97-AF65-F5344CB8AC3E}">
        <p14:creationId xmlns:p14="http://schemas.microsoft.com/office/powerpoint/2010/main" val="23938704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972D6-6A65-1550-0C1A-CF0D376C324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35A681D-054F-6176-F561-38D163633FAD}"/>
              </a:ext>
            </a:extLst>
          </p:cNvPr>
          <p:cNvPicPr>
            <a:picLocks noChangeAspect="1"/>
          </p:cNvPicPr>
          <p:nvPr/>
        </p:nvPicPr>
        <p:blipFill>
          <a:blip r:embed="rId3"/>
          <a:stretch>
            <a:fillRect/>
          </a:stretch>
        </p:blipFill>
        <p:spPr>
          <a:xfrm>
            <a:off x="483120" y="1226932"/>
            <a:ext cx="11054051" cy="4056531"/>
          </a:xfrm>
          <a:prstGeom prst="rect">
            <a:avLst/>
          </a:prstGeom>
        </p:spPr>
      </p:pic>
      <p:sp>
        <p:nvSpPr>
          <p:cNvPr id="4" name="Slide Number Placeholder 3">
            <a:extLst>
              <a:ext uri="{FF2B5EF4-FFF2-40B4-BE49-F238E27FC236}">
                <a16:creationId xmlns:a16="http://schemas.microsoft.com/office/drawing/2014/main" id="{4DB082C9-D2CE-247F-970D-253E434C008E}"/>
              </a:ext>
            </a:extLst>
          </p:cNvPr>
          <p:cNvSpPr>
            <a:spLocks noGrp="1"/>
          </p:cNvSpPr>
          <p:nvPr>
            <p:ph type="sldNum" sz="quarter" idx="10"/>
          </p:nvPr>
        </p:nvSpPr>
        <p:spPr>
          <a:xfrm>
            <a:off x="9448800" y="6491820"/>
            <a:ext cx="2743200" cy="366183"/>
          </a:xfrm>
        </p:spPr>
        <p:txBody>
          <a:bodyPr/>
          <a:lstStyle/>
          <a:p>
            <a:pPr defTabSz="914661">
              <a:defRPr/>
            </a:pPr>
            <a:fld id="{FC2EED17-1836-6142-A4B1-ABB9C7C22E41}" type="slidenum">
              <a:rPr lang="en-US">
                <a:solidFill>
                  <a:srgbClr val="000000"/>
                </a:solidFill>
                <a:latin typeface="Segoe UI"/>
              </a:rPr>
              <a:pPr defTabSz="914661">
                <a:defRPr/>
              </a:pPr>
              <a:t>16</a:t>
            </a:fld>
            <a:endParaRPr lang="en-US">
              <a:solidFill>
                <a:srgbClr val="000000"/>
              </a:solidFill>
              <a:latin typeface="Segoe UI"/>
            </a:endParaRPr>
          </a:p>
        </p:txBody>
      </p:sp>
      <p:sp>
        <p:nvSpPr>
          <p:cNvPr id="5" name="!!descbox">
            <a:extLst>
              <a:ext uri="{FF2B5EF4-FFF2-40B4-BE49-F238E27FC236}">
                <a16:creationId xmlns:a16="http://schemas.microsoft.com/office/drawing/2014/main" id="{6722D8D8-2B92-0EE8-224A-157CEC8D72BA}"/>
              </a:ext>
            </a:extLst>
          </p:cNvPr>
          <p:cNvSpPr/>
          <p:nvPr/>
        </p:nvSpPr>
        <p:spPr bwMode="auto">
          <a:xfrm>
            <a:off x="2638058" y="5837614"/>
            <a:ext cx="4017646" cy="725452"/>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Trait-Gene Association</a:t>
            </a:r>
          </a:p>
        </p:txBody>
      </p:sp>
      <p:sp>
        <p:nvSpPr>
          <p:cNvPr id="2" name="!!box">
            <a:extLst>
              <a:ext uri="{FF2B5EF4-FFF2-40B4-BE49-F238E27FC236}">
                <a16:creationId xmlns:a16="http://schemas.microsoft.com/office/drawing/2014/main" id="{407D9213-69DA-736F-92B6-4AC606B91370}"/>
              </a:ext>
            </a:extLst>
          </p:cNvPr>
          <p:cNvSpPr/>
          <p:nvPr/>
        </p:nvSpPr>
        <p:spPr bwMode="auto">
          <a:xfrm>
            <a:off x="3774065" y="1138109"/>
            <a:ext cx="1572768" cy="4492959"/>
          </a:xfrm>
          <a:prstGeom prst="rect">
            <a:avLst/>
          </a:prstGeom>
          <a:solidFill>
            <a:srgbClr val="C280FF">
              <a:alpha val="38824"/>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3" name="!!2">
            <a:extLst>
              <a:ext uri="{FF2B5EF4-FFF2-40B4-BE49-F238E27FC236}">
                <a16:creationId xmlns:a16="http://schemas.microsoft.com/office/drawing/2014/main" id="{104AF406-34FF-064A-9FBA-52465D82A1A4}"/>
              </a:ext>
            </a:extLst>
          </p:cNvPr>
          <p:cNvSpPr/>
          <p:nvPr/>
        </p:nvSpPr>
        <p:spPr bwMode="auto">
          <a:xfrm>
            <a:off x="43923" y="173108"/>
            <a:ext cx="984167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 (TGAG)</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7" name="!!descbox">
            <a:extLst>
              <a:ext uri="{FF2B5EF4-FFF2-40B4-BE49-F238E27FC236}">
                <a16:creationId xmlns:a16="http://schemas.microsoft.com/office/drawing/2014/main" id="{955B436E-9EF7-579B-F3CD-8106E4ADA3B4}"/>
              </a:ext>
            </a:extLst>
          </p:cNvPr>
          <p:cNvSpPr/>
          <p:nvPr/>
        </p:nvSpPr>
        <p:spPr bwMode="auto">
          <a:xfrm>
            <a:off x="43923" y="880812"/>
            <a:ext cx="2015754"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Input Trait</a:t>
            </a:r>
          </a:p>
        </p:txBody>
      </p:sp>
      <p:sp>
        <p:nvSpPr>
          <p:cNvPr id="8" name="Rounded Rectangle 7">
            <a:extLst>
              <a:ext uri="{FF2B5EF4-FFF2-40B4-BE49-F238E27FC236}">
                <a16:creationId xmlns:a16="http://schemas.microsoft.com/office/drawing/2014/main" id="{F3C261B3-212A-163E-7344-A7B60266C135}"/>
              </a:ext>
            </a:extLst>
          </p:cNvPr>
          <p:cNvSpPr/>
          <p:nvPr/>
        </p:nvSpPr>
        <p:spPr bwMode="auto">
          <a:xfrm>
            <a:off x="2620467" y="885958"/>
            <a:ext cx="1344656"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Traits</a:t>
            </a:r>
          </a:p>
        </p:txBody>
      </p:sp>
      <p:sp>
        <p:nvSpPr>
          <p:cNvPr id="10" name="Rounded Rectangle 9">
            <a:extLst>
              <a:ext uri="{FF2B5EF4-FFF2-40B4-BE49-F238E27FC236}">
                <a16:creationId xmlns:a16="http://schemas.microsoft.com/office/drawing/2014/main" id="{EB82E0CA-78AE-D139-9C92-956944468B6B}"/>
              </a:ext>
            </a:extLst>
          </p:cNvPr>
          <p:cNvSpPr/>
          <p:nvPr/>
        </p:nvSpPr>
        <p:spPr bwMode="auto">
          <a:xfrm>
            <a:off x="5872181" y="890229"/>
            <a:ext cx="1475732" cy="763929"/>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Genes</a:t>
            </a:r>
          </a:p>
        </p:txBody>
      </p:sp>
      <p:sp>
        <p:nvSpPr>
          <p:cNvPr id="11" name="Rounded Rectangle 10">
            <a:extLst>
              <a:ext uri="{FF2B5EF4-FFF2-40B4-BE49-F238E27FC236}">
                <a16:creationId xmlns:a16="http://schemas.microsoft.com/office/drawing/2014/main" id="{B8056125-2F0E-4CD2-19BE-2B07661D80AC}"/>
              </a:ext>
            </a:extLst>
          </p:cNvPr>
          <p:cNvSpPr/>
          <p:nvPr/>
        </p:nvSpPr>
        <p:spPr bwMode="auto">
          <a:xfrm>
            <a:off x="8797973" y="875936"/>
            <a:ext cx="2987157"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Candidate Gene</a:t>
            </a:r>
          </a:p>
        </p:txBody>
      </p:sp>
    </p:spTree>
    <p:extLst>
      <p:ext uri="{BB962C8B-B14F-4D97-AF65-F5344CB8AC3E}">
        <p14:creationId xmlns:p14="http://schemas.microsoft.com/office/powerpoint/2010/main" val="17654266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65373-EC9A-45AC-A8AA-DB0FA6926A7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0191126-45FD-D484-5639-231398D06592}"/>
              </a:ext>
            </a:extLst>
          </p:cNvPr>
          <p:cNvPicPr>
            <a:picLocks noChangeAspect="1"/>
          </p:cNvPicPr>
          <p:nvPr/>
        </p:nvPicPr>
        <p:blipFill>
          <a:blip r:embed="rId3"/>
          <a:stretch>
            <a:fillRect/>
          </a:stretch>
        </p:blipFill>
        <p:spPr>
          <a:xfrm>
            <a:off x="483120" y="1226932"/>
            <a:ext cx="11054051" cy="4056531"/>
          </a:xfrm>
          <a:prstGeom prst="rect">
            <a:avLst/>
          </a:prstGeom>
        </p:spPr>
      </p:pic>
      <p:sp>
        <p:nvSpPr>
          <p:cNvPr id="4" name="Slide Number Placeholder 3">
            <a:extLst>
              <a:ext uri="{FF2B5EF4-FFF2-40B4-BE49-F238E27FC236}">
                <a16:creationId xmlns:a16="http://schemas.microsoft.com/office/drawing/2014/main" id="{7833D7E6-AD2F-AF06-FA43-A6F521ED6138}"/>
              </a:ext>
            </a:extLst>
          </p:cNvPr>
          <p:cNvSpPr>
            <a:spLocks noGrp="1"/>
          </p:cNvSpPr>
          <p:nvPr>
            <p:ph type="sldNum" sz="quarter" idx="10"/>
          </p:nvPr>
        </p:nvSpPr>
        <p:spPr>
          <a:xfrm>
            <a:off x="9448800" y="6491820"/>
            <a:ext cx="2743200" cy="366183"/>
          </a:xfrm>
        </p:spPr>
        <p:txBody>
          <a:bodyPr/>
          <a:lstStyle/>
          <a:p>
            <a:pPr defTabSz="914661">
              <a:defRPr/>
            </a:pPr>
            <a:fld id="{FC2EED17-1836-6142-A4B1-ABB9C7C22E41}" type="slidenum">
              <a:rPr lang="en-US">
                <a:solidFill>
                  <a:srgbClr val="000000"/>
                </a:solidFill>
                <a:latin typeface="Segoe UI"/>
              </a:rPr>
              <a:pPr defTabSz="914661">
                <a:defRPr/>
              </a:pPr>
              <a:t>17</a:t>
            </a:fld>
            <a:endParaRPr lang="en-US">
              <a:solidFill>
                <a:srgbClr val="000000"/>
              </a:solidFill>
              <a:latin typeface="Segoe UI"/>
            </a:endParaRPr>
          </a:p>
        </p:txBody>
      </p:sp>
      <p:sp>
        <p:nvSpPr>
          <p:cNvPr id="5" name="!!descbox">
            <a:extLst>
              <a:ext uri="{FF2B5EF4-FFF2-40B4-BE49-F238E27FC236}">
                <a16:creationId xmlns:a16="http://schemas.microsoft.com/office/drawing/2014/main" id="{CED5DC1A-9637-A574-79C5-3CE3FDB86BDF}"/>
              </a:ext>
            </a:extLst>
          </p:cNvPr>
          <p:cNvSpPr/>
          <p:nvPr/>
        </p:nvSpPr>
        <p:spPr bwMode="auto">
          <a:xfrm>
            <a:off x="5260848" y="5827736"/>
            <a:ext cx="3706368"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Gene Co-expression</a:t>
            </a:r>
          </a:p>
        </p:txBody>
      </p:sp>
      <p:sp>
        <p:nvSpPr>
          <p:cNvPr id="2" name="!!box">
            <a:extLst>
              <a:ext uri="{FF2B5EF4-FFF2-40B4-BE49-F238E27FC236}">
                <a16:creationId xmlns:a16="http://schemas.microsoft.com/office/drawing/2014/main" id="{17668E50-6695-6BDE-623A-B0D1AB240B04}"/>
              </a:ext>
            </a:extLst>
          </p:cNvPr>
          <p:cNvSpPr/>
          <p:nvPr/>
        </p:nvSpPr>
        <p:spPr bwMode="auto">
          <a:xfrm>
            <a:off x="6510528" y="1139745"/>
            <a:ext cx="1207008" cy="4483815"/>
          </a:xfrm>
          <a:prstGeom prst="rect">
            <a:avLst/>
          </a:prstGeom>
          <a:solidFill>
            <a:srgbClr val="F6BD8B">
              <a:alpha val="38039"/>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3" name="!!2">
            <a:extLst>
              <a:ext uri="{FF2B5EF4-FFF2-40B4-BE49-F238E27FC236}">
                <a16:creationId xmlns:a16="http://schemas.microsoft.com/office/drawing/2014/main" id="{E56A73F0-ABC4-2CCA-E29E-EF18BC838D1D}"/>
              </a:ext>
            </a:extLst>
          </p:cNvPr>
          <p:cNvSpPr/>
          <p:nvPr/>
        </p:nvSpPr>
        <p:spPr bwMode="auto">
          <a:xfrm>
            <a:off x="43923" y="173108"/>
            <a:ext cx="984167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 (TGAG)</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7" name="!!descbox">
            <a:extLst>
              <a:ext uri="{FF2B5EF4-FFF2-40B4-BE49-F238E27FC236}">
                <a16:creationId xmlns:a16="http://schemas.microsoft.com/office/drawing/2014/main" id="{FE8FB7CF-D50F-69E1-362A-36390907AE94}"/>
              </a:ext>
            </a:extLst>
          </p:cNvPr>
          <p:cNvSpPr/>
          <p:nvPr/>
        </p:nvSpPr>
        <p:spPr bwMode="auto">
          <a:xfrm>
            <a:off x="43923" y="880812"/>
            <a:ext cx="2015754"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Input Trait</a:t>
            </a:r>
          </a:p>
        </p:txBody>
      </p:sp>
      <p:sp>
        <p:nvSpPr>
          <p:cNvPr id="8" name="Rounded Rectangle 7">
            <a:extLst>
              <a:ext uri="{FF2B5EF4-FFF2-40B4-BE49-F238E27FC236}">
                <a16:creationId xmlns:a16="http://schemas.microsoft.com/office/drawing/2014/main" id="{A31D6562-F7EC-9A03-E08C-1A2EF352A4E3}"/>
              </a:ext>
            </a:extLst>
          </p:cNvPr>
          <p:cNvSpPr/>
          <p:nvPr/>
        </p:nvSpPr>
        <p:spPr bwMode="auto">
          <a:xfrm>
            <a:off x="2620467" y="885958"/>
            <a:ext cx="1344656"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Traits</a:t>
            </a:r>
          </a:p>
        </p:txBody>
      </p:sp>
      <p:sp>
        <p:nvSpPr>
          <p:cNvPr id="10" name="Rounded Rectangle 9">
            <a:extLst>
              <a:ext uri="{FF2B5EF4-FFF2-40B4-BE49-F238E27FC236}">
                <a16:creationId xmlns:a16="http://schemas.microsoft.com/office/drawing/2014/main" id="{839CCF0A-E66D-4F06-FA54-0113C98816E2}"/>
              </a:ext>
            </a:extLst>
          </p:cNvPr>
          <p:cNvSpPr/>
          <p:nvPr/>
        </p:nvSpPr>
        <p:spPr bwMode="auto">
          <a:xfrm>
            <a:off x="5872181" y="890229"/>
            <a:ext cx="1475732" cy="763929"/>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Genes</a:t>
            </a:r>
          </a:p>
        </p:txBody>
      </p:sp>
      <p:sp>
        <p:nvSpPr>
          <p:cNvPr id="11" name="Rounded Rectangle 10">
            <a:extLst>
              <a:ext uri="{FF2B5EF4-FFF2-40B4-BE49-F238E27FC236}">
                <a16:creationId xmlns:a16="http://schemas.microsoft.com/office/drawing/2014/main" id="{E6545DE6-6620-CFD2-EC54-83597D6957AF}"/>
              </a:ext>
            </a:extLst>
          </p:cNvPr>
          <p:cNvSpPr/>
          <p:nvPr/>
        </p:nvSpPr>
        <p:spPr bwMode="auto">
          <a:xfrm>
            <a:off x="8797973" y="875936"/>
            <a:ext cx="2987157"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Candidate Gene</a:t>
            </a:r>
          </a:p>
        </p:txBody>
      </p:sp>
    </p:spTree>
    <p:extLst>
      <p:ext uri="{BB962C8B-B14F-4D97-AF65-F5344CB8AC3E}">
        <p14:creationId xmlns:p14="http://schemas.microsoft.com/office/powerpoint/2010/main" val="1404976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776DE-A297-032C-5BE2-007CC23B277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6A0B43B-F162-880D-376C-EFEEABD3D0AE}"/>
              </a:ext>
            </a:extLst>
          </p:cNvPr>
          <p:cNvPicPr>
            <a:picLocks noChangeAspect="1"/>
          </p:cNvPicPr>
          <p:nvPr/>
        </p:nvPicPr>
        <p:blipFill>
          <a:blip r:embed="rId3"/>
          <a:stretch>
            <a:fillRect/>
          </a:stretch>
        </p:blipFill>
        <p:spPr>
          <a:xfrm>
            <a:off x="483120" y="1226932"/>
            <a:ext cx="11054051" cy="4056531"/>
          </a:xfrm>
          <a:prstGeom prst="rect">
            <a:avLst/>
          </a:prstGeom>
        </p:spPr>
      </p:pic>
      <p:sp>
        <p:nvSpPr>
          <p:cNvPr id="4" name="Slide Number Placeholder 3">
            <a:extLst>
              <a:ext uri="{FF2B5EF4-FFF2-40B4-BE49-F238E27FC236}">
                <a16:creationId xmlns:a16="http://schemas.microsoft.com/office/drawing/2014/main" id="{0AE75750-9767-2FC5-EE47-ABA56889CCDE}"/>
              </a:ext>
            </a:extLst>
          </p:cNvPr>
          <p:cNvSpPr>
            <a:spLocks noGrp="1"/>
          </p:cNvSpPr>
          <p:nvPr>
            <p:ph type="sldNum" sz="quarter" idx="10"/>
          </p:nvPr>
        </p:nvSpPr>
        <p:spPr>
          <a:xfrm>
            <a:off x="9448800" y="6491820"/>
            <a:ext cx="2743200" cy="366183"/>
          </a:xfrm>
        </p:spPr>
        <p:txBody>
          <a:bodyPr/>
          <a:lstStyle/>
          <a:p>
            <a:pPr defTabSz="914661">
              <a:defRPr/>
            </a:pPr>
            <a:fld id="{FC2EED17-1836-6142-A4B1-ABB9C7C22E41}" type="slidenum">
              <a:rPr lang="en-US">
                <a:solidFill>
                  <a:srgbClr val="000000"/>
                </a:solidFill>
                <a:latin typeface="Segoe UI"/>
              </a:rPr>
              <a:pPr defTabSz="914661">
                <a:defRPr/>
              </a:pPr>
              <a:t>18</a:t>
            </a:fld>
            <a:endParaRPr lang="en-US">
              <a:solidFill>
                <a:srgbClr val="000000"/>
              </a:solidFill>
              <a:latin typeface="Segoe UI"/>
            </a:endParaRPr>
          </a:p>
        </p:txBody>
      </p:sp>
      <p:sp>
        <p:nvSpPr>
          <p:cNvPr id="5" name="!!descbox">
            <a:extLst>
              <a:ext uri="{FF2B5EF4-FFF2-40B4-BE49-F238E27FC236}">
                <a16:creationId xmlns:a16="http://schemas.microsoft.com/office/drawing/2014/main" id="{993E729C-D828-B51E-EC92-36C35219EA5C}"/>
              </a:ext>
            </a:extLst>
          </p:cNvPr>
          <p:cNvSpPr/>
          <p:nvPr/>
        </p:nvSpPr>
        <p:spPr bwMode="auto">
          <a:xfrm>
            <a:off x="8220821" y="5782328"/>
            <a:ext cx="3103199"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Gene Homology</a:t>
            </a:r>
          </a:p>
        </p:txBody>
      </p:sp>
      <p:sp>
        <p:nvSpPr>
          <p:cNvPr id="2" name="!!box">
            <a:extLst>
              <a:ext uri="{FF2B5EF4-FFF2-40B4-BE49-F238E27FC236}">
                <a16:creationId xmlns:a16="http://schemas.microsoft.com/office/drawing/2014/main" id="{AB96153B-BC2D-8DA7-F246-C1755EFB92CC}"/>
              </a:ext>
            </a:extLst>
          </p:cNvPr>
          <p:cNvSpPr/>
          <p:nvPr/>
        </p:nvSpPr>
        <p:spPr bwMode="auto">
          <a:xfrm>
            <a:off x="9173489" y="1143247"/>
            <a:ext cx="1197864" cy="4487821"/>
          </a:xfrm>
          <a:prstGeom prst="rect">
            <a:avLst/>
          </a:prstGeom>
          <a:solidFill>
            <a:srgbClr val="C4A8CF">
              <a:alpha val="46667"/>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3" name="!!2">
            <a:extLst>
              <a:ext uri="{FF2B5EF4-FFF2-40B4-BE49-F238E27FC236}">
                <a16:creationId xmlns:a16="http://schemas.microsoft.com/office/drawing/2014/main" id="{0430FD91-8BB4-8983-E6FC-E46EC2BD4988}"/>
              </a:ext>
            </a:extLst>
          </p:cNvPr>
          <p:cNvSpPr/>
          <p:nvPr/>
        </p:nvSpPr>
        <p:spPr bwMode="auto">
          <a:xfrm>
            <a:off x="43923" y="173108"/>
            <a:ext cx="984167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 (TGAG)</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7" name="!!descbox">
            <a:extLst>
              <a:ext uri="{FF2B5EF4-FFF2-40B4-BE49-F238E27FC236}">
                <a16:creationId xmlns:a16="http://schemas.microsoft.com/office/drawing/2014/main" id="{1E64A204-9AD7-416C-08DE-C2BBB842FDA8}"/>
              </a:ext>
            </a:extLst>
          </p:cNvPr>
          <p:cNvSpPr/>
          <p:nvPr/>
        </p:nvSpPr>
        <p:spPr bwMode="auto">
          <a:xfrm>
            <a:off x="43923" y="880812"/>
            <a:ext cx="2015754"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Input Trait</a:t>
            </a:r>
          </a:p>
        </p:txBody>
      </p:sp>
      <p:sp>
        <p:nvSpPr>
          <p:cNvPr id="8" name="Rounded Rectangle 7">
            <a:extLst>
              <a:ext uri="{FF2B5EF4-FFF2-40B4-BE49-F238E27FC236}">
                <a16:creationId xmlns:a16="http://schemas.microsoft.com/office/drawing/2014/main" id="{B798CDA6-A2A7-374E-968A-07ED8A5C7DC4}"/>
              </a:ext>
            </a:extLst>
          </p:cNvPr>
          <p:cNvSpPr/>
          <p:nvPr/>
        </p:nvSpPr>
        <p:spPr bwMode="auto">
          <a:xfrm>
            <a:off x="2620467" y="885958"/>
            <a:ext cx="1344656"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Traits</a:t>
            </a:r>
          </a:p>
        </p:txBody>
      </p:sp>
      <p:sp>
        <p:nvSpPr>
          <p:cNvPr id="10" name="Rounded Rectangle 9">
            <a:extLst>
              <a:ext uri="{FF2B5EF4-FFF2-40B4-BE49-F238E27FC236}">
                <a16:creationId xmlns:a16="http://schemas.microsoft.com/office/drawing/2014/main" id="{EC5CF55B-A63F-82EC-D2E5-A1F2A89420D7}"/>
              </a:ext>
            </a:extLst>
          </p:cNvPr>
          <p:cNvSpPr/>
          <p:nvPr/>
        </p:nvSpPr>
        <p:spPr bwMode="auto">
          <a:xfrm>
            <a:off x="5872181" y="890229"/>
            <a:ext cx="1475732" cy="763929"/>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Genes</a:t>
            </a:r>
          </a:p>
        </p:txBody>
      </p:sp>
      <p:sp>
        <p:nvSpPr>
          <p:cNvPr id="11" name="Rounded Rectangle 10">
            <a:extLst>
              <a:ext uri="{FF2B5EF4-FFF2-40B4-BE49-F238E27FC236}">
                <a16:creationId xmlns:a16="http://schemas.microsoft.com/office/drawing/2014/main" id="{1FF88BF3-A8FD-EBB2-4028-FAE7787EAD12}"/>
              </a:ext>
            </a:extLst>
          </p:cNvPr>
          <p:cNvSpPr/>
          <p:nvPr/>
        </p:nvSpPr>
        <p:spPr bwMode="auto">
          <a:xfrm>
            <a:off x="8797973" y="875936"/>
            <a:ext cx="2987157" cy="723773"/>
          </a:xfrm>
          <a:prstGeom prst="roundRect">
            <a:avLst>
              <a:gd name="adj" fmla="val 48651"/>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Candidate Gene</a:t>
            </a:r>
          </a:p>
        </p:txBody>
      </p:sp>
    </p:spTree>
    <p:extLst>
      <p:ext uri="{BB962C8B-B14F-4D97-AF65-F5344CB8AC3E}">
        <p14:creationId xmlns:p14="http://schemas.microsoft.com/office/powerpoint/2010/main" val="159500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A0166-04A6-D011-264A-6E1D5E7E380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1E8265-609E-9BCB-9429-CF4A6F6685CC}"/>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19</a:t>
            </a:fld>
            <a:endParaRPr lang="en-US">
              <a:solidFill>
                <a:srgbClr val="000000"/>
              </a:solidFill>
              <a:latin typeface="Segoe UI"/>
            </a:endParaRPr>
          </a:p>
        </p:txBody>
      </p:sp>
      <p:sp>
        <p:nvSpPr>
          <p:cNvPr id="9" name="!!2">
            <a:extLst>
              <a:ext uri="{FF2B5EF4-FFF2-40B4-BE49-F238E27FC236}">
                <a16:creationId xmlns:a16="http://schemas.microsoft.com/office/drawing/2014/main" id="{890BDBFB-1529-874C-0B11-229BF39F521C}"/>
              </a:ext>
            </a:extLst>
          </p:cNvPr>
          <p:cNvSpPr/>
          <p:nvPr/>
        </p:nvSpPr>
        <p:spPr bwMode="auto">
          <a:xfrm>
            <a:off x="43923" y="173108"/>
            <a:ext cx="8225434"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Novelty and Contributions</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7" name="Rounded Rectangle 6">
            <a:extLst>
              <a:ext uri="{FF2B5EF4-FFF2-40B4-BE49-F238E27FC236}">
                <a16:creationId xmlns:a16="http://schemas.microsoft.com/office/drawing/2014/main" id="{2FB4B8EA-7C29-1670-607A-1F292556453E}"/>
              </a:ext>
            </a:extLst>
          </p:cNvPr>
          <p:cNvSpPr/>
          <p:nvPr/>
        </p:nvSpPr>
        <p:spPr bwMode="auto">
          <a:xfrm>
            <a:off x="979912" y="3908587"/>
            <a:ext cx="9840488" cy="1588177"/>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dirty="0">
                <a:solidFill>
                  <a:schemeClr val="tx1"/>
                </a:solidFill>
                <a:latin typeface="Arial" panose="020B0604020202020204" pitchFamily="34" charset="0"/>
                <a:cs typeface="Arial" panose="020B0604020202020204" pitchFamily="34" charset="0"/>
              </a:rPr>
              <a:t>Introduces dynamically constructed query-specific TGAGs. Existing graph-based approaches use static biological networks.</a:t>
            </a:r>
          </a:p>
        </p:txBody>
      </p:sp>
      <p:sp>
        <p:nvSpPr>
          <p:cNvPr id="6" name="Rounded Rectangle 5">
            <a:extLst>
              <a:ext uri="{FF2B5EF4-FFF2-40B4-BE49-F238E27FC236}">
                <a16:creationId xmlns:a16="http://schemas.microsoft.com/office/drawing/2014/main" id="{4D9284DD-56CC-33BE-CA72-55BFEC60EDF5}"/>
              </a:ext>
            </a:extLst>
          </p:cNvPr>
          <p:cNvSpPr/>
          <p:nvPr/>
        </p:nvSpPr>
        <p:spPr bwMode="auto">
          <a:xfrm>
            <a:off x="979912" y="1578542"/>
            <a:ext cx="9840488" cy="1657717"/>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dirty="0">
                <a:solidFill>
                  <a:schemeClr val="tx1"/>
                </a:solidFill>
                <a:latin typeface="Arial" panose="020B0604020202020204" pitchFamily="34" charset="0"/>
                <a:cs typeface="Arial" panose="020B0604020202020204" pitchFamily="34" charset="0"/>
              </a:rPr>
              <a:t>Integrates complementary biological evidence in a unified framework, unlike prior methods that rely on a single evidence source. </a:t>
            </a:r>
          </a:p>
        </p:txBody>
      </p:sp>
    </p:spTree>
    <p:extLst>
      <p:ext uri="{BB962C8B-B14F-4D97-AF65-F5344CB8AC3E}">
        <p14:creationId xmlns:p14="http://schemas.microsoft.com/office/powerpoint/2010/main" val="36881953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A6DF5-07FE-D05E-9378-0BBC19E3F7B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3BD69C-19F3-AAF6-F286-E5ADAA3B53A7}"/>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20</a:t>
            </a:fld>
            <a:endParaRPr lang="en-US">
              <a:solidFill>
                <a:srgbClr val="000000"/>
              </a:solidFill>
              <a:latin typeface="Segoe UI"/>
            </a:endParaRPr>
          </a:p>
        </p:txBody>
      </p:sp>
      <p:sp>
        <p:nvSpPr>
          <p:cNvPr id="9" name="!!2">
            <a:extLst>
              <a:ext uri="{FF2B5EF4-FFF2-40B4-BE49-F238E27FC236}">
                <a16:creationId xmlns:a16="http://schemas.microsoft.com/office/drawing/2014/main" id="{BA61451B-556F-012A-2FD3-E23CD3865AB5}"/>
              </a:ext>
            </a:extLst>
          </p:cNvPr>
          <p:cNvSpPr/>
          <p:nvPr/>
        </p:nvSpPr>
        <p:spPr bwMode="auto">
          <a:xfrm>
            <a:off x="43923" y="173108"/>
            <a:ext cx="8225434"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Novelty and Contributions</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5" name="Rounded Rectangle 4">
            <a:extLst>
              <a:ext uri="{FF2B5EF4-FFF2-40B4-BE49-F238E27FC236}">
                <a16:creationId xmlns:a16="http://schemas.microsoft.com/office/drawing/2014/main" id="{947411CE-A5A2-7555-1DB3-F3FF84CD082D}"/>
              </a:ext>
            </a:extLst>
          </p:cNvPr>
          <p:cNvSpPr/>
          <p:nvPr/>
        </p:nvSpPr>
        <p:spPr bwMode="auto">
          <a:xfrm>
            <a:off x="1132311" y="3909367"/>
            <a:ext cx="9492245" cy="2015061"/>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dirty="0">
                <a:solidFill>
                  <a:schemeClr val="tx1"/>
                </a:solidFill>
                <a:latin typeface="Arial" panose="020B0604020202020204" pitchFamily="34" charset="0"/>
                <a:cs typeface="Arial" panose="020B0604020202020204" pitchFamily="34" charset="0"/>
              </a:rPr>
              <a:t>Extends candidate gene ranking to cross-species plant gene prioritization. Existing methods provide limited cross-species support. </a:t>
            </a:r>
          </a:p>
        </p:txBody>
      </p:sp>
      <p:sp>
        <p:nvSpPr>
          <p:cNvPr id="3" name="Rounded Rectangle 2">
            <a:extLst>
              <a:ext uri="{FF2B5EF4-FFF2-40B4-BE49-F238E27FC236}">
                <a16:creationId xmlns:a16="http://schemas.microsoft.com/office/drawing/2014/main" id="{88640EB3-E2F8-85CA-0374-02F0EF75DD10}"/>
              </a:ext>
            </a:extLst>
          </p:cNvPr>
          <p:cNvSpPr/>
          <p:nvPr/>
        </p:nvSpPr>
        <p:spPr bwMode="auto">
          <a:xfrm>
            <a:off x="1132312" y="1331258"/>
            <a:ext cx="9492245" cy="219435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3200" dirty="0">
                <a:solidFill>
                  <a:schemeClr val="tx1"/>
                </a:solidFill>
                <a:latin typeface="Arial" panose="020B0604020202020204" pitchFamily="34" charset="0"/>
                <a:cs typeface="Arial" panose="020B0604020202020204" pitchFamily="34" charset="0"/>
              </a:rPr>
              <a:t>Features an R-GCN-based ranking framework for heterogeneous TGAGs. This enables learning across diverse biological relationships while preserving query specificity.</a:t>
            </a:r>
          </a:p>
        </p:txBody>
      </p:sp>
    </p:spTree>
    <p:extLst>
      <p:ext uri="{BB962C8B-B14F-4D97-AF65-F5344CB8AC3E}">
        <p14:creationId xmlns:p14="http://schemas.microsoft.com/office/powerpoint/2010/main" val="14989895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5F5E9-AD02-A19F-0B14-3AA3A1CB57ED}"/>
            </a:ext>
          </a:extLst>
        </p:cNvPr>
        <p:cNvGrpSpPr/>
        <p:nvPr/>
      </p:nvGrpSpPr>
      <p:grpSpPr>
        <a:xfrm>
          <a:off x="0" y="0"/>
          <a:ext cx="0" cy="0"/>
          <a:chOff x="0" y="0"/>
          <a:chExt cx="0" cy="0"/>
        </a:xfrm>
      </p:grpSpPr>
      <p:sp>
        <p:nvSpPr>
          <p:cNvPr id="13" name="Title 2">
            <a:extLst>
              <a:ext uri="{FF2B5EF4-FFF2-40B4-BE49-F238E27FC236}">
                <a16:creationId xmlns:a16="http://schemas.microsoft.com/office/drawing/2014/main" id="{DE41BD1E-EC00-E173-1131-526B5B0767CB}"/>
              </a:ext>
            </a:extLst>
          </p:cNvPr>
          <p:cNvSpPr>
            <a:spLocks noGrp="1"/>
          </p:cNvSpPr>
          <p:nvPr>
            <p:ph type="title"/>
          </p:nvPr>
        </p:nvSpPr>
        <p:spPr>
          <a:xfrm>
            <a:off x="217117" y="69643"/>
            <a:ext cx="10571968" cy="963668"/>
          </a:xfrm>
        </p:spPr>
        <p:txBody>
          <a:bodyPr vert="horz" wrap="square" lIns="121920" tIns="60960" rIns="121920" bIns="60960" rtlCol="0" anchor="ctr" anchorCtr="0">
            <a:normAutofit/>
          </a:bodyPr>
          <a:lstStyle/>
          <a:p>
            <a:r>
              <a:rPr lang="en-US" altLang="zh-CN" sz="4000"/>
              <a:t>Outline</a:t>
            </a:r>
            <a:endParaRPr lang="en-US" sz="4000">
              <a:latin typeface="Open Sans" panose="020B0606030504020204" pitchFamily="34" charset="0"/>
            </a:endParaRPr>
          </a:p>
        </p:txBody>
      </p:sp>
      <p:sp>
        <p:nvSpPr>
          <p:cNvPr id="4" name="Slide Number Placeholder 3">
            <a:extLst>
              <a:ext uri="{FF2B5EF4-FFF2-40B4-BE49-F238E27FC236}">
                <a16:creationId xmlns:a16="http://schemas.microsoft.com/office/drawing/2014/main" id="{A0D1771D-5133-B288-1590-53A0A797B58B}"/>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21</a:t>
            </a:fld>
            <a:endParaRPr lang="en-US">
              <a:solidFill>
                <a:srgbClr val="000000"/>
              </a:solidFill>
              <a:latin typeface="Segoe UI"/>
            </a:endParaRPr>
          </a:p>
        </p:txBody>
      </p:sp>
      <p:sp>
        <p:nvSpPr>
          <p:cNvPr id="8" name="!!1">
            <a:extLst>
              <a:ext uri="{FF2B5EF4-FFF2-40B4-BE49-F238E27FC236}">
                <a16:creationId xmlns:a16="http://schemas.microsoft.com/office/drawing/2014/main" id="{E844F849-7573-A2BC-C978-F8DBE1522869}"/>
              </a:ext>
            </a:extLst>
          </p:cNvPr>
          <p:cNvSpPr/>
          <p:nvPr/>
        </p:nvSpPr>
        <p:spPr bwMode="auto">
          <a:xfrm>
            <a:off x="342205" y="1381773"/>
            <a:ext cx="5394344"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1. Self-Introduction</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0" name="!!3">
            <a:extLst>
              <a:ext uri="{FF2B5EF4-FFF2-40B4-BE49-F238E27FC236}">
                <a16:creationId xmlns:a16="http://schemas.microsoft.com/office/drawing/2014/main" id="{DC337BD4-3C3F-486A-BCAB-1A2F1186CC94}"/>
              </a:ext>
            </a:extLst>
          </p:cNvPr>
          <p:cNvSpPr/>
          <p:nvPr/>
        </p:nvSpPr>
        <p:spPr bwMode="auto">
          <a:xfrm>
            <a:off x="342205" y="3772184"/>
            <a:ext cx="5394356"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b="1">
                <a:solidFill>
                  <a:srgbClr val="1B4C9C"/>
                </a:solidFill>
                <a:latin typeface="Arial" panose="020B0604020202020204" pitchFamily="34" charset="0"/>
                <a:cs typeface="Arial" panose="020B0604020202020204" pitchFamily="34" charset="0"/>
              </a:rPr>
              <a:t>3. Biological Evidence Data</a:t>
            </a:r>
            <a:endParaRPr lang="en-US" sz="2800" b="1">
              <a:solidFill>
                <a:srgbClr val="1B4C9C"/>
              </a:solidFill>
              <a:latin typeface="Arial" panose="020B0604020202020204" pitchFamily="34" charset="0"/>
              <a:cs typeface="Arial" panose="020B0604020202020204" pitchFamily="34" charset="0"/>
            </a:endParaRPr>
          </a:p>
        </p:txBody>
      </p:sp>
      <p:sp>
        <p:nvSpPr>
          <p:cNvPr id="11" name="Rounded Rectangle 10">
            <a:extLst>
              <a:ext uri="{FF2B5EF4-FFF2-40B4-BE49-F238E27FC236}">
                <a16:creationId xmlns:a16="http://schemas.microsoft.com/office/drawing/2014/main" id="{7416BB49-368B-D74D-7028-8BC37F77E17B}"/>
              </a:ext>
            </a:extLst>
          </p:cNvPr>
          <p:cNvSpPr/>
          <p:nvPr/>
        </p:nvSpPr>
        <p:spPr bwMode="auto">
          <a:xfrm>
            <a:off x="342213" y="4925510"/>
            <a:ext cx="539435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4. Trait-Gene Association Graph</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6449F82A-935F-FABD-B02F-CADF0AFEBFFC}"/>
              </a:ext>
            </a:extLst>
          </p:cNvPr>
          <p:cNvSpPr/>
          <p:nvPr/>
        </p:nvSpPr>
        <p:spPr bwMode="auto">
          <a:xfrm>
            <a:off x="6461788" y="2580793"/>
            <a:ext cx="5387997" cy="849648"/>
          </a:xfrm>
          <a:prstGeom prst="roundRect">
            <a:avLst>
              <a:gd name="adj" fmla="val 20246"/>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6. </a:t>
            </a:r>
            <a:r>
              <a:rPr lang="en-US" sz="2800">
                <a:solidFill>
                  <a:srgbClr val="1B4C9C">
                    <a:alpha val="16000"/>
                  </a:srgbClr>
                </a:solidFill>
                <a:latin typeface="Arial" panose="020B0604020202020204" pitchFamily="34" charset="0"/>
                <a:cs typeface="Arial" panose="020B0604020202020204" pitchFamily="34" charset="0"/>
              </a:rPr>
              <a:t>Trait Similarity Models</a:t>
            </a:r>
          </a:p>
        </p:txBody>
      </p:sp>
      <p:sp>
        <p:nvSpPr>
          <p:cNvPr id="15" name="Rounded Rectangle 14">
            <a:extLst>
              <a:ext uri="{FF2B5EF4-FFF2-40B4-BE49-F238E27FC236}">
                <a16:creationId xmlns:a16="http://schemas.microsoft.com/office/drawing/2014/main" id="{6C2F17D8-8890-54E1-0283-6D167D42CEEF}"/>
              </a:ext>
            </a:extLst>
          </p:cNvPr>
          <p:cNvSpPr/>
          <p:nvPr/>
        </p:nvSpPr>
        <p:spPr bwMode="auto">
          <a:xfrm>
            <a:off x="6461788" y="3772184"/>
            <a:ext cx="5387995"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7. Website Live Demo</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6" name="Rounded Rectangle 15">
            <a:extLst>
              <a:ext uri="{FF2B5EF4-FFF2-40B4-BE49-F238E27FC236}">
                <a16:creationId xmlns:a16="http://schemas.microsoft.com/office/drawing/2014/main" id="{76DB45A1-A60B-38D0-6DEE-039F3E0C7161}"/>
              </a:ext>
            </a:extLst>
          </p:cNvPr>
          <p:cNvSpPr/>
          <p:nvPr/>
        </p:nvSpPr>
        <p:spPr bwMode="auto">
          <a:xfrm>
            <a:off x="6455431" y="4925510"/>
            <a:ext cx="538798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dirty="0">
                <a:solidFill>
                  <a:srgbClr val="1B4C9C">
                    <a:alpha val="16000"/>
                  </a:srgbClr>
                </a:solidFill>
                <a:latin typeface="Arial" panose="020B0604020202020204" pitchFamily="34" charset="0"/>
                <a:cs typeface="Arial" panose="020B0604020202020204" pitchFamily="34" charset="0"/>
              </a:rPr>
              <a:t>8. Conclusion</a:t>
            </a:r>
            <a:endParaRPr lang="en-US" sz="2800" dirty="0">
              <a:solidFill>
                <a:srgbClr val="1B4C9C">
                  <a:alpha val="16000"/>
                </a:srgbClr>
              </a:solidFill>
              <a:latin typeface="Arial" panose="020B0604020202020204" pitchFamily="34" charset="0"/>
              <a:cs typeface="Arial" panose="020B0604020202020204" pitchFamily="34" charset="0"/>
            </a:endParaRPr>
          </a:p>
        </p:txBody>
      </p:sp>
      <p:sp>
        <p:nvSpPr>
          <p:cNvPr id="19" name="Rounded Rectangle 18">
            <a:extLst>
              <a:ext uri="{FF2B5EF4-FFF2-40B4-BE49-F238E27FC236}">
                <a16:creationId xmlns:a16="http://schemas.microsoft.com/office/drawing/2014/main" id="{D2B9A9DD-180F-EFA8-856B-C8F380DC32DD}"/>
              </a:ext>
            </a:extLst>
          </p:cNvPr>
          <p:cNvSpPr/>
          <p:nvPr/>
        </p:nvSpPr>
        <p:spPr bwMode="auto">
          <a:xfrm>
            <a:off x="6461789" y="1360440"/>
            <a:ext cx="538800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5. </a:t>
            </a:r>
            <a:r>
              <a:rPr lang="en-US" sz="2800">
                <a:solidFill>
                  <a:srgbClr val="1B4C9C">
                    <a:alpha val="16000"/>
                  </a:srgbClr>
                </a:solidFill>
                <a:latin typeface="Arial" panose="020B0604020202020204" pitchFamily="34" charset="0"/>
                <a:cs typeface="Arial" panose="020B0604020202020204" pitchFamily="34" charset="0"/>
              </a:rPr>
              <a:t>Gene Ranking Models</a:t>
            </a:r>
          </a:p>
        </p:txBody>
      </p:sp>
      <p:cxnSp>
        <p:nvCxnSpPr>
          <p:cNvPr id="3" name="Straight Connector 2">
            <a:extLst>
              <a:ext uri="{FF2B5EF4-FFF2-40B4-BE49-F238E27FC236}">
                <a16:creationId xmlns:a16="http://schemas.microsoft.com/office/drawing/2014/main" id="{EBED7E14-3EFC-ECFC-11D8-7F4510758BF5}"/>
              </a:ext>
            </a:extLst>
          </p:cNvPr>
          <p:cNvCxnSpPr>
            <a:cxnSpLocks/>
          </p:cNvCxnSpPr>
          <p:nvPr/>
        </p:nvCxnSpPr>
        <p:spPr>
          <a:xfrm>
            <a:off x="6096000" y="1384624"/>
            <a:ext cx="0" cy="4449931"/>
          </a:xfrm>
          <a:prstGeom prst="line">
            <a:avLst/>
          </a:prstGeom>
          <a:ln w="38100">
            <a:solidFill>
              <a:srgbClr val="E7E7E7"/>
            </a:solidFill>
          </a:ln>
        </p:spPr>
        <p:style>
          <a:lnRef idx="1">
            <a:schemeClr val="accent1"/>
          </a:lnRef>
          <a:fillRef idx="0">
            <a:schemeClr val="accent1"/>
          </a:fillRef>
          <a:effectRef idx="0">
            <a:schemeClr val="accent1"/>
          </a:effectRef>
          <a:fontRef idx="minor">
            <a:schemeClr val="tx1"/>
          </a:fontRef>
        </p:style>
      </p:cxnSp>
      <p:sp>
        <p:nvSpPr>
          <p:cNvPr id="2" name="!!2">
            <a:extLst>
              <a:ext uri="{FF2B5EF4-FFF2-40B4-BE49-F238E27FC236}">
                <a16:creationId xmlns:a16="http://schemas.microsoft.com/office/drawing/2014/main" id="{BF150C44-2222-465F-04EE-63F755842E49}"/>
              </a:ext>
            </a:extLst>
          </p:cNvPr>
          <p:cNvSpPr/>
          <p:nvPr/>
        </p:nvSpPr>
        <p:spPr bwMode="auto">
          <a:xfrm>
            <a:off x="342204" y="2574074"/>
            <a:ext cx="5394363"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2. </a:t>
            </a:r>
            <a:r>
              <a:rPr lang="en-US" altLang="zh-CN" sz="2800" err="1">
                <a:solidFill>
                  <a:srgbClr val="1B4C9C">
                    <a:alpha val="16000"/>
                  </a:srgbClr>
                </a:solidFill>
                <a:latin typeface="Arial" panose="020B0604020202020204" pitchFamily="34" charset="0"/>
                <a:cs typeface="Arial" panose="020B0604020202020204" pitchFamily="34" charset="0"/>
              </a:rPr>
              <a:t>GeneSieve</a:t>
            </a:r>
            <a:r>
              <a:rPr lang="en-US" altLang="zh-CN" sz="2800">
                <a:solidFill>
                  <a:srgbClr val="1B4C9C">
                    <a:alpha val="16000"/>
                  </a:srgbClr>
                </a:solidFill>
                <a:latin typeface="Arial" panose="020B0604020202020204" pitchFamily="34" charset="0"/>
                <a:cs typeface="Arial" panose="020B0604020202020204" pitchFamily="34" charset="0"/>
              </a:rPr>
              <a:t> Overview</a:t>
            </a:r>
            <a:endParaRPr lang="en-US" sz="2800">
              <a:solidFill>
                <a:srgbClr val="1B4C9C">
                  <a:alpha val="16000"/>
                </a:srgb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6925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06CD1-C642-6181-1A67-BBDD2DE45A3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993C04-2D79-6A48-D37D-8F536B8B5FB2}"/>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22</a:t>
            </a:fld>
            <a:endParaRPr lang="en-US">
              <a:solidFill>
                <a:srgbClr val="000000"/>
              </a:solidFill>
              <a:latin typeface="Segoe UI"/>
            </a:endParaRPr>
          </a:p>
        </p:txBody>
      </p:sp>
      <p:sp>
        <p:nvSpPr>
          <p:cNvPr id="10" name="!!3">
            <a:extLst>
              <a:ext uri="{FF2B5EF4-FFF2-40B4-BE49-F238E27FC236}">
                <a16:creationId xmlns:a16="http://schemas.microsoft.com/office/drawing/2014/main" id="{97D88C5F-A34C-3F4C-5492-66823AF3195E}"/>
              </a:ext>
            </a:extLst>
          </p:cNvPr>
          <p:cNvSpPr/>
          <p:nvPr/>
        </p:nvSpPr>
        <p:spPr bwMode="auto">
          <a:xfrm>
            <a:off x="0" y="272007"/>
            <a:ext cx="7653256"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Biological Evidence Data</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6" name="Rounded Rectangle 5">
            <a:extLst>
              <a:ext uri="{FF2B5EF4-FFF2-40B4-BE49-F238E27FC236}">
                <a16:creationId xmlns:a16="http://schemas.microsoft.com/office/drawing/2014/main" id="{13B8CF94-B5B1-BE71-29BB-DF5D4B063983}"/>
              </a:ext>
            </a:extLst>
          </p:cNvPr>
          <p:cNvSpPr/>
          <p:nvPr/>
        </p:nvSpPr>
        <p:spPr bwMode="auto">
          <a:xfrm>
            <a:off x="875560" y="1359791"/>
            <a:ext cx="7653256" cy="723773"/>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err="1">
                <a:solidFill>
                  <a:schemeClr val="tx1"/>
                </a:solidFill>
                <a:latin typeface="Arial" panose="020B0604020202020204" pitchFamily="34" charset="0"/>
                <a:cs typeface="Arial" panose="020B0604020202020204" pitchFamily="34" charset="0"/>
              </a:rPr>
              <a:t>GeneSieve</a:t>
            </a:r>
            <a:r>
              <a:rPr lang="en-US" sz="2800">
                <a:solidFill>
                  <a:schemeClr val="tx1"/>
                </a:solidFill>
                <a:latin typeface="Arial" panose="020B0604020202020204" pitchFamily="34" charset="0"/>
                <a:cs typeface="Arial" panose="020B0604020202020204" pitchFamily="34" charset="0"/>
              </a:rPr>
              <a:t> sources data for 4 plant species</a:t>
            </a:r>
          </a:p>
        </p:txBody>
      </p:sp>
      <p:pic>
        <p:nvPicPr>
          <p:cNvPr id="7" name="Picture 6" descr="Rice | Description, History, Cultivation, &amp; Uses | Britannica">
            <a:extLst>
              <a:ext uri="{FF2B5EF4-FFF2-40B4-BE49-F238E27FC236}">
                <a16:creationId xmlns:a16="http://schemas.microsoft.com/office/drawing/2014/main" id="{8B497810-34E5-B7F2-0133-7D49240BF404}"/>
              </a:ext>
            </a:extLst>
          </p:cNvPr>
          <p:cNvPicPr>
            <a:picLocks noChangeAspect="1"/>
          </p:cNvPicPr>
          <p:nvPr/>
        </p:nvPicPr>
        <p:blipFill>
          <a:blip r:embed="rId3"/>
          <a:stretch>
            <a:fillRect/>
          </a:stretch>
        </p:blipFill>
        <p:spPr>
          <a:xfrm>
            <a:off x="3225314" y="2450104"/>
            <a:ext cx="2571833" cy="1714555"/>
          </a:xfrm>
          <a:prstGeom prst="rect">
            <a:avLst/>
          </a:prstGeom>
        </p:spPr>
      </p:pic>
      <p:pic>
        <p:nvPicPr>
          <p:cNvPr id="11" name="Picture 10" descr="How to Grow Corn in Your Garden – Ugaoo">
            <a:extLst>
              <a:ext uri="{FF2B5EF4-FFF2-40B4-BE49-F238E27FC236}">
                <a16:creationId xmlns:a16="http://schemas.microsoft.com/office/drawing/2014/main" id="{B4859A7E-E0D9-F106-4584-B9EF90D477DE}"/>
              </a:ext>
            </a:extLst>
          </p:cNvPr>
          <p:cNvPicPr>
            <a:picLocks noChangeAspect="1"/>
          </p:cNvPicPr>
          <p:nvPr/>
        </p:nvPicPr>
        <p:blipFill>
          <a:blip r:embed="rId4"/>
          <a:stretch>
            <a:fillRect/>
          </a:stretch>
        </p:blipFill>
        <p:spPr>
          <a:xfrm>
            <a:off x="6153515" y="2450105"/>
            <a:ext cx="2571831" cy="1714554"/>
          </a:xfrm>
          <a:prstGeom prst="rect">
            <a:avLst/>
          </a:prstGeom>
        </p:spPr>
      </p:pic>
      <p:pic>
        <p:nvPicPr>
          <p:cNvPr id="13" name="Picture 12" descr="Soybean: how to grow, harvest &amp; use - Plantura">
            <a:extLst>
              <a:ext uri="{FF2B5EF4-FFF2-40B4-BE49-F238E27FC236}">
                <a16:creationId xmlns:a16="http://schemas.microsoft.com/office/drawing/2014/main" id="{58D1A54C-7D90-0C56-93F0-27A339F37745}"/>
              </a:ext>
            </a:extLst>
          </p:cNvPr>
          <p:cNvPicPr>
            <a:picLocks noChangeAspect="1"/>
          </p:cNvPicPr>
          <p:nvPr/>
        </p:nvPicPr>
        <p:blipFill>
          <a:blip r:embed="rId5"/>
          <a:stretch>
            <a:fillRect/>
          </a:stretch>
        </p:blipFill>
        <p:spPr>
          <a:xfrm>
            <a:off x="3225314" y="4640932"/>
            <a:ext cx="2571831" cy="1714554"/>
          </a:xfrm>
          <a:prstGeom prst="rect">
            <a:avLst/>
          </a:prstGeom>
        </p:spPr>
      </p:pic>
      <p:pic>
        <p:nvPicPr>
          <p:cNvPr id="14" name="Picture 13" descr="Arabidopsis thaliana (mouse-ear thale-cress): Go Botany">
            <a:extLst>
              <a:ext uri="{FF2B5EF4-FFF2-40B4-BE49-F238E27FC236}">
                <a16:creationId xmlns:a16="http://schemas.microsoft.com/office/drawing/2014/main" id="{E05E7CC1-2BE3-02B8-C6A3-991889F3F774}"/>
              </a:ext>
            </a:extLst>
          </p:cNvPr>
          <p:cNvPicPr>
            <a:picLocks noChangeAspect="1"/>
          </p:cNvPicPr>
          <p:nvPr/>
        </p:nvPicPr>
        <p:blipFill>
          <a:blip r:embed="rId6"/>
          <a:stretch>
            <a:fillRect/>
          </a:stretch>
        </p:blipFill>
        <p:spPr>
          <a:xfrm>
            <a:off x="6153514" y="4640932"/>
            <a:ext cx="2571831" cy="1714554"/>
          </a:xfrm>
          <a:prstGeom prst="rect">
            <a:avLst/>
          </a:prstGeom>
        </p:spPr>
      </p:pic>
      <p:sp>
        <p:nvSpPr>
          <p:cNvPr id="15" name="TextBox 14">
            <a:extLst>
              <a:ext uri="{FF2B5EF4-FFF2-40B4-BE49-F238E27FC236}">
                <a16:creationId xmlns:a16="http://schemas.microsoft.com/office/drawing/2014/main" id="{E29A11C9-6D1C-ADC3-5E39-276F7C617738}"/>
              </a:ext>
            </a:extLst>
          </p:cNvPr>
          <p:cNvSpPr txBox="1"/>
          <p:nvPr/>
        </p:nvSpPr>
        <p:spPr>
          <a:xfrm>
            <a:off x="1587062" y="3205655"/>
            <a:ext cx="65" cy="615553"/>
          </a:xfrm>
          <a:prstGeom prst="rect">
            <a:avLst/>
          </a:prstGeom>
          <a:noFill/>
        </p:spPr>
        <p:txBody>
          <a:bodyPr wrap="none" lIns="0" tIns="0" rIns="0" bIns="0" rtlCol="0">
            <a:spAutoFit/>
          </a:bodyPr>
          <a:lstStyle/>
          <a:p>
            <a:endParaRPr lang="en-US" sz="4000" err="1">
              <a:gradFill>
                <a:gsLst>
                  <a:gs pos="0">
                    <a:schemeClr val="tx1">
                      <a:lumMod val="75000"/>
                      <a:lumOff val="25000"/>
                    </a:schemeClr>
                  </a:gs>
                  <a:gs pos="80000">
                    <a:schemeClr val="tx1">
                      <a:lumMod val="65000"/>
                      <a:lumOff val="35000"/>
                    </a:schemeClr>
                  </a:gs>
                </a:gsLst>
                <a:lin ang="16200000" scaled="0"/>
              </a:gradFill>
              <a:latin typeface="Segoe UI Light" pitchFamily="34" charset="0"/>
            </a:endParaRPr>
          </a:p>
        </p:txBody>
      </p:sp>
      <p:sp>
        <p:nvSpPr>
          <p:cNvPr id="16" name="Rounded Rectangle 15">
            <a:extLst>
              <a:ext uri="{FF2B5EF4-FFF2-40B4-BE49-F238E27FC236}">
                <a16:creationId xmlns:a16="http://schemas.microsoft.com/office/drawing/2014/main" id="{B2EE2221-BBB5-6E63-B263-817949286A91}"/>
              </a:ext>
            </a:extLst>
          </p:cNvPr>
          <p:cNvSpPr/>
          <p:nvPr/>
        </p:nvSpPr>
        <p:spPr bwMode="auto">
          <a:xfrm>
            <a:off x="1620364" y="3029732"/>
            <a:ext cx="978432" cy="723773"/>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Rice</a:t>
            </a:r>
          </a:p>
        </p:txBody>
      </p:sp>
      <p:sp>
        <p:nvSpPr>
          <p:cNvPr id="17" name="Rounded Rectangle 16">
            <a:extLst>
              <a:ext uri="{FF2B5EF4-FFF2-40B4-BE49-F238E27FC236}">
                <a16:creationId xmlns:a16="http://schemas.microsoft.com/office/drawing/2014/main" id="{94223453-792D-DB5C-2285-F7852BC43A3F}"/>
              </a:ext>
            </a:extLst>
          </p:cNvPr>
          <p:cNvSpPr/>
          <p:nvPr/>
        </p:nvSpPr>
        <p:spPr bwMode="auto">
          <a:xfrm>
            <a:off x="9347082" y="3029731"/>
            <a:ext cx="1257856" cy="723773"/>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Maize</a:t>
            </a:r>
          </a:p>
        </p:txBody>
      </p:sp>
      <p:sp>
        <p:nvSpPr>
          <p:cNvPr id="18" name="Rounded Rectangle 17">
            <a:extLst>
              <a:ext uri="{FF2B5EF4-FFF2-40B4-BE49-F238E27FC236}">
                <a16:creationId xmlns:a16="http://schemas.microsoft.com/office/drawing/2014/main" id="{C19E46C8-E3FF-592E-6486-A11568ACB9C4}"/>
              </a:ext>
            </a:extLst>
          </p:cNvPr>
          <p:cNvSpPr/>
          <p:nvPr/>
        </p:nvSpPr>
        <p:spPr bwMode="auto">
          <a:xfrm>
            <a:off x="1667465" y="5136322"/>
            <a:ext cx="884229" cy="723773"/>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Soy</a:t>
            </a:r>
          </a:p>
        </p:txBody>
      </p:sp>
      <p:sp>
        <p:nvSpPr>
          <p:cNvPr id="19" name="Rounded Rectangle 18">
            <a:extLst>
              <a:ext uri="{FF2B5EF4-FFF2-40B4-BE49-F238E27FC236}">
                <a16:creationId xmlns:a16="http://schemas.microsoft.com/office/drawing/2014/main" id="{8B8CC266-96C5-04EB-9759-96D16F986495}"/>
              </a:ext>
            </a:extLst>
          </p:cNvPr>
          <p:cNvSpPr/>
          <p:nvPr/>
        </p:nvSpPr>
        <p:spPr bwMode="auto">
          <a:xfrm>
            <a:off x="9081714" y="5136321"/>
            <a:ext cx="2133338" cy="723773"/>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Arabidopsis</a:t>
            </a:r>
          </a:p>
        </p:txBody>
      </p:sp>
    </p:spTree>
    <p:extLst>
      <p:ext uri="{BB962C8B-B14F-4D97-AF65-F5344CB8AC3E}">
        <p14:creationId xmlns:p14="http://schemas.microsoft.com/office/powerpoint/2010/main" val="4084858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784E0-BA8B-7173-28A2-EDEBB4C9EF5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5BA2020-7230-259C-B169-9CB1B83C5ABC}"/>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23</a:t>
            </a:fld>
            <a:endParaRPr lang="en-US">
              <a:solidFill>
                <a:srgbClr val="000000"/>
              </a:solidFill>
              <a:latin typeface="Segoe UI"/>
            </a:endParaRPr>
          </a:p>
        </p:txBody>
      </p:sp>
      <p:sp>
        <p:nvSpPr>
          <p:cNvPr id="12" name="!!QTL">
            <a:extLst>
              <a:ext uri="{FF2B5EF4-FFF2-40B4-BE49-F238E27FC236}">
                <a16:creationId xmlns:a16="http://schemas.microsoft.com/office/drawing/2014/main" id="{8C2E9A36-1473-085E-AC41-CF80F58B0458}"/>
              </a:ext>
            </a:extLst>
          </p:cNvPr>
          <p:cNvSpPr/>
          <p:nvPr/>
        </p:nvSpPr>
        <p:spPr bwMode="auto">
          <a:xfrm>
            <a:off x="581269" y="1591196"/>
            <a:ext cx="6316329"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Trait-Gene Association</a:t>
            </a:r>
            <a:r>
              <a:rPr lang="en-US" sz="2800">
                <a:solidFill>
                  <a:schemeClr val="tx1"/>
                </a:solidFill>
                <a:latin typeface="Arial" panose="020B0604020202020204" pitchFamily="34" charset="0"/>
                <a:cs typeface="Arial" panose="020B0604020202020204" pitchFamily="34" charset="0"/>
              </a:rPr>
              <a:t> Database</a:t>
            </a:r>
            <a:endParaRPr lang="en-US" sz="2800" dirty="0">
              <a:solidFill>
                <a:schemeClr val="tx1"/>
              </a:solidFill>
              <a:latin typeface="Arial" panose="020B0604020202020204" pitchFamily="34" charset="0"/>
              <a:cs typeface="Arial" panose="020B0604020202020204" pitchFamily="34" charset="0"/>
            </a:endParaRPr>
          </a:p>
        </p:txBody>
      </p:sp>
      <p:sp>
        <p:nvSpPr>
          <p:cNvPr id="3" name="coexp">
            <a:extLst>
              <a:ext uri="{FF2B5EF4-FFF2-40B4-BE49-F238E27FC236}">
                <a16:creationId xmlns:a16="http://schemas.microsoft.com/office/drawing/2014/main" id="{75FBD92E-F377-0DA1-1BA3-F601AA25CD86}"/>
              </a:ext>
            </a:extLst>
          </p:cNvPr>
          <p:cNvSpPr/>
          <p:nvPr/>
        </p:nvSpPr>
        <p:spPr bwMode="auto">
          <a:xfrm>
            <a:off x="581271" y="2654400"/>
            <a:ext cx="6316329"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Gene-Gene Co-expression</a:t>
            </a:r>
            <a:r>
              <a:rPr lang="en-US" sz="2800">
                <a:solidFill>
                  <a:schemeClr val="tx1"/>
                </a:solidFill>
                <a:latin typeface="Arial" panose="020B0604020202020204" pitchFamily="34" charset="0"/>
                <a:cs typeface="Arial" panose="020B0604020202020204" pitchFamily="34" charset="0"/>
              </a:rPr>
              <a:t> Database</a:t>
            </a:r>
            <a:endParaRPr lang="en-US" sz="2800" dirty="0">
              <a:solidFill>
                <a:schemeClr val="tx1"/>
              </a:solidFill>
              <a:latin typeface="Arial" panose="020B0604020202020204" pitchFamily="34" charset="0"/>
              <a:cs typeface="Arial" panose="020B0604020202020204" pitchFamily="34" charset="0"/>
            </a:endParaRPr>
          </a:p>
        </p:txBody>
      </p:sp>
      <p:sp>
        <p:nvSpPr>
          <p:cNvPr id="2" name="!!3">
            <a:extLst>
              <a:ext uri="{FF2B5EF4-FFF2-40B4-BE49-F238E27FC236}">
                <a16:creationId xmlns:a16="http://schemas.microsoft.com/office/drawing/2014/main" id="{1E8B4D89-9B9B-46FA-34BD-1B3D8E108333}"/>
              </a:ext>
            </a:extLst>
          </p:cNvPr>
          <p:cNvSpPr/>
          <p:nvPr/>
        </p:nvSpPr>
        <p:spPr bwMode="auto">
          <a:xfrm>
            <a:off x="0" y="272007"/>
            <a:ext cx="7653256"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Biological Evidence Data</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Tree>
    <p:extLst>
      <p:ext uri="{BB962C8B-B14F-4D97-AF65-F5344CB8AC3E}">
        <p14:creationId xmlns:p14="http://schemas.microsoft.com/office/powerpoint/2010/main" val="36653352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BF766-41A7-C194-92E9-16F2623DD4C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3EEDBA-C3BF-8D41-7743-7DFECEB56D32}"/>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24</a:t>
            </a:fld>
            <a:endParaRPr lang="en-US">
              <a:solidFill>
                <a:srgbClr val="000000"/>
              </a:solidFill>
              <a:latin typeface="Segoe UI"/>
            </a:endParaRPr>
          </a:p>
        </p:txBody>
      </p:sp>
      <p:sp>
        <p:nvSpPr>
          <p:cNvPr id="12" name="!!QTL">
            <a:extLst>
              <a:ext uri="{FF2B5EF4-FFF2-40B4-BE49-F238E27FC236}">
                <a16:creationId xmlns:a16="http://schemas.microsoft.com/office/drawing/2014/main" id="{CB1CC100-76FE-F5E9-7D43-95AE52C3A780}"/>
              </a:ext>
            </a:extLst>
          </p:cNvPr>
          <p:cNvSpPr/>
          <p:nvPr/>
        </p:nvSpPr>
        <p:spPr bwMode="auto">
          <a:xfrm>
            <a:off x="581271" y="1591196"/>
            <a:ext cx="4757983" cy="2426448"/>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dirty="0">
                <a:solidFill>
                  <a:schemeClr val="tx1"/>
                </a:solidFill>
                <a:latin typeface="Arial" panose="020B0604020202020204" pitchFamily="34" charset="0"/>
                <a:cs typeface="Arial" panose="020B0604020202020204" pitchFamily="34" charset="0"/>
              </a:rPr>
              <a:t>Trait-Gene </a:t>
            </a:r>
            <a:r>
              <a:rPr lang="en-US" sz="2800" b="1">
                <a:solidFill>
                  <a:schemeClr val="tx1"/>
                </a:solidFill>
                <a:latin typeface="Arial" panose="020B0604020202020204" pitchFamily="34" charset="0"/>
                <a:cs typeface="Arial" panose="020B0604020202020204" pitchFamily="34" charset="0"/>
              </a:rPr>
              <a:t>Association </a:t>
            </a:r>
            <a:r>
              <a:rPr lang="en-US" sz="2800" b="1" dirty="0">
                <a:solidFill>
                  <a:schemeClr val="tx1"/>
                </a:solidFill>
                <a:latin typeface="Arial" panose="020B0604020202020204" pitchFamily="34" charset="0"/>
                <a:cs typeface="Arial" panose="020B0604020202020204" pitchFamily="34" charset="0"/>
              </a:rPr>
              <a:t>(QTL)</a:t>
            </a:r>
            <a:r>
              <a:rPr lang="en-US" sz="2800" b="1">
                <a:solidFill>
                  <a:schemeClr val="tx1"/>
                </a:solidFill>
                <a:latin typeface="Arial" panose="020B0604020202020204" pitchFamily="34" charset="0"/>
                <a:cs typeface="Arial" panose="020B0604020202020204" pitchFamily="34" charset="0"/>
              </a:rPr>
              <a:t> Database</a:t>
            </a:r>
          </a:p>
          <a:p>
            <a:endParaRPr lang="en-US" sz="2000" b="1">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Quantitative Trait Locus - a specific region in DNA responsible for a trait.</a:t>
            </a:r>
          </a:p>
        </p:txBody>
      </p:sp>
      <p:sp>
        <p:nvSpPr>
          <p:cNvPr id="3" name="coexp">
            <a:extLst>
              <a:ext uri="{FF2B5EF4-FFF2-40B4-BE49-F238E27FC236}">
                <a16:creationId xmlns:a16="http://schemas.microsoft.com/office/drawing/2014/main" id="{1D35FC47-22C9-5EBA-5715-98BD4466144E}"/>
              </a:ext>
            </a:extLst>
          </p:cNvPr>
          <p:cNvSpPr/>
          <p:nvPr/>
        </p:nvSpPr>
        <p:spPr bwMode="auto">
          <a:xfrm>
            <a:off x="581271" y="4357075"/>
            <a:ext cx="4757983" cy="909729"/>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alpha val="16000"/>
                  </a:schemeClr>
                </a:solidFill>
                <a:latin typeface="Arial" panose="020B0604020202020204" pitchFamily="34" charset="0"/>
                <a:cs typeface="Arial" panose="020B0604020202020204" pitchFamily="34" charset="0"/>
              </a:rPr>
              <a:t>Gene-Gene (Co-expression) Database</a:t>
            </a:r>
          </a:p>
        </p:txBody>
      </p:sp>
      <p:sp>
        <p:nvSpPr>
          <p:cNvPr id="5" name="Rounded Rectangle 4">
            <a:extLst>
              <a:ext uri="{FF2B5EF4-FFF2-40B4-BE49-F238E27FC236}">
                <a16:creationId xmlns:a16="http://schemas.microsoft.com/office/drawing/2014/main" id="{038973BD-6760-7399-882B-9309FC1F0107}"/>
              </a:ext>
            </a:extLst>
          </p:cNvPr>
          <p:cNvSpPr/>
          <p:nvPr/>
        </p:nvSpPr>
        <p:spPr bwMode="auto">
          <a:xfrm>
            <a:off x="6393893" y="1591196"/>
            <a:ext cx="4757983" cy="1982321"/>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a:solidFill>
                <a:schemeClr val="tx1"/>
              </a:solidFill>
              <a:latin typeface="Arial" panose="020B0604020202020204" pitchFamily="34" charset="0"/>
              <a:cs typeface="Arial" panose="020B0604020202020204" pitchFamily="34" charset="0"/>
            </a:endParaRPr>
          </a:p>
          <a:p>
            <a:r>
              <a:rPr lang="en-US" err="1">
                <a:solidFill>
                  <a:schemeClr val="tx1"/>
                </a:solidFill>
                <a:latin typeface="Arial" panose="020B0604020202020204" pitchFamily="34" charset="0"/>
                <a:cs typeface="Arial" panose="020B0604020202020204" pitchFamily="34" charset="0"/>
              </a:rPr>
              <a:t>GeneSieve</a:t>
            </a:r>
            <a:r>
              <a:rPr lang="en-US">
                <a:solidFill>
                  <a:schemeClr val="tx1"/>
                </a:solidFill>
                <a:latin typeface="Arial" panose="020B0604020202020204" pitchFamily="34" charset="0"/>
                <a:cs typeface="Arial" panose="020B0604020202020204" pitchFamily="34" charset="0"/>
              </a:rPr>
              <a:t> contains 952,630 distinct QTL associations, linking 1,055 traits to 127,611 genes.</a:t>
            </a:r>
          </a:p>
          <a:p>
            <a:endParaRPr lang="en-US">
              <a:solidFill>
                <a:schemeClr val="tx1"/>
              </a:solidFill>
              <a:latin typeface="Arial" panose="020B0604020202020204" pitchFamily="34" charset="0"/>
              <a:cs typeface="Arial" panose="020B0604020202020204" pitchFamily="34" charset="0"/>
            </a:endParaRPr>
          </a:p>
        </p:txBody>
      </p:sp>
      <p:sp>
        <p:nvSpPr>
          <p:cNvPr id="2" name="!!3">
            <a:extLst>
              <a:ext uri="{FF2B5EF4-FFF2-40B4-BE49-F238E27FC236}">
                <a16:creationId xmlns:a16="http://schemas.microsoft.com/office/drawing/2014/main" id="{58794E03-8CD9-0AD6-232F-228ED9B5724C}"/>
              </a:ext>
            </a:extLst>
          </p:cNvPr>
          <p:cNvSpPr/>
          <p:nvPr/>
        </p:nvSpPr>
        <p:spPr bwMode="auto">
          <a:xfrm>
            <a:off x="0" y="272007"/>
            <a:ext cx="7653256"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Biological Evidence Data</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Tree>
    <p:extLst>
      <p:ext uri="{BB962C8B-B14F-4D97-AF65-F5344CB8AC3E}">
        <p14:creationId xmlns:p14="http://schemas.microsoft.com/office/powerpoint/2010/main" val="10271042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C02BD-0491-05F1-1EC0-C7F383A2A6D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4931B1-761C-CD81-7158-0FBC1FDF2161}"/>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25</a:t>
            </a:fld>
            <a:endParaRPr lang="en-US">
              <a:solidFill>
                <a:srgbClr val="000000"/>
              </a:solidFill>
              <a:latin typeface="Segoe UI"/>
            </a:endParaRPr>
          </a:p>
        </p:txBody>
      </p:sp>
      <p:sp>
        <p:nvSpPr>
          <p:cNvPr id="12" name="!!QTL">
            <a:extLst>
              <a:ext uri="{FF2B5EF4-FFF2-40B4-BE49-F238E27FC236}">
                <a16:creationId xmlns:a16="http://schemas.microsoft.com/office/drawing/2014/main" id="{06F51CB6-1D36-FFF9-CE3E-A0191C04660F}"/>
              </a:ext>
            </a:extLst>
          </p:cNvPr>
          <p:cNvSpPr/>
          <p:nvPr/>
        </p:nvSpPr>
        <p:spPr bwMode="auto">
          <a:xfrm>
            <a:off x="581271" y="1591196"/>
            <a:ext cx="4757983" cy="2426448"/>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a:solidFill>
                  <a:schemeClr val="tx1"/>
                </a:solidFill>
                <a:latin typeface="Arial" panose="020B0604020202020204" pitchFamily="34" charset="0"/>
                <a:cs typeface="Arial" panose="020B0604020202020204" pitchFamily="34" charset="0"/>
              </a:rPr>
              <a:t>Trait-Gene Association (QTL) Database</a:t>
            </a:r>
            <a:br>
              <a:rPr lang="en-US" sz="2800" b="1">
                <a:solidFill>
                  <a:schemeClr val="tx1"/>
                </a:solidFill>
                <a:latin typeface="Arial" panose="020B0604020202020204" pitchFamily="34" charset="0"/>
                <a:cs typeface="Arial" panose="020B0604020202020204" pitchFamily="34" charset="0"/>
              </a:rPr>
            </a:br>
            <a:endParaRPr lang="en-US" sz="3200" b="1">
              <a:solidFill>
                <a:schemeClr val="tx1"/>
              </a:solidFill>
              <a:latin typeface="Arial" panose="020B0604020202020204" pitchFamily="34" charset="0"/>
              <a:cs typeface="Arial" panose="020B0604020202020204" pitchFamily="34" charset="0"/>
            </a:endParaRPr>
          </a:p>
          <a:p>
            <a:r>
              <a:rPr lang="en-US">
                <a:solidFill>
                  <a:schemeClr val="tx1"/>
                </a:solidFill>
                <a:latin typeface="Arial" panose="020B0604020202020204" pitchFamily="34" charset="0"/>
                <a:cs typeface="Arial" panose="020B0604020202020204" pitchFamily="34" charset="0"/>
              </a:rPr>
              <a:t>Quantitative Trait Locus - a specific region in DNA responsible for a trait.</a:t>
            </a:r>
          </a:p>
        </p:txBody>
      </p:sp>
      <p:sp>
        <p:nvSpPr>
          <p:cNvPr id="3" name="!!coexp">
            <a:extLst>
              <a:ext uri="{FF2B5EF4-FFF2-40B4-BE49-F238E27FC236}">
                <a16:creationId xmlns:a16="http://schemas.microsoft.com/office/drawing/2014/main" id="{302EB241-46FE-F5A4-6EB3-4726F2C50CFE}"/>
              </a:ext>
            </a:extLst>
          </p:cNvPr>
          <p:cNvSpPr/>
          <p:nvPr/>
        </p:nvSpPr>
        <p:spPr bwMode="auto">
          <a:xfrm>
            <a:off x="581271" y="4357075"/>
            <a:ext cx="4757983" cy="909729"/>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alpha val="16000"/>
                  </a:schemeClr>
                </a:solidFill>
                <a:latin typeface="Arial" panose="020B0604020202020204" pitchFamily="34" charset="0"/>
                <a:cs typeface="Arial" panose="020B0604020202020204" pitchFamily="34" charset="0"/>
              </a:rPr>
              <a:t>Gene-Gene (Co-expression) Database</a:t>
            </a:r>
          </a:p>
        </p:txBody>
      </p:sp>
      <p:pic>
        <p:nvPicPr>
          <p:cNvPr id="26" name="Picture 25">
            <a:extLst>
              <a:ext uri="{FF2B5EF4-FFF2-40B4-BE49-F238E27FC236}">
                <a16:creationId xmlns:a16="http://schemas.microsoft.com/office/drawing/2014/main" id="{38B5C0BC-186A-B226-0F26-47337EE4D519}"/>
              </a:ext>
            </a:extLst>
          </p:cNvPr>
          <p:cNvPicPr>
            <a:picLocks noChangeAspect="1"/>
          </p:cNvPicPr>
          <p:nvPr/>
        </p:nvPicPr>
        <p:blipFill>
          <a:blip r:embed="rId3"/>
          <a:stretch>
            <a:fillRect/>
          </a:stretch>
        </p:blipFill>
        <p:spPr>
          <a:xfrm>
            <a:off x="5669280" y="1354028"/>
            <a:ext cx="6259252" cy="4149943"/>
          </a:xfrm>
          <a:prstGeom prst="rect">
            <a:avLst/>
          </a:prstGeom>
        </p:spPr>
      </p:pic>
      <p:sp>
        <p:nvSpPr>
          <p:cNvPr id="2" name="!!3">
            <a:extLst>
              <a:ext uri="{FF2B5EF4-FFF2-40B4-BE49-F238E27FC236}">
                <a16:creationId xmlns:a16="http://schemas.microsoft.com/office/drawing/2014/main" id="{DCCD4926-306C-E08E-147C-599C7AEE7C8F}"/>
              </a:ext>
            </a:extLst>
          </p:cNvPr>
          <p:cNvSpPr/>
          <p:nvPr/>
        </p:nvSpPr>
        <p:spPr bwMode="auto">
          <a:xfrm>
            <a:off x="0" y="272007"/>
            <a:ext cx="7653256"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Biological Evidence Data</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Tree>
    <p:extLst>
      <p:ext uri="{BB962C8B-B14F-4D97-AF65-F5344CB8AC3E}">
        <p14:creationId xmlns:p14="http://schemas.microsoft.com/office/powerpoint/2010/main" val="1396011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51EC0-5922-04E3-2BCD-1CBF441F434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FF4701-8AE5-0A06-FDE3-616BFD6CA34D}"/>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26</a:t>
            </a:fld>
            <a:endParaRPr lang="en-US">
              <a:solidFill>
                <a:srgbClr val="000000"/>
              </a:solidFill>
              <a:latin typeface="Segoe UI"/>
            </a:endParaRPr>
          </a:p>
        </p:txBody>
      </p:sp>
      <p:sp>
        <p:nvSpPr>
          <p:cNvPr id="12" name="!!QTL">
            <a:extLst>
              <a:ext uri="{FF2B5EF4-FFF2-40B4-BE49-F238E27FC236}">
                <a16:creationId xmlns:a16="http://schemas.microsoft.com/office/drawing/2014/main" id="{86AE5E6A-87D1-4287-82BC-DB34B3575048}"/>
              </a:ext>
            </a:extLst>
          </p:cNvPr>
          <p:cNvSpPr/>
          <p:nvPr/>
        </p:nvSpPr>
        <p:spPr bwMode="auto">
          <a:xfrm>
            <a:off x="581271" y="1591196"/>
            <a:ext cx="4757983" cy="723773"/>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alpha val="16000"/>
                  </a:schemeClr>
                </a:solidFill>
                <a:latin typeface="Arial" panose="020B0604020202020204" pitchFamily="34" charset="0"/>
                <a:cs typeface="Arial" panose="020B0604020202020204" pitchFamily="34" charset="0"/>
              </a:rPr>
              <a:t>Trait-Gene (QTL)</a:t>
            </a:r>
          </a:p>
        </p:txBody>
      </p:sp>
      <p:sp>
        <p:nvSpPr>
          <p:cNvPr id="2" name="TextBox 1">
            <a:extLst>
              <a:ext uri="{FF2B5EF4-FFF2-40B4-BE49-F238E27FC236}">
                <a16:creationId xmlns:a16="http://schemas.microsoft.com/office/drawing/2014/main" id="{A7E56BED-CAB5-BA2B-9188-3AF941788191}"/>
              </a:ext>
            </a:extLst>
          </p:cNvPr>
          <p:cNvSpPr txBox="1"/>
          <p:nvPr/>
        </p:nvSpPr>
        <p:spPr>
          <a:xfrm>
            <a:off x="8723586" y="2385848"/>
            <a:ext cx="65" cy="615553"/>
          </a:xfrm>
          <a:prstGeom prst="rect">
            <a:avLst/>
          </a:prstGeom>
          <a:noFill/>
        </p:spPr>
        <p:txBody>
          <a:bodyPr wrap="none" lIns="0" tIns="0" rIns="0" bIns="0" rtlCol="0">
            <a:spAutoFit/>
          </a:bodyPr>
          <a:lstStyle/>
          <a:p>
            <a:endParaRPr lang="en-US" sz="4000">
              <a:gradFill>
                <a:gsLst>
                  <a:gs pos="0">
                    <a:schemeClr val="tx1">
                      <a:lumMod val="75000"/>
                      <a:lumOff val="25000"/>
                    </a:schemeClr>
                  </a:gs>
                  <a:gs pos="80000">
                    <a:schemeClr val="tx1">
                      <a:lumMod val="65000"/>
                      <a:lumOff val="35000"/>
                    </a:schemeClr>
                  </a:gs>
                </a:gsLst>
                <a:lin ang="16200000" scaled="0"/>
              </a:gradFill>
              <a:latin typeface="Segoe UI Light" pitchFamily="34" charset="0"/>
            </a:endParaRPr>
          </a:p>
        </p:txBody>
      </p:sp>
      <p:sp>
        <p:nvSpPr>
          <p:cNvPr id="5" name="Rounded Rectangle 4">
            <a:extLst>
              <a:ext uri="{FF2B5EF4-FFF2-40B4-BE49-F238E27FC236}">
                <a16:creationId xmlns:a16="http://schemas.microsoft.com/office/drawing/2014/main" id="{3D03FE64-C52E-DAFA-59E3-ED4C76F9107A}"/>
              </a:ext>
            </a:extLst>
          </p:cNvPr>
          <p:cNvSpPr/>
          <p:nvPr/>
        </p:nvSpPr>
        <p:spPr bwMode="auto">
          <a:xfrm>
            <a:off x="6344594" y="1576792"/>
            <a:ext cx="5103405" cy="3650408"/>
          </a:xfrm>
          <a:prstGeom prst="roundRect">
            <a:avLst>
              <a:gd name="adj" fmla="val 12553"/>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&gt; 750 RNA-seq experiments for each species</a:t>
            </a:r>
          </a:p>
          <a:p>
            <a:endParaRPr lang="en-US" sz="2800">
              <a:solidFill>
                <a:schemeClr val="tx1"/>
              </a:solidFill>
              <a:latin typeface="Arial" panose="020B0604020202020204" pitchFamily="34" charset="0"/>
              <a:cs typeface="Arial" panose="020B0604020202020204" pitchFamily="34" charset="0"/>
            </a:endParaRPr>
          </a:p>
          <a:p>
            <a:r>
              <a:rPr lang="en-US" sz="2800">
                <a:solidFill>
                  <a:schemeClr val="tx1"/>
                </a:solidFill>
                <a:latin typeface="Arial" panose="020B0604020202020204" pitchFamily="34" charset="0"/>
                <a:cs typeface="Arial" panose="020B0604020202020204" pitchFamily="34" charset="0"/>
              </a:rPr>
              <a:t>&gt; 2.4 billion distinct gene-gene co-expression relationships</a:t>
            </a:r>
          </a:p>
          <a:p>
            <a:endParaRPr lang="en-US" sz="2800">
              <a:solidFill>
                <a:schemeClr val="tx1"/>
              </a:solidFill>
              <a:latin typeface="Arial" panose="020B0604020202020204" pitchFamily="34" charset="0"/>
              <a:cs typeface="Arial" panose="020B0604020202020204" pitchFamily="34" charset="0"/>
            </a:endParaRPr>
          </a:p>
          <a:p>
            <a:r>
              <a:rPr lang="en-US" sz="2800">
                <a:solidFill>
                  <a:schemeClr val="tx1"/>
                </a:solidFill>
                <a:latin typeface="Arial" panose="020B0604020202020204" pitchFamily="34" charset="0"/>
                <a:cs typeface="Arial" panose="020B0604020202020204" pitchFamily="34" charset="0"/>
              </a:rPr>
              <a:t>&gt; </a:t>
            </a:r>
            <a:r>
              <a:rPr lang="en-US" sz="2800" dirty="0">
                <a:solidFill>
                  <a:schemeClr val="tx1"/>
                </a:solidFill>
                <a:latin typeface="Arial" panose="020B0604020202020204" pitchFamily="34" charset="0"/>
                <a:cs typeface="Arial" panose="020B0604020202020204" pitchFamily="34" charset="0"/>
              </a:rPr>
              <a:t>160K</a:t>
            </a:r>
            <a:r>
              <a:rPr lang="en-US" sz="2800">
                <a:solidFill>
                  <a:schemeClr val="tx1"/>
                </a:solidFill>
                <a:latin typeface="Arial" panose="020B0604020202020204" pitchFamily="34" charset="0"/>
                <a:cs typeface="Arial" panose="020B0604020202020204" pitchFamily="34" charset="0"/>
              </a:rPr>
              <a:t> distinct genes</a:t>
            </a:r>
          </a:p>
        </p:txBody>
      </p:sp>
      <p:sp>
        <p:nvSpPr>
          <p:cNvPr id="6" name="!!coexp">
            <a:extLst>
              <a:ext uri="{FF2B5EF4-FFF2-40B4-BE49-F238E27FC236}">
                <a16:creationId xmlns:a16="http://schemas.microsoft.com/office/drawing/2014/main" id="{4D08F456-2A0E-A52F-9638-49F172A659A0}"/>
              </a:ext>
            </a:extLst>
          </p:cNvPr>
          <p:cNvSpPr/>
          <p:nvPr/>
        </p:nvSpPr>
        <p:spPr bwMode="auto">
          <a:xfrm>
            <a:off x="581271" y="2654400"/>
            <a:ext cx="4757983" cy="1244938"/>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a:solidFill>
                  <a:schemeClr val="tx1"/>
                </a:solidFill>
                <a:latin typeface="Arial" panose="020B0604020202020204" pitchFamily="34" charset="0"/>
                <a:cs typeface="Arial" panose="020B0604020202020204" pitchFamily="34" charset="0"/>
              </a:rPr>
              <a:t>Gene-Gene </a:t>
            </a:r>
          </a:p>
          <a:p>
            <a:r>
              <a:rPr lang="en-US" sz="2800" b="1">
                <a:solidFill>
                  <a:schemeClr val="tx1"/>
                </a:solidFill>
                <a:latin typeface="Arial" panose="020B0604020202020204" pitchFamily="34" charset="0"/>
                <a:cs typeface="Arial" panose="020B0604020202020204" pitchFamily="34" charset="0"/>
              </a:rPr>
              <a:t>(Co-expression)</a:t>
            </a:r>
          </a:p>
        </p:txBody>
      </p:sp>
      <p:sp>
        <p:nvSpPr>
          <p:cNvPr id="3" name="!!3">
            <a:extLst>
              <a:ext uri="{FF2B5EF4-FFF2-40B4-BE49-F238E27FC236}">
                <a16:creationId xmlns:a16="http://schemas.microsoft.com/office/drawing/2014/main" id="{3DEA7669-AD91-5CD8-237F-2BE4A6FBC34E}"/>
              </a:ext>
            </a:extLst>
          </p:cNvPr>
          <p:cNvSpPr/>
          <p:nvPr/>
        </p:nvSpPr>
        <p:spPr bwMode="auto">
          <a:xfrm>
            <a:off x="0" y="272007"/>
            <a:ext cx="7653256"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Biological Evidence Data</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Tree>
    <p:extLst>
      <p:ext uri="{BB962C8B-B14F-4D97-AF65-F5344CB8AC3E}">
        <p14:creationId xmlns:p14="http://schemas.microsoft.com/office/powerpoint/2010/main" val="22125362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5D591-E7E6-EC47-82C2-EF9A75B37A5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88F3206-4CFF-E94F-0688-68CA2F592425}"/>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27</a:t>
            </a:fld>
            <a:endParaRPr lang="en-US">
              <a:solidFill>
                <a:srgbClr val="000000"/>
              </a:solidFill>
              <a:latin typeface="Segoe UI"/>
            </a:endParaRPr>
          </a:p>
        </p:txBody>
      </p:sp>
      <p:sp>
        <p:nvSpPr>
          <p:cNvPr id="12" name="!!QTL">
            <a:extLst>
              <a:ext uri="{FF2B5EF4-FFF2-40B4-BE49-F238E27FC236}">
                <a16:creationId xmlns:a16="http://schemas.microsoft.com/office/drawing/2014/main" id="{6CB56B82-D331-124D-EDE2-B0A7A6A1CD05}"/>
              </a:ext>
            </a:extLst>
          </p:cNvPr>
          <p:cNvSpPr/>
          <p:nvPr/>
        </p:nvSpPr>
        <p:spPr bwMode="auto">
          <a:xfrm>
            <a:off x="581271" y="1591196"/>
            <a:ext cx="4757983" cy="723773"/>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alpha val="16000"/>
                  </a:schemeClr>
                </a:solidFill>
                <a:latin typeface="Arial" panose="020B0604020202020204" pitchFamily="34" charset="0"/>
                <a:cs typeface="Arial" panose="020B0604020202020204" pitchFamily="34" charset="0"/>
              </a:rPr>
              <a:t>Trait-Gene (QTL)</a:t>
            </a:r>
          </a:p>
        </p:txBody>
      </p:sp>
      <p:sp>
        <p:nvSpPr>
          <p:cNvPr id="2" name="TextBox 1">
            <a:extLst>
              <a:ext uri="{FF2B5EF4-FFF2-40B4-BE49-F238E27FC236}">
                <a16:creationId xmlns:a16="http://schemas.microsoft.com/office/drawing/2014/main" id="{104FFA4B-63DF-96FF-3333-C826B556CCB6}"/>
              </a:ext>
            </a:extLst>
          </p:cNvPr>
          <p:cNvSpPr txBox="1"/>
          <p:nvPr/>
        </p:nvSpPr>
        <p:spPr>
          <a:xfrm>
            <a:off x="8723586" y="2385848"/>
            <a:ext cx="65" cy="615553"/>
          </a:xfrm>
          <a:prstGeom prst="rect">
            <a:avLst/>
          </a:prstGeom>
          <a:noFill/>
        </p:spPr>
        <p:txBody>
          <a:bodyPr wrap="none" lIns="0" tIns="0" rIns="0" bIns="0" rtlCol="0">
            <a:spAutoFit/>
          </a:bodyPr>
          <a:lstStyle/>
          <a:p>
            <a:endParaRPr lang="en-US" sz="4000">
              <a:gradFill>
                <a:gsLst>
                  <a:gs pos="0">
                    <a:schemeClr val="tx1">
                      <a:lumMod val="75000"/>
                      <a:lumOff val="25000"/>
                    </a:schemeClr>
                  </a:gs>
                  <a:gs pos="80000">
                    <a:schemeClr val="tx1">
                      <a:lumMod val="65000"/>
                      <a:lumOff val="35000"/>
                    </a:schemeClr>
                  </a:gs>
                </a:gsLst>
                <a:lin ang="16200000" scaled="0"/>
              </a:gradFill>
              <a:latin typeface="Segoe UI Light" pitchFamily="34" charset="0"/>
            </a:endParaRPr>
          </a:p>
        </p:txBody>
      </p:sp>
      <p:sp>
        <p:nvSpPr>
          <p:cNvPr id="6" name="!!coexp">
            <a:extLst>
              <a:ext uri="{FF2B5EF4-FFF2-40B4-BE49-F238E27FC236}">
                <a16:creationId xmlns:a16="http://schemas.microsoft.com/office/drawing/2014/main" id="{2EC7E7A5-1E8B-2517-F572-4AE9317572DF}"/>
              </a:ext>
            </a:extLst>
          </p:cNvPr>
          <p:cNvSpPr/>
          <p:nvPr/>
        </p:nvSpPr>
        <p:spPr bwMode="auto">
          <a:xfrm>
            <a:off x="581271" y="2654400"/>
            <a:ext cx="4757983" cy="1244938"/>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a:solidFill>
                  <a:schemeClr val="tx1"/>
                </a:solidFill>
                <a:latin typeface="Arial" panose="020B0604020202020204" pitchFamily="34" charset="0"/>
                <a:cs typeface="Arial" panose="020B0604020202020204" pitchFamily="34" charset="0"/>
              </a:rPr>
              <a:t>Gene-Gene </a:t>
            </a:r>
          </a:p>
          <a:p>
            <a:r>
              <a:rPr lang="en-US" sz="2800" b="1">
                <a:solidFill>
                  <a:schemeClr val="tx1"/>
                </a:solidFill>
                <a:latin typeface="Arial" panose="020B0604020202020204" pitchFamily="34" charset="0"/>
                <a:cs typeface="Arial" panose="020B0604020202020204" pitchFamily="34" charset="0"/>
              </a:rPr>
              <a:t>(Co-expression)</a:t>
            </a:r>
          </a:p>
        </p:txBody>
      </p:sp>
      <p:pic>
        <p:nvPicPr>
          <p:cNvPr id="10" name="Picture 9">
            <a:extLst>
              <a:ext uri="{FF2B5EF4-FFF2-40B4-BE49-F238E27FC236}">
                <a16:creationId xmlns:a16="http://schemas.microsoft.com/office/drawing/2014/main" id="{57373F9F-6A1C-9327-4B6C-445EEC8A0745}"/>
              </a:ext>
            </a:extLst>
          </p:cNvPr>
          <p:cNvPicPr>
            <a:picLocks noChangeAspect="1"/>
          </p:cNvPicPr>
          <p:nvPr/>
        </p:nvPicPr>
        <p:blipFill>
          <a:blip r:embed="rId3"/>
          <a:stretch>
            <a:fillRect/>
          </a:stretch>
        </p:blipFill>
        <p:spPr>
          <a:xfrm>
            <a:off x="6002942" y="1401422"/>
            <a:ext cx="5396491" cy="1968852"/>
          </a:xfrm>
          <a:prstGeom prst="rect">
            <a:avLst/>
          </a:prstGeom>
        </p:spPr>
      </p:pic>
      <p:pic>
        <p:nvPicPr>
          <p:cNvPr id="14" name="Picture 13">
            <a:extLst>
              <a:ext uri="{FF2B5EF4-FFF2-40B4-BE49-F238E27FC236}">
                <a16:creationId xmlns:a16="http://schemas.microsoft.com/office/drawing/2014/main" id="{BF08C1C0-2509-47D5-0A7F-CE640C602916}"/>
              </a:ext>
            </a:extLst>
          </p:cNvPr>
          <p:cNvPicPr>
            <a:picLocks noChangeAspect="1"/>
          </p:cNvPicPr>
          <p:nvPr/>
        </p:nvPicPr>
        <p:blipFill>
          <a:blip r:embed="rId4"/>
          <a:stretch>
            <a:fillRect/>
          </a:stretch>
        </p:blipFill>
        <p:spPr>
          <a:xfrm>
            <a:off x="5786380" y="3899338"/>
            <a:ext cx="5874411" cy="1837804"/>
          </a:xfrm>
          <a:prstGeom prst="rect">
            <a:avLst/>
          </a:prstGeom>
        </p:spPr>
      </p:pic>
      <p:sp>
        <p:nvSpPr>
          <p:cNvPr id="3" name="!!3">
            <a:extLst>
              <a:ext uri="{FF2B5EF4-FFF2-40B4-BE49-F238E27FC236}">
                <a16:creationId xmlns:a16="http://schemas.microsoft.com/office/drawing/2014/main" id="{2E852BE8-EDB1-8F6C-CD18-85CA71B4B7A9}"/>
              </a:ext>
            </a:extLst>
          </p:cNvPr>
          <p:cNvSpPr/>
          <p:nvPr/>
        </p:nvSpPr>
        <p:spPr bwMode="auto">
          <a:xfrm>
            <a:off x="0" y="272007"/>
            <a:ext cx="7653256"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Biological Evidence Data</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Tree>
    <p:extLst>
      <p:ext uri="{BB962C8B-B14F-4D97-AF65-F5344CB8AC3E}">
        <p14:creationId xmlns:p14="http://schemas.microsoft.com/office/powerpoint/2010/main" val="4251660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440E3-C01F-C5CB-3E14-ED5E25F45423}"/>
            </a:ext>
          </a:extLst>
        </p:cNvPr>
        <p:cNvGrpSpPr/>
        <p:nvPr/>
      </p:nvGrpSpPr>
      <p:grpSpPr>
        <a:xfrm>
          <a:off x="0" y="0"/>
          <a:ext cx="0" cy="0"/>
          <a:chOff x="0" y="0"/>
          <a:chExt cx="0" cy="0"/>
        </a:xfrm>
      </p:grpSpPr>
      <p:sp>
        <p:nvSpPr>
          <p:cNvPr id="13" name="Title 2">
            <a:extLst>
              <a:ext uri="{FF2B5EF4-FFF2-40B4-BE49-F238E27FC236}">
                <a16:creationId xmlns:a16="http://schemas.microsoft.com/office/drawing/2014/main" id="{3BCBC525-8BA9-ADE9-C377-89A10E100E2B}"/>
              </a:ext>
            </a:extLst>
          </p:cNvPr>
          <p:cNvSpPr>
            <a:spLocks noGrp="1"/>
          </p:cNvSpPr>
          <p:nvPr>
            <p:ph type="title"/>
          </p:nvPr>
        </p:nvSpPr>
        <p:spPr>
          <a:xfrm>
            <a:off x="217117" y="69643"/>
            <a:ext cx="10571968" cy="963668"/>
          </a:xfrm>
        </p:spPr>
        <p:txBody>
          <a:bodyPr vert="horz" wrap="square" lIns="121920" tIns="60960" rIns="121920" bIns="60960" rtlCol="0" anchor="ctr" anchorCtr="0">
            <a:normAutofit/>
          </a:bodyPr>
          <a:lstStyle/>
          <a:p>
            <a:r>
              <a:rPr lang="en-US" altLang="zh-CN" sz="4000"/>
              <a:t>Outline</a:t>
            </a:r>
            <a:endParaRPr lang="en-US" sz="4000">
              <a:latin typeface="Open Sans" panose="020B0606030504020204" pitchFamily="34" charset="0"/>
            </a:endParaRPr>
          </a:p>
        </p:txBody>
      </p:sp>
      <p:sp>
        <p:nvSpPr>
          <p:cNvPr id="4" name="Slide Number Placeholder 3">
            <a:extLst>
              <a:ext uri="{FF2B5EF4-FFF2-40B4-BE49-F238E27FC236}">
                <a16:creationId xmlns:a16="http://schemas.microsoft.com/office/drawing/2014/main" id="{105268A4-25C7-A8F2-C8C5-7617AF29D818}"/>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28</a:t>
            </a:fld>
            <a:endParaRPr lang="en-US">
              <a:solidFill>
                <a:srgbClr val="000000"/>
              </a:solidFill>
              <a:latin typeface="Segoe UI"/>
            </a:endParaRPr>
          </a:p>
        </p:txBody>
      </p:sp>
      <p:sp>
        <p:nvSpPr>
          <p:cNvPr id="8" name="!!1">
            <a:extLst>
              <a:ext uri="{FF2B5EF4-FFF2-40B4-BE49-F238E27FC236}">
                <a16:creationId xmlns:a16="http://schemas.microsoft.com/office/drawing/2014/main" id="{0A921A9A-C3D1-DAA5-58E3-42419806E25B}"/>
              </a:ext>
            </a:extLst>
          </p:cNvPr>
          <p:cNvSpPr/>
          <p:nvPr/>
        </p:nvSpPr>
        <p:spPr bwMode="auto">
          <a:xfrm>
            <a:off x="342205" y="1381773"/>
            <a:ext cx="5394344"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1. Self-Introduction</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0" name="!!3">
            <a:extLst>
              <a:ext uri="{FF2B5EF4-FFF2-40B4-BE49-F238E27FC236}">
                <a16:creationId xmlns:a16="http://schemas.microsoft.com/office/drawing/2014/main" id="{9928E5A5-881B-7CE8-E9FB-30EFDE7F92A5}"/>
              </a:ext>
            </a:extLst>
          </p:cNvPr>
          <p:cNvSpPr/>
          <p:nvPr/>
        </p:nvSpPr>
        <p:spPr bwMode="auto">
          <a:xfrm>
            <a:off x="342205" y="3772184"/>
            <a:ext cx="5394356"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3. Biological Evidence Data</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1" name="!!10">
            <a:extLst>
              <a:ext uri="{FF2B5EF4-FFF2-40B4-BE49-F238E27FC236}">
                <a16:creationId xmlns:a16="http://schemas.microsoft.com/office/drawing/2014/main" id="{D9E5A599-4DEA-61E7-4782-192A2816386B}"/>
              </a:ext>
            </a:extLst>
          </p:cNvPr>
          <p:cNvSpPr/>
          <p:nvPr/>
        </p:nvSpPr>
        <p:spPr bwMode="auto">
          <a:xfrm>
            <a:off x="342213" y="4925510"/>
            <a:ext cx="539435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b="1">
                <a:solidFill>
                  <a:srgbClr val="1B4C9C"/>
                </a:solidFill>
                <a:latin typeface="Arial" panose="020B0604020202020204" pitchFamily="34" charset="0"/>
                <a:cs typeface="Arial" panose="020B0604020202020204" pitchFamily="34" charset="0"/>
              </a:rPr>
              <a:t>4. Trait-Gene Association Graph</a:t>
            </a:r>
            <a:endParaRPr lang="en-US" sz="2800" b="1">
              <a:solidFill>
                <a:srgbClr val="1B4C9C"/>
              </a:solidFill>
              <a:latin typeface="Arial" panose="020B0604020202020204"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FE03046D-03DD-FC72-BE35-DE7248D98DF1}"/>
              </a:ext>
            </a:extLst>
          </p:cNvPr>
          <p:cNvSpPr/>
          <p:nvPr/>
        </p:nvSpPr>
        <p:spPr bwMode="auto">
          <a:xfrm>
            <a:off x="6461788" y="2580793"/>
            <a:ext cx="5387997" cy="849648"/>
          </a:xfrm>
          <a:prstGeom prst="roundRect">
            <a:avLst>
              <a:gd name="adj" fmla="val 20246"/>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6. Gene Ranking Models</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5" name="Rounded Rectangle 14">
            <a:extLst>
              <a:ext uri="{FF2B5EF4-FFF2-40B4-BE49-F238E27FC236}">
                <a16:creationId xmlns:a16="http://schemas.microsoft.com/office/drawing/2014/main" id="{F1159B0C-2CAB-1834-4014-B9568F79213C}"/>
              </a:ext>
            </a:extLst>
          </p:cNvPr>
          <p:cNvSpPr/>
          <p:nvPr/>
        </p:nvSpPr>
        <p:spPr bwMode="auto">
          <a:xfrm>
            <a:off x="6461788" y="3772184"/>
            <a:ext cx="5387995"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7. Website Live Demo</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6" name="Rounded Rectangle 15">
            <a:extLst>
              <a:ext uri="{FF2B5EF4-FFF2-40B4-BE49-F238E27FC236}">
                <a16:creationId xmlns:a16="http://schemas.microsoft.com/office/drawing/2014/main" id="{4F044ABD-93C6-502E-E9D1-31BD3F90C2A5}"/>
              </a:ext>
            </a:extLst>
          </p:cNvPr>
          <p:cNvSpPr/>
          <p:nvPr/>
        </p:nvSpPr>
        <p:spPr bwMode="auto">
          <a:xfrm>
            <a:off x="6455431" y="4925510"/>
            <a:ext cx="538798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8. Results</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9" name="Rounded Rectangle 18">
            <a:extLst>
              <a:ext uri="{FF2B5EF4-FFF2-40B4-BE49-F238E27FC236}">
                <a16:creationId xmlns:a16="http://schemas.microsoft.com/office/drawing/2014/main" id="{5A0F2897-A708-1A43-93DB-CA3C4995EBEC}"/>
              </a:ext>
            </a:extLst>
          </p:cNvPr>
          <p:cNvSpPr/>
          <p:nvPr/>
        </p:nvSpPr>
        <p:spPr bwMode="auto">
          <a:xfrm>
            <a:off x="6461789" y="1360440"/>
            <a:ext cx="538800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5. Trait Similarity Models</a:t>
            </a:r>
            <a:endParaRPr lang="en-US" sz="2800">
              <a:solidFill>
                <a:srgbClr val="1B4C9C">
                  <a:alpha val="16000"/>
                </a:srgbClr>
              </a:solidFill>
              <a:latin typeface="Arial" panose="020B0604020202020204" pitchFamily="34" charset="0"/>
              <a:cs typeface="Arial" panose="020B0604020202020204" pitchFamily="34" charset="0"/>
            </a:endParaRPr>
          </a:p>
        </p:txBody>
      </p:sp>
      <p:cxnSp>
        <p:nvCxnSpPr>
          <p:cNvPr id="3" name="Straight Connector 2">
            <a:extLst>
              <a:ext uri="{FF2B5EF4-FFF2-40B4-BE49-F238E27FC236}">
                <a16:creationId xmlns:a16="http://schemas.microsoft.com/office/drawing/2014/main" id="{C2E0098B-1F1B-17B3-9855-9C39CE1500D3}"/>
              </a:ext>
            </a:extLst>
          </p:cNvPr>
          <p:cNvCxnSpPr>
            <a:cxnSpLocks/>
          </p:cNvCxnSpPr>
          <p:nvPr/>
        </p:nvCxnSpPr>
        <p:spPr>
          <a:xfrm>
            <a:off x="6096000" y="1384624"/>
            <a:ext cx="0" cy="4449931"/>
          </a:xfrm>
          <a:prstGeom prst="line">
            <a:avLst/>
          </a:prstGeom>
          <a:ln w="38100">
            <a:solidFill>
              <a:srgbClr val="E7E7E7"/>
            </a:solidFill>
          </a:ln>
        </p:spPr>
        <p:style>
          <a:lnRef idx="1">
            <a:schemeClr val="accent1"/>
          </a:lnRef>
          <a:fillRef idx="0">
            <a:schemeClr val="accent1"/>
          </a:fillRef>
          <a:effectRef idx="0">
            <a:schemeClr val="accent1"/>
          </a:effectRef>
          <a:fontRef idx="minor">
            <a:schemeClr val="tx1"/>
          </a:fontRef>
        </p:style>
      </p:cxnSp>
      <p:sp>
        <p:nvSpPr>
          <p:cNvPr id="2" name="!!2">
            <a:extLst>
              <a:ext uri="{FF2B5EF4-FFF2-40B4-BE49-F238E27FC236}">
                <a16:creationId xmlns:a16="http://schemas.microsoft.com/office/drawing/2014/main" id="{1C03A32A-6729-25BC-1D6C-8E65B01D6448}"/>
              </a:ext>
            </a:extLst>
          </p:cNvPr>
          <p:cNvSpPr/>
          <p:nvPr/>
        </p:nvSpPr>
        <p:spPr bwMode="auto">
          <a:xfrm>
            <a:off x="342204" y="2574074"/>
            <a:ext cx="5394363"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2. </a:t>
            </a:r>
            <a:r>
              <a:rPr lang="en-US" altLang="zh-CN" sz="2800" err="1">
                <a:solidFill>
                  <a:srgbClr val="1B4C9C">
                    <a:alpha val="16000"/>
                  </a:srgbClr>
                </a:solidFill>
                <a:latin typeface="Arial" panose="020B0604020202020204" pitchFamily="34" charset="0"/>
                <a:cs typeface="Arial" panose="020B0604020202020204" pitchFamily="34" charset="0"/>
              </a:rPr>
              <a:t>GeneSieve</a:t>
            </a:r>
            <a:r>
              <a:rPr lang="en-US" altLang="zh-CN" sz="2800">
                <a:solidFill>
                  <a:srgbClr val="1B4C9C">
                    <a:alpha val="16000"/>
                  </a:srgbClr>
                </a:solidFill>
                <a:latin typeface="Arial" panose="020B0604020202020204" pitchFamily="34" charset="0"/>
                <a:cs typeface="Arial" panose="020B0604020202020204" pitchFamily="34" charset="0"/>
              </a:rPr>
              <a:t> Overview</a:t>
            </a:r>
            <a:endParaRPr lang="en-US" sz="2800">
              <a:solidFill>
                <a:srgbClr val="1B4C9C">
                  <a:alpha val="16000"/>
                </a:srgb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92218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51E91-46F5-2833-622D-05F49CEE7425}"/>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294CC025-7B9B-4C4F-2A24-EBEE0DBA9A38}"/>
              </a:ext>
            </a:extLst>
          </p:cNvPr>
          <p:cNvSpPr/>
          <p:nvPr/>
        </p:nvSpPr>
        <p:spPr bwMode="auto">
          <a:xfrm>
            <a:off x="431005" y="1581333"/>
            <a:ext cx="11165571" cy="3523260"/>
          </a:xfrm>
          <a:prstGeom prst="roundRect">
            <a:avLst>
              <a:gd name="adj" fmla="val 11024"/>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E425ECF-6A18-67CF-1C6F-6881A6063E59}"/>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29</a:t>
            </a:fld>
            <a:endParaRPr lang="en-US">
              <a:solidFill>
                <a:srgbClr val="000000"/>
              </a:solidFill>
              <a:latin typeface="Segoe UI"/>
            </a:endParaRPr>
          </a:p>
        </p:txBody>
      </p:sp>
      <p:sp>
        <p:nvSpPr>
          <p:cNvPr id="7" name="!!10">
            <a:extLst>
              <a:ext uri="{FF2B5EF4-FFF2-40B4-BE49-F238E27FC236}">
                <a16:creationId xmlns:a16="http://schemas.microsoft.com/office/drawing/2014/main" id="{4AE677F1-AE9F-7479-B810-C3EB96A725AF}"/>
              </a:ext>
            </a:extLst>
          </p:cNvPr>
          <p:cNvSpPr/>
          <p:nvPr/>
        </p:nvSpPr>
        <p:spPr bwMode="auto">
          <a:xfrm>
            <a:off x="204579" y="127120"/>
            <a:ext cx="9731421"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3600" b="1">
                <a:solidFill>
                  <a:srgbClr val="1B4C9C"/>
                </a:solidFill>
                <a:latin typeface="Arial" panose="020B0604020202020204" pitchFamily="34" charset="0"/>
                <a:cs typeface="Arial" panose="020B0604020202020204" pitchFamily="34" charset="0"/>
              </a:rPr>
              <a:t>Data Model: Trait-Gene Association Graph</a:t>
            </a:r>
            <a:endParaRPr lang="en-US" sz="36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20" name="!!1">
            <a:extLst>
              <a:ext uri="{FF2B5EF4-FFF2-40B4-BE49-F238E27FC236}">
                <a16:creationId xmlns:a16="http://schemas.microsoft.com/office/drawing/2014/main" id="{D121DF40-9771-94E0-C0F5-BD69855D7E63}"/>
              </a:ext>
            </a:extLst>
          </p:cNvPr>
          <p:cNvSpPr txBox="1"/>
          <p:nvPr/>
        </p:nvSpPr>
        <p:spPr>
          <a:xfrm>
            <a:off x="595423" y="1657495"/>
            <a:ext cx="11001153" cy="3447098"/>
          </a:xfrm>
          <a:prstGeom prst="rect">
            <a:avLst/>
          </a:prstGeom>
          <a:noFill/>
        </p:spPr>
        <p:txBody>
          <a:bodyPr wrap="square" lIns="0" tIns="0" rIns="0" bIns="0" rtlCol="0">
            <a:spAutoFit/>
          </a:bodyPr>
          <a:lstStyle/>
          <a:p>
            <a:r>
              <a:rPr lang="en-US" sz="2800">
                <a:latin typeface="Arial" panose="020B0604020202020204" pitchFamily="34" charset="0"/>
                <a:cs typeface="Arial" panose="020B0604020202020204" pitchFamily="34" charset="0"/>
              </a:rPr>
              <a:t>Give a “query” (a trait description in plain English + a set of candidate genes), </a:t>
            </a:r>
            <a:r>
              <a:rPr lang="en-US" sz="2800" err="1">
                <a:latin typeface="Arial" panose="020B0604020202020204" pitchFamily="34" charset="0"/>
                <a:cs typeface="Arial" panose="020B0604020202020204" pitchFamily="34" charset="0"/>
              </a:rPr>
              <a:t>GeneSieve</a:t>
            </a:r>
            <a:r>
              <a:rPr lang="en-US" sz="2800">
                <a:latin typeface="Arial" panose="020B0604020202020204" pitchFamily="34" charset="0"/>
                <a:cs typeface="Arial" panose="020B0604020202020204" pitchFamily="34" charset="0"/>
              </a:rPr>
              <a:t> constructs a TGAG for each candidate, consisting of 4 types of relationships: </a:t>
            </a:r>
          </a:p>
          <a:p>
            <a:endParaRPr lang="en-US" sz="2800">
              <a:latin typeface="Arial" panose="020B0604020202020204" pitchFamily="34" charset="0"/>
              <a:cs typeface="Arial" panose="020B0604020202020204" pitchFamily="34" charset="0"/>
            </a:endParaRPr>
          </a:p>
          <a:p>
            <a:pPr marL="952455" lvl="1" indent="-342900">
              <a:buFont typeface="Arial" panose="020B0604020202020204" pitchFamily="34" charset="0"/>
              <a:buChar char="•"/>
            </a:pPr>
            <a:r>
              <a:rPr lang="en-US" sz="2800">
                <a:latin typeface="Arial" panose="020B0604020202020204" pitchFamily="34" charset="0"/>
                <a:cs typeface="Arial" panose="020B0604020202020204" pitchFamily="34" charset="0"/>
              </a:rPr>
              <a:t>Trait Similarity</a:t>
            </a:r>
          </a:p>
          <a:p>
            <a:pPr marL="952455" lvl="1" indent="-342900">
              <a:buFont typeface="Arial" panose="020B0604020202020204" pitchFamily="34" charset="0"/>
              <a:buChar char="•"/>
            </a:pPr>
            <a:r>
              <a:rPr lang="en-US" sz="2800">
                <a:latin typeface="Arial" panose="020B0604020202020204" pitchFamily="34" charset="0"/>
                <a:cs typeface="Arial" panose="020B0604020202020204" pitchFamily="34" charset="0"/>
              </a:rPr>
              <a:t>QTL</a:t>
            </a:r>
          </a:p>
          <a:p>
            <a:pPr marL="952455" lvl="1" indent="-342900">
              <a:buFont typeface="Arial" panose="020B0604020202020204" pitchFamily="34" charset="0"/>
              <a:buChar char="•"/>
            </a:pPr>
            <a:r>
              <a:rPr lang="en-US" sz="2800">
                <a:latin typeface="Arial" panose="020B0604020202020204" pitchFamily="34" charset="0"/>
                <a:cs typeface="Arial" panose="020B0604020202020204" pitchFamily="34" charset="0"/>
              </a:rPr>
              <a:t>Homology</a:t>
            </a:r>
          </a:p>
          <a:p>
            <a:pPr marL="952455" lvl="1" indent="-342900">
              <a:buFont typeface="Arial" panose="020B0604020202020204" pitchFamily="34" charset="0"/>
              <a:buChar char="•"/>
            </a:pPr>
            <a:r>
              <a:rPr lang="en-US" sz="2800">
                <a:latin typeface="Arial" panose="020B0604020202020204" pitchFamily="34" charset="0"/>
                <a:cs typeface="Arial" panose="020B0604020202020204" pitchFamily="34" charset="0"/>
              </a:rPr>
              <a:t>Co-expression</a:t>
            </a:r>
          </a:p>
        </p:txBody>
      </p:sp>
    </p:spTree>
    <p:extLst>
      <p:ext uri="{BB962C8B-B14F-4D97-AF65-F5344CB8AC3E}">
        <p14:creationId xmlns:p14="http://schemas.microsoft.com/office/powerpoint/2010/main" val="2056864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6F90B-C364-4EB9-A232-97FCE664D8B0}"/>
            </a:ext>
          </a:extLst>
        </p:cNvPr>
        <p:cNvGrpSpPr/>
        <p:nvPr/>
      </p:nvGrpSpPr>
      <p:grpSpPr>
        <a:xfrm>
          <a:off x="0" y="0"/>
          <a:ext cx="0" cy="0"/>
          <a:chOff x="0" y="0"/>
          <a:chExt cx="0" cy="0"/>
        </a:xfrm>
      </p:grpSpPr>
      <p:pic>
        <p:nvPicPr>
          <p:cNvPr id="16" name="!!traitsim">
            <a:extLst>
              <a:ext uri="{FF2B5EF4-FFF2-40B4-BE49-F238E27FC236}">
                <a16:creationId xmlns:a16="http://schemas.microsoft.com/office/drawing/2014/main" id="{CA0AEBE5-4959-6BC0-70C3-13D9E3CFBA52}"/>
              </a:ext>
            </a:extLst>
          </p:cNvPr>
          <p:cNvPicPr>
            <a:picLocks noChangeAspect="1"/>
          </p:cNvPicPr>
          <p:nvPr/>
        </p:nvPicPr>
        <p:blipFill>
          <a:blip r:embed="rId3"/>
          <a:srcRect l="7520" t="7793"/>
          <a:stretch>
            <a:fillRect/>
          </a:stretch>
        </p:blipFill>
        <p:spPr>
          <a:xfrm>
            <a:off x="3610571" y="1061044"/>
            <a:ext cx="2986944" cy="2978133"/>
          </a:xfrm>
          <a:prstGeom prst="rect">
            <a:avLst/>
          </a:prstGeom>
          <a:solidFill>
            <a:srgbClr val="EEEEEE"/>
          </a:solidFill>
          <a:ln>
            <a:noFill/>
            <a:headEnd type="none" w="med" len="med"/>
            <a:tailEnd type="none" w="med" len="med"/>
          </a:ln>
          <a:effectLst/>
        </p:spPr>
      </p:pic>
      <p:sp>
        <p:nvSpPr>
          <p:cNvPr id="4" name="Slide Number Placeholder 3">
            <a:extLst>
              <a:ext uri="{FF2B5EF4-FFF2-40B4-BE49-F238E27FC236}">
                <a16:creationId xmlns:a16="http://schemas.microsoft.com/office/drawing/2014/main" id="{9495A48E-CA7F-556F-D844-150ADB878E09}"/>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30</a:t>
            </a:fld>
            <a:endParaRPr lang="en-US">
              <a:solidFill>
                <a:srgbClr val="000000"/>
              </a:solidFill>
              <a:latin typeface="Segoe UI"/>
            </a:endParaRPr>
          </a:p>
        </p:txBody>
      </p:sp>
      <p:sp>
        <p:nvSpPr>
          <p:cNvPr id="7" name="!!10">
            <a:extLst>
              <a:ext uri="{FF2B5EF4-FFF2-40B4-BE49-F238E27FC236}">
                <a16:creationId xmlns:a16="http://schemas.microsoft.com/office/drawing/2014/main" id="{9487A317-AC82-45D4-889F-057AB1D49EC3}"/>
              </a:ext>
            </a:extLst>
          </p:cNvPr>
          <p:cNvSpPr/>
          <p:nvPr/>
        </p:nvSpPr>
        <p:spPr bwMode="auto">
          <a:xfrm>
            <a:off x="204579" y="127120"/>
            <a:ext cx="763613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2" name="rectangle">
            <a:extLst>
              <a:ext uri="{FF2B5EF4-FFF2-40B4-BE49-F238E27FC236}">
                <a16:creationId xmlns:a16="http://schemas.microsoft.com/office/drawing/2014/main" id="{1D1D4264-C7A0-6B40-AFD9-2138178FD258}"/>
              </a:ext>
            </a:extLst>
          </p:cNvPr>
          <p:cNvSpPr/>
          <p:nvPr/>
        </p:nvSpPr>
        <p:spPr bwMode="auto">
          <a:xfrm>
            <a:off x="581269" y="1503608"/>
            <a:ext cx="2786398" cy="723773"/>
          </a:xfrm>
          <a:prstGeom prst="roundRect">
            <a:avLst/>
          </a:prstGeom>
          <a:solidFill>
            <a:srgbClr val="EEEEEE"/>
          </a:solidFill>
          <a:ln w="38100">
            <a:solidFill>
              <a:srgbClr val="42A35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Trait Similarity</a:t>
            </a:r>
          </a:p>
        </p:txBody>
      </p:sp>
      <p:sp>
        <p:nvSpPr>
          <p:cNvPr id="3" name="Rounded Rectangle 2">
            <a:extLst>
              <a:ext uri="{FF2B5EF4-FFF2-40B4-BE49-F238E27FC236}">
                <a16:creationId xmlns:a16="http://schemas.microsoft.com/office/drawing/2014/main" id="{AB8A9F3E-90BD-6FBC-5187-342D73E2A294}"/>
              </a:ext>
            </a:extLst>
          </p:cNvPr>
          <p:cNvSpPr/>
          <p:nvPr/>
        </p:nvSpPr>
        <p:spPr bwMode="auto">
          <a:xfrm>
            <a:off x="581268" y="2614792"/>
            <a:ext cx="2786399" cy="723775"/>
          </a:xfrm>
          <a:prstGeom prst="roundRect">
            <a:avLst/>
          </a:prstGeom>
          <a:solidFill>
            <a:srgbClr val="EEEEEE"/>
          </a:solidFill>
          <a:ln w="38100">
            <a:solidFill>
              <a:srgbClr val="A579F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QTL</a:t>
            </a:r>
          </a:p>
        </p:txBody>
      </p:sp>
      <p:sp>
        <p:nvSpPr>
          <p:cNvPr id="6" name="Rounded Rectangle 5">
            <a:extLst>
              <a:ext uri="{FF2B5EF4-FFF2-40B4-BE49-F238E27FC236}">
                <a16:creationId xmlns:a16="http://schemas.microsoft.com/office/drawing/2014/main" id="{F4B3C193-D67A-84A1-EDCD-5038DD76E515}"/>
              </a:ext>
            </a:extLst>
          </p:cNvPr>
          <p:cNvSpPr/>
          <p:nvPr/>
        </p:nvSpPr>
        <p:spPr bwMode="auto">
          <a:xfrm>
            <a:off x="581268" y="3725978"/>
            <a:ext cx="2786400" cy="723775"/>
          </a:xfrm>
          <a:prstGeom prst="roundRect">
            <a:avLst/>
          </a:prstGeom>
          <a:solidFill>
            <a:srgbClr val="EEEEEE"/>
          </a:solidFill>
          <a:ln w="38100">
            <a:solidFill>
              <a:srgbClr val="80008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Homology</a:t>
            </a:r>
          </a:p>
        </p:txBody>
      </p:sp>
      <p:sp>
        <p:nvSpPr>
          <p:cNvPr id="8" name="Rounded Rectangle 7">
            <a:extLst>
              <a:ext uri="{FF2B5EF4-FFF2-40B4-BE49-F238E27FC236}">
                <a16:creationId xmlns:a16="http://schemas.microsoft.com/office/drawing/2014/main" id="{6F27C4BC-DD61-587A-973A-D06C589665E1}"/>
              </a:ext>
            </a:extLst>
          </p:cNvPr>
          <p:cNvSpPr/>
          <p:nvPr/>
        </p:nvSpPr>
        <p:spPr bwMode="auto">
          <a:xfrm>
            <a:off x="581267" y="4837164"/>
            <a:ext cx="2786397" cy="723775"/>
          </a:xfrm>
          <a:prstGeom prst="roundRect">
            <a:avLst/>
          </a:prstGeom>
          <a:solidFill>
            <a:srgbClr val="EEEEEE"/>
          </a:solidFill>
          <a:ln w="38100">
            <a:solidFill>
              <a:srgbClr val="DBA52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Co-expression</a:t>
            </a:r>
          </a:p>
        </p:txBody>
      </p:sp>
      <p:pic>
        <p:nvPicPr>
          <p:cNvPr id="10" name="image1">
            <a:extLst>
              <a:ext uri="{FF2B5EF4-FFF2-40B4-BE49-F238E27FC236}">
                <a16:creationId xmlns:a16="http://schemas.microsoft.com/office/drawing/2014/main" id="{1EFFEF10-92AD-7851-C13C-14EBF87EFFC1}"/>
              </a:ext>
            </a:extLst>
          </p:cNvPr>
          <p:cNvPicPr>
            <a:picLocks noChangeAspect="1"/>
          </p:cNvPicPr>
          <p:nvPr/>
        </p:nvPicPr>
        <p:blipFill>
          <a:blip r:embed="rId4"/>
          <a:stretch>
            <a:fillRect/>
          </a:stretch>
        </p:blipFill>
        <p:spPr>
          <a:xfrm>
            <a:off x="3560171" y="991145"/>
            <a:ext cx="8219124" cy="5360970"/>
          </a:xfrm>
          <a:prstGeom prst="rect">
            <a:avLst/>
          </a:prstGeom>
        </p:spPr>
      </p:pic>
    </p:spTree>
    <p:extLst>
      <p:ext uri="{BB962C8B-B14F-4D97-AF65-F5344CB8AC3E}">
        <p14:creationId xmlns:p14="http://schemas.microsoft.com/office/powerpoint/2010/main" val="39353638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8B933-C177-4596-FDA1-AFFB5ADD979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46BB02-D484-A82E-C9BD-9C3EF6F44C53}"/>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31</a:t>
            </a:fld>
            <a:endParaRPr lang="en-US">
              <a:solidFill>
                <a:srgbClr val="000000"/>
              </a:solidFill>
              <a:latin typeface="Segoe UI"/>
            </a:endParaRPr>
          </a:p>
        </p:txBody>
      </p:sp>
      <p:sp>
        <p:nvSpPr>
          <p:cNvPr id="7" name="!!10">
            <a:extLst>
              <a:ext uri="{FF2B5EF4-FFF2-40B4-BE49-F238E27FC236}">
                <a16:creationId xmlns:a16="http://schemas.microsoft.com/office/drawing/2014/main" id="{5AB1B444-28B6-726F-F7D6-6C2C2CF3DB6F}"/>
              </a:ext>
            </a:extLst>
          </p:cNvPr>
          <p:cNvSpPr/>
          <p:nvPr/>
        </p:nvSpPr>
        <p:spPr bwMode="auto">
          <a:xfrm>
            <a:off x="204579" y="127120"/>
            <a:ext cx="763613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12" name="Rounded Rectangle 11">
            <a:extLst>
              <a:ext uri="{FF2B5EF4-FFF2-40B4-BE49-F238E27FC236}">
                <a16:creationId xmlns:a16="http://schemas.microsoft.com/office/drawing/2014/main" id="{78FC79D1-8384-C4C8-AA1D-15A229C301D4}"/>
              </a:ext>
            </a:extLst>
          </p:cNvPr>
          <p:cNvSpPr/>
          <p:nvPr/>
        </p:nvSpPr>
        <p:spPr bwMode="auto">
          <a:xfrm>
            <a:off x="3864217" y="1460659"/>
            <a:ext cx="8035340" cy="849648"/>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Input trait compared against all 1,055 QTL traits </a:t>
            </a:r>
          </a:p>
        </p:txBody>
      </p:sp>
      <p:sp>
        <p:nvSpPr>
          <p:cNvPr id="13" name="Rounded Rectangle 12">
            <a:extLst>
              <a:ext uri="{FF2B5EF4-FFF2-40B4-BE49-F238E27FC236}">
                <a16:creationId xmlns:a16="http://schemas.microsoft.com/office/drawing/2014/main" id="{04C31B77-BD92-DB53-7CD9-2F04273EEFF9}"/>
              </a:ext>
            </a:extLst>
          </p:cNvPr>
          <p:cNvSpPr/>
          <p:nvPr/>
        </p:nvSpPr>
        <p:spPr bwMode="auto">
          <a:xfrm>
            <a:off x="3864217" y="2794606"/>
            <a:ext cx="4600161" cy="1784978"/>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Pairs with semantic similarity score &gt; 0.6 are selected</a:t>
            </a:r>
          </a:p>
        </p:txBody>
      </p:sp>
      <p:pic>
        <p:nvPicPr>
          <p:cNvPr id="15" name="!!traitsim">
            <a:extLst>
              <a:ext uri="{FF2B5EF4-FFF2-40B4-BE49-F238E27FC236}">
                <a16:creationId xmlns:a16="http://schemas.microsoft.com/office/drawing/2014/main" id="{1AA985CF-EA66-3E64-3729-68BB3DFDDC3C}"/>
              </a:ext>
            </a:extLst>
          </p:cNvPr>
          <p:cNvPicPr>
            <a:picLocks noChangeAspect="1"/>
          </p:cNvPicPr>
          <p:nvPr/>
        </p:nvPicPr>
        <p:blipFill>
          <a:blip r:embed="rId3"/>
          <a:stretch>
            <a:fillRect/>
          </a:stretch>
        </p:blipFill>
        <p:spPr>
          <a:xfrm>
            <a:off x="8725430" y="2671803"/>
            <a:ext cx="3058297" cy="3058297"/>
          </a:xfrm>
          <a:prstGeom prst="rect">
            <a:avLst/>
          </a:prstGeom>
        </p:spPr>
      </p:pic>
      <p:sp>
        <p:nvSpPr>
          <p:cNvPr id="16" name="rectangle">
            <a:extLst>
              <a:ext uri="{FF2B5EF4-FFF2-40B4-BE49-F238E27FC236}">
                <a16:creationId xmlns:a16="http://schemas.microsoft.com/office/drawing/2014/main" id="{DDEF81EC-7A64-A982-7551-37BCD64BDA32}"/>
              </a:ext>
            </a:extLst>
          </p:cNvPr>
          <p:cNvSpPr/>
          <p:nvPr/>
        </p:nvSpPr>
        <p:spPr bwMode="auto">
          <a:xfrm>
            <a:off x="581269" y="1503608"/>
            <a:ext cx="2786398" cy="723773"/>
          </a:xfrm>
          <a:prstGeom prst="roundRect">
            <a:avLst/>
          </a:prstGeom>
          <a:solidFill>
            <a:srgbClr val="EEEEEE"/>
          </a:solidFill>
          <a:ln w="38100">
            <a:solidFill>
              <a:srgbClr val="42A35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a:solidFill>
                  <a:schemeClr val="tx1"/>
                </a:solidFill>
                <a:latin typeface="Arial" panose="020B0604020202020204" pitchFamily="34" charset="0"/>
                <a:cs typeface="Arial" panose="020B0604020202020204" pitchFamily="34" charset="0"/>
              </a:rPr>
              <a:t>Trait Similarity</a:t>
            </a:r>
          </a:p>
        </p:txBody>
      </p:sp>
      <p:sp>
        <p:nvSpPr>
          <p:cNvPr id="17" name="Rounded Rectangle 16">
            <a:extLst>
              <a:ext uri="{FF2B5EF4-FFF2-40B4-BE49-F238E27FC236}">
                <a16:creationId xmlns:a16="http://schemas.microsoft.com/office/drawing/2014/main" id="{8110377E-40ED-6026-0401-4D0E4A61389E}"/>
              </a:ext>
            </a:extLst>
          </p:cNvPr>
          <p:cNvSpPr/>
          <p:nvPr/>
        </p:nvSpPr>
        <p:spPr bwMode="auto">
          <a:xfrm>
            <a:off x="581268" y="2614792"/>
            <a:ext cx="2786399" cy="723775"/>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QTL</a:t>
            </a:r>
          </a:p>
        </p:txBody>
      </p:sp>
      <p:sp>
        <p:nvSpPr>
          <p:cNvPr id="18" name="Rounded Rectangle 17">
            <a:extLst>
              <a:ext uri="{FF2B5EF4-FFF2-40B4-BE49-F238E27FC236}">
                <a16:creationId xmlns:a16="http://schemas.microsoft.com/office/drawing/2014/main" id="{35D3C2F0-3D34-7828-0D38-40FE55E21CD4}"/>
              </a:ext>
            </a:extLst>
          </p:cNvPr>
          <p:cNvSpPr/>
          <p:nvPr/>
        </p:nvSpPr>
        <p:spPr bwMode="auto">
          <a:xfrm>
            <a:off x="581268" y="3725978"/>
            <a:ext cx="2786400" cy="723775"/>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Homology</a:t>
            </a:r>
          </a:p>
        </p:txBody>
      </p:sp>
      <p:sp>
        <p:nvSpPr>
          <p:cNvPr id="19" name="Rounded Rectangle 18">
            <a:extLst>
              <a:ext uri="{FF2B5EF4-FFF2-40B4-BE49-F238E27FC236}">
                <a16:creationId xmlns:a16="http://schemas.microsoft.com/office/drawing/2014/main" id="{0E2E467E-C3E9-4EA1-F717-D4CA0A71B0EB}"/>
              </a:ext>
            </a:extLst>
          </p:cNvPr>
          <p:cNvSpPr/>
          <p:nvPr/>
        </p:nvSpPr>
        <p:spPr bwMode="auto">
          <a:xfrm>
            <a:off x="581267" y="4837164"/>
            <a:ext cx="2786397" cy="723775"/>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Co-expression</a:t>
            </a:r>
          </a:p>
        </p:txBody>
      </p:sp>
    </p:spTree>
    <p:extLst>
      <p:ext uri="{BB962C8B-B14F-4D97-AF65-F5344CB8AC3E}">
        <p14:creationId xmlns:p14="http://schemas.microsoft.com/office/powerpoint/2010/main" val="2719662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DC99114-2D46-5F3C-08D0-DAB31F66A9C7}"/>
              </a:ext>
            </a:extLst>
          </p:cNvPr>
          <p:cNvSpPr>
            <a:spLocks noGrp="1"/>
          </p:cNvSpPr>
          <p:nvPr>
            <p:ph type="sldNum" sz="quarter" idx="10"/>
          </p:nvPr>
        </p:nvSpPr>
        <p:spPr/>
        <p:txBody>
          <a:bodyPr/>
          <a:lstStyle/>
          <a:p>
            <a:fld id="{FC2EED17-1836-6142-A4B1-ABB9C7C22E41}" type="slidenum">
              <a:rPr lang="en-US" smtClean="0"/>
              <a:pPr/>
              <a:t>32</a:t>
            </a:fld>
            <a:endParaRPr lang="en-US"/>
          </a:p>
        </p:txBody>
      </p:sp>
      <p:pic>
        <p:nvPicPr>
          <p:cNvPr id="5" name="Picture 4" descr="Organic Apple (Red) - The Hopsack">
            <a:extLst>
              <a:ext uri="{FF2B5EF4-FFF2-40B4-BE49-F238E27FC236}">
                <a16:creationId xmlns:a16="http://schemas.microsoft.com/office/drawing/2014/main" id="{4974B98F-C853-B889-8688-EF28E38D55DC}"/>
              </a:ext>
            </a:extLst>
          </p:cNvPr>
          <p:cNvPicPr>
            <a:picLocks noChangeAspect="1"/>
          </p:cNvPicPr>
          <p:nvPr/>
        </p:nvPicPr>
        <p:blipFill>
          <a:blip r:embed="rId3"/>
          <a:stretch>
            <a:fillRect/>
          </a:stretch>
        </p:blipFill>
        <p:spPr>
          <a:xfrm>
            <a:off x="1006776" y="2996878"/>
            <a:ext cx="3387394" cy="3387394"/>
          </a:xfrm>
          <a:prstGeom prst="rect">
            <a:avLst/>
          </a:prstGeom>
        </p:spPr>
      </p:pic>
      <p:sp>
        <p:nvSpPr>
          <p:cNvPr id="6" name="Rounded Rectangle 5">
            <a:extLst>
              <a:ext uri="{FF2B5EF4-FFF2-40B4-BE49-F238E27FC236}">
                <a16:creationId xmlns:a16="http://schemas.microsoft.com/office/drawing/2014/main" id="{8AA1C76F-FB05-EC75-61E5-A21B26739703}"/>
              </a:ext>
            </a:extLst>
          </p:cNvPr>
          <p:cNvSpPr/>
          <p:nvPr/>
        </p:nvSpPr>
        <p:spPr bwMode="auto">
          <a:xfrm>
            <a:off x="1006776" y="2075592"/>
            <a:ext cx="3258242" cy="763332"/>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Redness of apple</a:t>
            </a:r>
          </a:p>
        </p:txBody>
      </p:sp>
      <p:sp>
        <p:nvSpPr>
          <p:cNvPr id="7" name="Rounded Rectangle 6">
            <a:extLst>
              <a:ext uri="{FF2B5EF4-FFF2-40B4-BE49-F238E27FC236}">
                <a16:creationId xmlns:a16="http://schemas.microsoft.com/office/drawing/2014/main" id="{C7F24F9A-A157-5AC8-AE57-6B5CEACFAA8D}"/>
              </a:ext>
            </a:extLst>
          </p:cNvPr>
          <p:cNvSpPr/>
          <p:nvPr/>
        </p:nvSpPr>
        <p:spPr bwMode="auto">
          <a:xfrm>
            <a:off x="7132166" y="3790062"/>
            <a:ext cx="3206203"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Firmness of apple</a:t>
            </a:r>
          </a:p>
        </p:txBody>
      </p:sp>
      <p:sp>
        <p:nvSpPr>
          <p:cNvPr id="8" name="Rounded Rectangle 7">
            <a:extLst>
              <a:ext uri="{FF2B5EF4-FFF2-40B4-BE49-F238E27FC236}">
                <a16:creationId xmlns:a16="http://schemas.microsoft.com/office/drawing/2014/main" id="{CA34F935-ADFA-0CE3-C232-21ADF76CDCB6}"/>
              </a:ext>
            </a:extLst>
          </p:cNvPr>
          <p:cNvSpPr/>
          <p:nvPr/>
        </p:nvSpPr>
        <p:spPr bwMode="auto">
          <a:xfrm>
            <a:off x="5626752" y="2838924"/>
            <a:ext cx="6217033"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anthocyanin accumulation in fruit skin</a:t>
            </a:r>
          </a:p>
        </p:txBody>
      </p:sp>
      <p:sp>
        <p:nvSpPr>
          <p:cNvPr id="11" name="Rounded Rectangle 10">
            <a:extLst>
              <a:ext uri="{FF2B5EF4-FFF2-40B4-BE49-F238E27FC236}">
                <a16:creationId xmlns:a16="http://schemas.microsoft.com/office/drawing/2014/main" id="{E6170395-42FE-D4E6-1BD8-9568FEE18857}"/>
              </a:ext>
            </a:extLst>
          </p:cNvPr>
          <p:cNvSpPr/>
          <p:nvPr/>
        </p:nvSpPr>
        <p:spPr bwMode="auto">
          <a:xfrm>
            <a:off x="6479933" y="4837526"/>
            <a:ext cx="4510670" cy="604427"/>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red coloration of apple skin</a:t>
            </a:r>
          </a:p>
        </p:txBody>
      </p:sp>
      <p:sp>
        <p:nvSpPr>
          <p:cNvPr id="12" name="TextBox 11">
            <a:extLst>
              <a:ext uri="{FF2B5EF4-FFF2-40B4-BE49-F238E27FC236}">
                <a16:creationId xmlns:a16="http://schemas.microsoft.com/office/drawing/2014/main" id="{25D4F3A1-E734-937C-EFE8-782E9F27D594}"/>
              </a:ext>
            </a:extLst>
          </p:cNvPr>
          <p:cNvSpPr txBox="1"/>
          <p:nvPr/>
        </p:nvSpPr>
        <p:spPr>
          <a:xfrm>
            <a:off x="197935" y="728032"/>
            <a:ext cx="5647830" cy="461665"/>
          </a:xfrm>
          <a:prstGeom prst="rect">
            <a:avLst/>
          </a:prstGeom>
          <a:noFill/>
        </p:spPr>
        <p:txBody>
          <a:bodyPr wrap="square">
            <a:spAutoFit/>
          </a:bodyPr>
          <a:lstStyle/>
          <a:p>
            <a:r>
              <a:rPr lang="en-US" sz="2400">
                <a:highlight>
                  <a:srgbClr val="F6BD8B"/>
                </a:highlight>
                <a:latin typeface="Arial" panose="020B0604020202020204" pitchFamily="34" charset="0"/>
                <a:cs typeface="Arial" panose="020B0604020202020204" pitchFamily="34" charset="0"/>
              </a:rPr>
              <a:t>trait you are concerned about right now</a:t>
            </a:r>
          </a:p>
        </p:txBody>
      </p:sp>
      <p:sp>
        <p:nvSpPr>
          <p:cNvPr id="14" name="TextBox 13">
            <a:extLst>
              <a:ext uri="{FF2B5EF4-FFF2-40B4-BE49-F238E27FC236}">
                <a16:creationId xmlns:a16="http://schemas.microsoft.com/office/drawing/2014/main" id="{3D895993-B152-471A-8570-7F8C4646B741}"/>
              </a:ext>
            </a:extLst>
          </p:cNvPr>
          <p:cNvSpPr txBox="1"/>
          <p:nvPr/>
        </p:nvSpPr>
        <p:spPr>
          <a:xfrm>
            <a:off x="6346237" y="728032"/>
            <a:ext cx="5497548" cy="830997"/>
          </a:xfrm>
          <a:prstGeom prst="rect">
            <a:avLst/>
          </a:prstGeom>
          <a:noFill/>
        </p:spPr>
        <p:txBody>
          <a:bodyPr wrap="square">
            <a:spAutoFit/>
          </a:bodyPr>
          <a:lstStyle/>
          <a:p>
            <a:pPr algn="ctr"/>
            <a:r>
              <a:rPr lang="en-US" sz="2400">
                <a:highlight>
                  <a:srgbClr val="F6BD8B"/>
                </a:highlight>
                <a:latin typeface="Arial" panose="020B0604020202020204" pitchFamily="34" charset="0"/>
                <a:cs typeface="Arial" panose="020B0604020202020204" pitchFamily="34" charset="0"/>
              </a:rPr>
              <a:t>traits scientists have looked at before and associated with genes </a:t>
            </a:r>
          </a:p>
        </p:txBody>
      </p:sp>
      <p:sp>
        <p:nvSpPr>
          <p:cNvPr id="15" name="Down Arrow 14">
            <a:extLst>
              <a:ext uri="{FF2B5EF4-FFF2-40B4-BE49-F238E27FC236}">
                <a16:creationId xmlns:a16="http://schemas.microsoft.com/office/drawing/2014/main" id="{F5334411-3998-E7FD-ACE4-88AACA0F52C4}"/>
              </a:ext>
            </a:extLst>
          </p:cNvPr>
          <p:cNvSpPr/>
          <p:nvPr/>
        </p:nvSpPr>
        <p:spPr bwMode="auto">
          <a:xfrm>
            <a:off x="2574967" y="1271307"/>
            <a:ext cx="251011" cy="725308"/>
          </a:xfrm>
          <a:prstGeom prst="downArrow">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16" name="Down Arrow 15">
            <a:extLst>
              <a:ext uri="{FF2B5EF4-FFF2-40B4-BE49-F238E27FC236}">
                <a16:creationId xmlns:a16="http://schemas.microsoft.com/office/drawing/2014/main" id="{C84DECAA-800B-7615-CFB8-860E0464AB9B}"/>
              </a:ext>
            </a:extLst>
          </p:cNvPr>
          <p:cNvSpPr/>
          <p:nvPr/>
        </p:nvSpPr>
        <p:spPr bwMode="auto">
          <a:xfrm>
            <a:off x="8969505" y="1520063"/>
            <a:ext cx="251011" cy="995171"/>
          </a:xfrm>
          <a:prstGeom prst="downArrow">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dirty="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4398175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98B32-D4FB-CE10-4E47-52C07F2A9F9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002110-FBBC-D177-EA3B-4AF461221611}"/>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33</a:t>
            </a:fld>
            <a:endParaRPr lang="en-US">
              <a:solidFill>
                <a:srgbClr val="000000"/>
              </a:solidFill>
              <a:latin typeface="Segoe UI"/>
            </a:endParaRPr>
          </a:p>
        </p:txBody>
      </p:sp>
      <p:sp>
        <p:nvSpPr>
          <p:cNvPr id="7" name="!!10">
            <a:extLst>
              <a:ext uri="{FF2B5EF4-FFF2-40B4-BE49-F238E27FC236}">
                <a16:creationId xmlns:a16="http://schemas.microsoft.com/office/drawing/2014/main" id="{DD8335A0-1706-4E26-2189-8B6F0334998F}"/>
              </a:ext>
            </a:extLst>
          </p:cNvPr>
          <p:cNvSpPr/>
          <p:nvPr/>
        </p:nvSpPr>
        <p:spPr bwMode="auto">
          <a:xfrm>
            <a:off x="204579" y="127120"/>
            <a:ext cx="763613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12" name="Rounded Rectangle 11">
            <a:extLst>
              <a:ext uri="{FF2B5EF4-FFF2-40B4-BE49-F238E27FC236}">
                <a16:creationId xmlns:a16="http://schemas.microsoft.com/office/drawing/2014/main" id="{1404DE20-8C2D-A3A7-7210-D41A7C899812}"/>
              </a:ext>
            </a:extLst>
          </p:cNvPr>
          <p:cNvSpPr/>
          <p:nvPr/>
        </p:nvSpPr>
        <p:spPr bwMode="auto">
          <a:xfrm>
            <a:off x="3864217" y="1460659"/>
            <a:ext cx="8035340" cy="849648"/>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Input trait compared against all 1,055 QTL traits </a:t>
            </a:r>
          </a:p>
        </p:txBody>
      </p:sp>
      <p:sp>
        <p:nvSpPr>
          <p:cNvPr id="13" name="Rounded Rectangle 12">
            <a:extLst>
              <a:ext uri="{FF2B5EF4-FFF2-40B4-BE49-F238E27FC236}">
                <a16:creationId xmlns:a16="http://schemas.microsoft.com/office/drawing/2014/main" id="{2EE0D78C-C5E4-A988-7283-F69ED242573B}"/>
              </a:ext>
            </a:extLst>
          </p:cNvPr>
          <p:cNvSpPr/>
          <p:nvPr/>
        </p:nvSpPr>
        <p:spPr bwMode="auto">
          <a:xfrm>
            <a:off x="3864217" y="2794606"/>
            <a:ext cx="4600161" cy="1784978"/>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Pairs with semantic similarity score &gt; 0.6 are selected</a:t>
            </a:r>
          </a:p>
        </p:txBody>
      </p:sp>
      <p:pic>
        <p:nvPicPr>
          <p:cNvPr id="15" name="!!traitsim">
            <a:extLst>
              <a:ext uri="{FF2B5EF4-FFF2-40B4-BE49-F238E27FC236}">
                <a16:creationId xmlns:a16="http://schemas.microsoft.com/office/drawing/2014/main" id="{B70F3419-CEAC-69A8-D9B4-3372A619E22B}"/>
              </a:ext>
            </a:extLst>
          </p:cNvPr>
          <p:cNvPicPr>
            <a:picLocks noChangeAspect="1"/>
          </p:cNvPicPr>
          <p:nvPr/>
        </p:nvPicPr>
        <p:blipFill>
          <a:blip r:embed="rId3"/>
          <a:stretch>
            <a:fillRect/>
          </a:stretch>
        </p:blipFill>
        <p:spPr>
          <a:xfrm>
            <a:off x="8725430" y="2671803"/>
            <a:ext cx="3058297" cy="3058297"/>
          </a:xfrm>
          <a:prstGeom prst="rect">
            <a:avLst/>
          </a:prstGeom>
        </p:spPr>
      </p:pic>
      <p:sp>
        <p:nvSpPr>
          <p:cNvPr id="16" name="rectangle">
            <a:extLst>
              <a:ext uri="{FF2B5EF4-FFF2-40B4-BE49-F238E27FC236}">
                <a16:creationId xmlns:a16="http://schemas.microsoft.com/office/drawing/2014/main" id="{2AC6DA6E-CD6F-DD92-3AA6-582FBA6E00EE}"/>
              </a:ext>
            </a:extLst>
          </p:cNvPr>
          <p:cNvSpPr/>
          <p:nvPr/>
        </p:nvSpPr>
        <p:spPr bwMode="auto">
          <a:xfrm>
            <a:off x="581269" y="1503608"/>
            <a:ext cx="2786398" cy="723773"/>
          </a:xfrm>
          <a:prstGeom prst="roundRect">
            <a:avLst/>
          </a:prstGeom>
          <a:solidFill>
            <a:srgbClr val="EEEEEE"/>
          </a:solidFill>
          <a:ln w="38100">
            <a:solidFill>
              <a:srgbClr val="42A35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a:solidFill>
                  <a:schemeClr val="tx1"/>
                </a:solidFill>
                <a:latin typeface="Arial" panose="020B0604020202020204" pitchFamily="34" charset="0"/>
                <a:cs typeface="Arial" panose="020B0604020202020204" pitchFamily="34" charset="0"/>
              </a:rPr>
              <a:t>Trait Similarity</a:t>
            </a:r>
          </a:p>
        </p:txBody>
      </p:sp>
      <p:sp>
        <p:nvSpPr>
          <p:cNvPr id="17" name="Rounded Rectangle 16">
            <a:extLst>
              <a:ext uri="{FF2B5EF4-FFF2-40B4-BE49-F238E27FC236}">
                <a16:creationId xmlns:a16="http://schemas.microsoft.com/office/drawing/2014/main" id="{3A7189E5-F3A5-6910-5AD6-0C6523E87AB3}"/>
              </a:ext>
            </a:extLst>
          </p:cNvPr>
          <p:cNvSpPr/>
          <p:nvPr/>
        </p:nvSpPr>
        <p:spPr bwMode="auto">
          <a:xfrm>
            <a:off x="581268" y="2614792"/>
            <a:ext cx="2786399" cy="723775"/>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QTL</a:t>
            </a:r>
          </a:p>
        </p:txBody>
      </p:sp>
      <p:sp>
        <p:nvSpPr>
          <p:cNvPr id="18" name="Rounded Rectangle 17">
            <a:extLst>
              <a:ext uri="{FF2B5EF4-FFF2-40B4-BE49-F238E27FC236}">
                <a16:creationId xmlns:a16="http://schemas.microsoft.com/office/drawing/2014/main" id="{BB690EC2-A2BE-6860-1759-75A3B60149F2}"/>
              </a:ext>
            </a:extLst>
          </p:cNvPr>
          <p:cNvSpPr/>
          <p:nvPr/>
        </p:nvSpPr>
        <p:spPr bwMode="auto">
          <a:xfrm>
            <a:off x="581268" y="3725978"/>
            <a:ext cx="2786400" cy="723775"/>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Homology</a:t>
            </a:r>
          </a:p>
        </p:txBody>
      </p:sp>
      <p:sp>
        <p:nvSpPr>
          <p:cNvPr id="19" name="Rounded Rectangle 18">
            <a:extLst>
              <a:ext uri="{FF2B5EF4-FFF2-40B4-BE49-F238E27FC236}">
                <a16:creationId xmlns:a16="http://schemas.microsoft.com/office/drawing/2014/main" id="{6540576C-E19F-232B-41ED-A0E8B6EE2C2D}"/>
              </a:ext>
            </a:extLst>
          </p:cNvPr>
          <p:cNvSpPr/>
          <p:nvPr/>
        </p:nvSpPr>
        <p:spPr bwMode="auto">
          <a:xfrm>
            <a:off x="581267" y="4837164"/>
            <a:ext cx="2786397" cy="723775"/>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Co-expression</a:t>
            </a:r>
          </a:p>
        </p:txBody>
      </p:sp>
    </p:spTree>
    <p:extLst>
      <p:ext uri="{BB962C8B-B14F-4D97-AF65-F5344CB8AC3E}">
        <p14:creationId xmlns:p14="http://schemas.microsoft.com/office/powerpoint/2010/main" val="2738624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00C58-D679-40C7-7791-31FB99D6832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22A710F-BB89-E5C5-77E0-FC552BD1414F}"/>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34</a:t>
            </a:fld>
            <a:endParaRPr lang="en-US">
              <a:solidFill>
                <a:srgbClr val="000000"/>
              </a:solidFill>
              <a:latin typeface="Segoe UI"/>
            </a:endParaRPr>
          </a:p>
        </p:txBody>
      </p:sp>
      <p:sp>
        <p:nvSpPr>
          <p:cNvPr id="7" name="!!10">
            <a:extLst>
              <a:ext uri="{FF2B5EF4-FFF2-40B4-BE49-F238E27FC236}">
                <a16:creationId xmlns:a16="http://schemas.microsoft.com/office/drawing/2014/main" id="{A21690F4-F326-AFC0-CD0E-2B9DE0956D42}"/>
              </a:ext>
            </a:extLst>
          </p:cNvPr>
          <p:cNvSpPr/>
          <p:nvPr/>
        </p:nvSpPr>
        <p:spPr bwMode="auto">
          <a:xfrm>
            <a:off x="204579" y="127120"/>
            <a:ext cx="763613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16" name="rectangle">
            <a:extLst>
              <a:ext uri="{FF2B5EF4-FFF2-40B4-BE49-F238E27FC236}">
                <a16:creationId xmlns:a16="http://schemas.microsoft.com/office/drawing/2014/main" id="{12F86628-46B7-61A1-F2A5-21615CCE1B85}"/>
              </a:ext>
            </a:extLst>
          </p:cNvPr>
          <p:cNvSpPr/>
          <p:nvPr/>
        </p:nvSpPr>
        <p:spPr bwMode="auto">
          <a:xfrm>
            <a:off x="581269" y="1503608"/>
            <a:ext cx="2786398" cy="723773"/>
          </a:xfrm>
          <a:prstGeom prst="roundRect">
            <a:avLst/>
          </a:prstGeom>
          <a:solidFill>
            <a:srgbClr val="EEEEEE"/>
          </a:solidFill>
          <a:ln w="38100">
            <a:solidFill>
              <a:srgbClr val="42A35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Trait Similarity</a:t>
            </a:r>
          </a:p>
        </p:txBody>
      </p:sp>
      <p:sp>
        <p:nvSpPr>
          <p:cNvPr id="17" name="Rounded Rectangle 16">
            <a:extLst>
              <a:ext uri="{FF2B5EF4-FFF2-40B4-BE49-F238E27FC236}">
                <a16:creationId xmlns:a16="http://schemas.microsoft.com/office/drawing/2014/main" id="{8A981F5C-6C9C-2B70-C3E6-3BE9D0A19916}"/>
              </a:ext>
            </a:extLst>
          </p:cNvPr>
          <p:cNvSpPr/>
          <p:nvPr/>
        </p:nvSpPr>
        <p:spPr bwMode="auto">
          <a:xfrm>
            <a:off x="581268" y="2614792"/>
            <a:ext cx="2786399" cy="723775"/>
          </a:xfrm>
          <a:prstGeom prst="roundRect">
            <a:avLst/>
          </a:prstGeom>
          <a:solidFill>
            <a:srgbClr val="EEEEEE"/>
          </a:solidFill>
          <a:ln w="38100">
            <a:solidFill>
              <a:srgbClr val="A579F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QTL</a:t>
            </a:r>
          </a:p>
        </p:txBody>
      </p:sp>
      <p:sp>
        <p:nvSpPr>
          <p:cNvPr id="18" name="Rounded Rectangle 17">
            <a:extLst>
              <a:ext uri="{FF2B5EF4-FFF2-40B4-BE49-F238E27FC236}">
                <a16:creationId xmlns:a16="http://schemas.microsoft.com/office/drawing/2014/main" id="{C5CA27A8-77F1-D32A-3327-FC138127C4FD}"/>
              </a:ext>
            </a:extLst>
          </p:cNvPr>
          <p:cNvSpPr/>
          <p:nvPr/>
        </p:nvSpPr>
        <p:spPr bwMode="auto">
          <a:xfrm>
            <a:off x="581268" y="3725978"/>
            <a:ext cx="2786400" cy="723775"/>
          </a:xfrm>
          <a:prstGeom prst="roundRect">
            <a:avLst/>
          </a:prstGeom>
          <a:solidFill>
            <a:srgbClr val="EEEEEE"/>
          </a:solidFill>
          <a:ln w="38100">
            <a:solidFill>
              <a:srgbClr val="80008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Homology</a:t>
            </a:r>
          </a:p>
        </p:txBody>
      </p:sp>
      <p:sp>
        <p:nvSpPr>
          <p:cNvPr id="19" name="Rounded Rectangle 18">
            <a:extLst>
              <a:ext uri="{FF2B5EF4-FFF2-40B4-BE49-F238E27FC236}">
                <a16:creationId xmlns:a16="http://schemas.microsoft.com/office/drawing/2014/main" id="{C6FA85D5-408E-3821-A2A2-0CAA423795F5}"/>
              </a:ext>
            </a:extLst>
          </p:cNvPr>
          <p:cNvSpPr/>
          <p:nvPr/>
        </p:nvSpPr>
        <p:spPr bwMode="auto">
          <a:xfrm>
            <a:off x="581267" y="4837164"/>
            <a:ext cx="2786397" cy="723775"/>
          </a:xfrm>
          <a:prstGeom prst="roundRect">
            <a:avLst/>
          </a:prstGeom>
          <a:solidFill>
            <a:srgbClr val="EEEEEE"/>
          </a:solidFill>
          <a:ln w="38100">
            <a:solidFill>
              <a:srgbClr val="DBA52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Co-expression</a:t>
            </a:r>
          </a:p>
        </p:txBody>
      </p:sp>
      <p:pic>
        <p:nvPicPr>
          <p:cNvPr id="3" name="!!traitsim">
            <a:extLst>
              <a:ext uri="{FF2B5EF4-FFF2-40B4-BE49-F238E27FC236}">
                <a16:creationId xmlns:a16="http://schemas.microsoft.com/office/drawing/2014/main" id="{1EB3742E-E98C-D4AC-FCF1-153A376179C0}"/>
              </a:ext>
            </a:extLst>
          </p:cNvPr>
          <p:cNvPicPr>
            <a:picLocks noChangeAspect="1"/>
          </p:cNvPicPr>
          <p:nvPr/>
        </p:nvPicPr>
        <p:blipFill>
          <a:blip r:embed="rId3"/>
          <a:srcRect l="7520" t="7793"/>
          <a:stretch>
            <a:fillRect/>
          </a:stretch>
        </p:blipFill>
        <p:spPr>
          <a:xfrm>
            <a:off x="3610571" y="1061044"/>
            <a:ext cx="2986944" cy="2978133"/>
          </a:xfrm>
          <a:prstGeom prst="rect">
            <a:avLst/>
          </a:prstGeom>
          <a:solidFill>
            <a:srgbClr val="EEEEEE"/>
          </a:solidFill>
          <a:ln>
            <a:noFill/>
            <a:headEnd type="none" w="med" len="med"/>
            <a:tailEnd type="none" w="med" len="med"/>
          </a:ln>
          <a:effectLst/>
        </p:spPr>
      </p:pic>
      <p:pic>
        <p:nvPicPr>
          <p:cNvPr id="6" name="!!QTL">
            <a:extLst>
              <a:ext uri="{FF2B5EF4-FFF2-40B4-BE49-F238E27FC236}">
                <a16:creationId xmlns:a16="http://schemas.microsoft.com/office/drawing/2014/main" id="{E76B045D-5CF1-38C8-B147-AAE0AEEE6187}"/>
              </a:ext>
            </a:extLst>
          </p:cNvPr>
          <p:cNvPicPr>
            <a:picLocks noChangeAspect="1"/>
          </p:cNvPicPr>
          <p:nvPr/>
        </p:nvPicPr>
        <p:blipFill>
          <a:blip r:embed="rId4"/>
          <a:stretch>
            <a:fillRect/>
          </a:stretch>
        </p:blipFill>
        <p:spPr>
          <a:xfrm>
            <a:off x="3610568" y="1019041"/>
            <a:ext cx="4294256" cy="4639051"/>
          </a:xfrm>
          <a:prstGeom prst="rect">
            <a:avLst/>
          </a:prstGeom>
        </p:spPr>
      </p:pic>
      <p:pic>
        <p:nvPicPr>
          <p:cNvPr id="5" name="image1">
            <a:extLst>
              <a:ext uri="{FF2B5EF4-FFF2-40B4-BE49-F238E27FC236}">
                <a16:creationId xmlns:a16="http://schemas.microsoft.com/office/drawing/2014/main" id="{B865F2F5-7D7A-CB9F-C58C-9369C8EE4C6A}"/>
              </a:ext>
            </a:extLst>
          </p:cNvPr>
          <p:cNvPicPr>
            <a:picLocks noChangeAspect="1"/>
          </p:cNvPicPr>
          <p:nvPr/>
        </p:nvPicPr>
        <p:blipFill>
          <a:blip r:embed="rId5"/>
          <a:stretch>
            <a:fillRect/>
          </a:stretch>
        </p:blipFill>
        <p:spPr>
          <a:xfrm>
            <a:off x="3560171" y="991145"/>
            <a:ext cx="8219124" cy="5360970"/>
          </a:xfrm>
          <a:prstGeom prst="rect">
            <a:avLst/>
          </a:prstGeom>
        </p:spPr>
      </p:pic>
    </p:spTree>
    <p:extLst>
      <p:ext uri="{BB962C8B-B14F-4D97-AF65-F5344CB8AC3E}">
        <p14:creationId xmlns:p14="http://schemas.microsoft.com/office/powerpoint/2010/main" val="28166298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1BB3F-34C6-4593-E6A3-365ED7D6329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BF6E19-56BA-3137-5608-D51E38FCE702}"/>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35</a:t>
            </a:fld>
            <a:endParaRPr lang="en-US">
              <a:solidFill>
                <a:srgbClr val="000000"/>
              </a:solidFill>
              <a:latin typeface="Segoe UI"/>
            </a:endParaRPr>
          </a:p>
        </p:txBody>
      </p:sp>
      <p:sp>
        <p:nvSpPr>
          <p:cNvPr id="7" name="!!10">
            <a:extLst>
              <a:ext uri="{FF2B5EF4-FFF2-40B4-BE49-F238E27FC236}">
                <a16:creationId xmlns:a16="http://schemas.microsoft.com/office/drawing/2014/main" id="{D6BDD9EB-1372-CC0E-E892-0914362AEBAE}"/>
              </a:ext>
            </a:extLst>
          </p:cNvPr>
          <p:cNvSpPr/>
          <p:nvPr/>
        </p:nvSpPr>
        <p:spPr bwMode="auto">
          <a:xfrm>
            <a:off x="204579" y="127120"/>
            <a:ext cx="763613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8" name="rectangle">
            <a:extLst>
              <a:ext uri="{FF2B5EF4-FFF2-40B4-BE49-F238E27FC236}">
                <a16:creationId xmlns:a16="http://schemas.microsoft.com/office/drawing/2014/main" id="{599108C0-A269-493D-D80B-D6572421F46E}"/>
              </a:ext>
            </a:extLst>
          </p:cNvPr>
          <p:cNvSpPr/>
          <p:nvPr/>
        </p:nvSpPr>
        <p:spPr bwMode="auto">
          <a:xfrm>
            <a:off x="581269" y="1503608"/>
            <a:ext cx="2786398" cy="723773"/>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Trait Similarity</a:t>
            </a:r>
          </a:p>
        </p:txBody>
      </p:sp>
      <p:sp>
        <p:nvSpPr>
          <p:cNvPr id="10" name="Rounded Rectangle 9">
            <a:extLst>
              <a:ext uri="{FF2B5EF4-FFF2-40B4-BE49-F238E27FC236}">
                <a16:creationId xmlns:a16="http://schemas.microsoft.com/office/drawing/2014/main" id="{3B756817-2C1F-D37F-0080-BABBBE2F855F}"/>
              </a:ext>
            </a:extLst>
          </p:cNvPr>
          <p:cNvSpPr/>
          <p:nvPr/>
        </p:nvSpPr>
        <p:spPr bwMode="auto">
          <a:xfrm>
            <a:off x="581268" y="3725978"/>
            <a:ext cx="2786400" cy="723775"/>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Homology</a:t>
            </a:r>
          </a:p>
        </p:txBody>
      </p:sp>
      <p:sp>
        <p:nvSpPr>
          <p:cNvPr id="11" name="Rounded Rectangle 10">
            <a:extLst>
              <a:ext uri="{FF2B5EF4-FFF2-40B4-BE49-F238E27FC236}">
                <a16:creationId xmlns:a16="http://schemas.microsoft.com/office/drawing/2014/main" id="{9F0674EF-71EB-BFB8-1AAD-B1DA464254A3}"/>
              </a:ext>
            </a:extLst>
          </p:cNvPr>
          <p:cNvSpPr/>
          <p:nvPr/>
        </p:nvSpPr>
        <p:spPr bwMode="auto">
          <a:xfrm>
            <a:off x="581267" y="4837164"/>
            <a:ext cx="2786397" cy="723775"/>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Co-expression</a:t>
            </a:r>
          </a:p>
        </p:txBody>
      </p:sp>
      <p:sp>
        <p:nvSpPr>
          <p:cNvPr id="12" name="Rounded Rectangle 11">
            <a:extLst>
              <a:ext uri="{FF2B5EF4-FFF2-40B4-BE49-F238E27FC236}">
                <a16:creationId xmlns:a16="http://schemas.microsoft.com/office/drawing/2014/main" id="{56FB9F8E-AEEB-2DA0-46CE-48E72ADB72B3}"/>
              </a:ext>
            </a:extLst>
          </p:cNvPr>
          <p:cNvSpPr/>
          <p:nvPr/>
        </p:nvSpPr>
        <p:spPr bwMode="auto">
          <a:xfrm>
            <a:off x="3864217" y="1460659"/>
            <a:ext cx="7919510" cy="1010692"/>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QTL genes that are associated with selected QTL traits </a:t>
            </a:r>
          </a:p>
        </p:txBody>
      </p:sp>
      <p:sp>
        <p:nvSpPr>
          <p:cNvPr id="13" name="Rounded Rectangle 12">
            <a:extLst>
              <a:ext uri="{FF2B5EF4-FFF2-40B4-BE49-F238E27FC236}">
                <a16:creationId xmlns:a16="http://schemas.microsoft.com/office/drawing/2014/main" id="{46F1A94D-8F75-BB59-A570-CAF933610424}"/>
              </a:ext>
            </a:extLst>
          </p:cNvPr>
          <p:cNvSpPr/>
          <p:nvPr/>
        </p:nvSpPr>
        <p:spPr bwMode="auto">
          <a:xfrm>
            <a:off x="3864217" y="2794606"/>
            <a:ext cx="4122053" cy="1010692"/>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No minimum score filter </a:t>
            </a:r>
          </a:p>
        </p:txBody>
      </p:sp>
      <p:pic>
        <p:nvPicPr>
          <p:cNvPr id="3" name="!!QTL">
            <a:extLst>
              <a:ext uri="{FF2B5EF4-FFF2-40B4-BE49-F238E27FC236}">
                <a16:creationId xmlns:a16="http://schemas.microsoft.com/office/drawing/2014/main" id="{598B947B-0911-F9FA-FE2B-5D427D4BAA93}"/>
              </a:ext>
            </a:extLst>
          </p:cNvPr>
          <p:cNvPicPr>
            <a:picLocks noChangeAspect="1"/>
          </p:cNvPicPr>
          <p:nvPr/>
        </p:nvPicPr>
        <p:blipFill>
          <a:blip r:embed="rId3"/>
          <a:stretch>
            <a:fillRect/>
          </a:stretch>
        </p:blipFill>
        <p:spPr>
          <a:xfrm>
            <a:off x="8130932" y="2614792"/>
            <a:ext cx="3479800" cy="3759200"/>
          </a:xfrm>
          <a:prstGeom prst="rect">
            <a:avLst/>
          </a:prstGeom>
        </p:spPr>
      </p:pic>
      <p:sp>
        <p:nvSpPr>
          <p:cNvPr id="6" name="Rounded Rectangle 5">
            <a:extLst>
              <a:ext uri="{FF2B5EF4-FFF2-40B4-BE49-F238E27FC236}">
                <a16:creationId xmlns:a16="http://schemas.microsoft.com/office/drawing/2014/main" id="{D893D9C0-83A3-C622-E4E6-F1302899BC36}"/>
              </a:ext>
            </a:extLst>
          </p:cNvPr>
          <p:cNvSpPr/>
          <p:nvPr/>
        </p:nvSpPr>
        <p:spPr bwMode="auto">
          <a:xfrm>
            <a:off x="581268" y="2614792"/>
            <a:ext cx="2786399" cy="723775"/>
          </a:xfrm>
          <a:prstGeom prst="roundRect">
            <a:avLst/>
          </a:prstGeom>
          <a:solidFill>
            <a:srgbClr val="EEEEEE"/>
          </a:solidFill>
          <a:ln w="38100">
            <a:solidFill>
              <a:srgbClr val="A579F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a:solidFill>
                  <a:schemeClr val="tx1"/>
                </a:solidFill>
                <a:latin typeface="Arial" panose="020B0604020202020204" pitchFamily="34" charset="0"/>
                <a:cs typeface="Arial" panose="020B0604020202020204" pitchFamily="34" charset="0"/>
              </a:rPr>
              <a:t>QTL</a:t>
            </a:r>
          </a:p>
        </p:txBody>
      </p:sp>
      <p:pic>
        <p:nvPicPr>
          <p:cNvPr id="16" name="Picture 15">
            <a:extLst>
              <a:ext uri="{FF2B5EF4-FFF2-40B4-BE49-F238E27FC236}">
                <a16:creationId xmlns:a16="http://schemas.microsoft.com/office/drawing/2014/main" id="{F4BEB9B0-8735-5171-A407-167F9E86AACE}"/>
              </a:ext>
            </a:extLst>
          </p:cNvPr>
          <p:cNvPicPr>
            <a:picLocks noChangeAspect="1"/>
          </p:cNvPicPr>
          <p:nvPr/>
        </p:nvPicPr>
        <p:blipFill>
          <a:blip r:embed="rId4"/>
          <a:stretch>
            <a:fillRect/>
          </a:stretch>
        </p:blipFill>
        <p:spPr>
          <a:xfrm>
            <a:off x="3864217" y="3877684"/>
            <a:ext cx="4122053" cy="2732960"/>
          </a:xfrm>
          <a:prstGeom prst="rect">
            <a:avLst/>
          </a:prstGeom>
        </p:spPr>
      </p:pic>
    </p:spTree>
    <p:extLst>
      <p:ext uri="{BB962C8B-B14F-4D97-AF65-F5344CB8AC3E}">
        <p14:creationId xmlns:p14="http://schemas.microsoft.com/office/powerpoint/2010/main" val="23500627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31785-B294-8EB4-191C-177648A5D164}"/>
            </a:ext>
          </a:extLst>
        </p:cNvPr>
        <p:cNvGrpSpPr/>
        <p:nvPr/>
      </p:nvGrpSpPr>
      <p:grpSpPr>
        <a:xfrm>
          <a:off x="0" y="0"/>
          <a:ext cx="0" cy="0"/>
          <a:chOff x="0" y="0"/>
          <a:chExt cx="0" cy="0"/>
        </a:xfrm>
      </p:grpSpPr>
      <p:pic>
        <p:nvPicPr>
          <p:cNvPr id="11" name="!!blast">
            <a:extLst>
              <a:ext uri="{FF2B5EF4-FFF2-40B4-BE49-F238E27FC236}">
                <a16:creationId xmlns:a16="http://schemas.microsoft.com/office/drawing/2014/main" id="{44928822-DAA8-41D3-DB7C-5CD44AB1140F}"/>
              </a:ext>
            </a:extLst>
          </p:cNvPr>
          <p:cNvPicPr>
            <a:picLocks noChangeAspect="1"/>
          </p:cNvPicPr>
          <p:nvPr/>
        </p:nvPicPr>
        <p:blipFill>
          <a:blip r:embed="rId3"/>
          <a:srcRect t="1594" r="2699"/>
          <a:stretch>
            <a:fillRect/>
          </a:stretch>
        </p:blipFill>
        <p:spPr>
          <a:xfrm>
            <a:off x="8577936" y="1061044"/>
            <a:ext cx="3160481" cy="5430777"/>
          </a:xfrm>
          <a:prstGeom prst="rect">
            <a:avLst/>
          </a:prstGeom>
        </p:spPr>
      </p:pic>
      <p:pic>
        <p:nvPicPr>
          <p:cNvPr id="3" name="!!QTL">
            <a:extLst>
              <a:ext uri="{FF2B5EF4-FFF2-40B4-BE49-F238E27FC236}">
                <a16:creationId xmlns:a16="http://schemas.microsoft.com/office/drawing/2014/main" id="{B71298A7-2B1F-BD73-F7DA-F570E19B2E6D}"/>
              </a:ext>
            </a:extLst>
          </p:cNvPr>
          <p:cNvPicPr>
            <a:picLocks noChangeAspect="1"/>
          </p:cNvPicPr>
          <p:nvPr/>
        </p:nvPicPr>
        <p:blipFill>
          <a:blip r:embed="rId4"/>
          <a:srcRect t="906"/>
          <a:stretch>
            <a:fillRect/>
          </a:stretch>
        </p:blipFill>
        <p:spPr>
          <a:xfrm>
            <a:off x="3610568" y="1061044"/>
            <a:ext cx="4294256" cy="4597048"/>
          </a:xfrm>
          <a:prstGeom prst="rect">
            <a:avLst/>
          </a:prstGeom>
        </p:spPr>
      </p:pic>
      <p:sp>
        <p:nvSpPr>
          <p:cNvPr id="4" name="Slide Number Placeholder 3">
            <a:extLst>
              <a:ext uri="{FF2B5EF4-FFF2-40B4-BE49-F238E27FC236}">
                <a16:creationId xmlns:a16="http://schemas.microsoft.com/office/drawing/2014/main" id="{9CD46E26-CE8F-EC00-2A04-E4F1517ED9A0}"/>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36</a:t>
            </a:fld>
            <a:endParaRPr lang="en-US">
              <a:solidFill>
                <a:srgbClr val="000000"/>
              </a:solidFill>
              <a:latin typeface="Segoe UI"/>
            </a:endParaRPr>
          </a:p>
        </p:txBody>
      </p:sp>
      <p:sp>
        <p:nvSpPr>
          <p:cNvPr id="7" name="!!10">
            <a:extLst>
              <a:ext uri="{FF2B5EF4-FFF2-40B4-BE49-F238E27FC236}">
                <a16:creationId xmlns:a16="http://schemas.microsoft.com/office/drawing/2014/main" id="{CF62BF5F-33DB-10C3-AFB5-04A916BBED5A}"/>
              </a:ext>
            </a:extLst>
          </p:cNvPr>
          <p:cNvSpPr/>
          <p:nvPr/>
        </p:nvSpPr>
        <p:spPr bwMode="auto">
          <a:xfrm>
            <a:off x="204579" y="127120"/>
            <a:ext cx="763613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pic>
        <p:nvPicPr>
          <p:cNvPr id="6" name="image1">
            <a:extLst>
              <a:ext uri="{FF2B5EF4-FFF2-40B4-BE49-F238E27FC236}">
                <a16:creationId xmlns:a16="http://schemas.microsoft.com/office/drawing/2014/main" id="{55D040BB-A145-0D6F-C70B-57762A1B52F2}"/>
              </a:ext>
            </a:extLst>
          </p:cNvPr>
          <p:cNvPicPr>
            <a:picLocks noChangeAspect="1"/>
          </p:cNvPicPr>
          <p:nvPr/>
        </p:nvPicPr>
        <p:blipFill>
          <a:blip r:embed="rId5"/>
          <a:stretch>
            <a:fillRect/>
          </a:stretch>
        </p:blipFill>
        <p:spPr>
          <a:xfrm>
            <a:off x="3560171" y="991145"/>
            <a:ext cx="8219124" cy="5360970"/>
          </a:xfrm>
          <a:prstGeom prst="rect">
            <a:avLst/>
          </a:prstGeom>
        </p:spPr>
      </p:pic>
      <p:sp>
        <p:nvSpPr>
          <p:cNvPr id="19" name="rectangle">
            <a:extLst>
              <a:ext uri="{FF2B5EF4-FFF2-40B4-BE49-F238E27FC236}">
                <a16:creationId xmlns:a16="http://schemas.microsoft.com/office/drawing/2014/main" id="{37F7BD23-1601-59C2-F4FE-9FF71CB813D1}"/>
              </a:ext>
            </a:extLst>
          </p:cNvPr>
          <p:cNvSpPr/>
          <p:nvPr/>
        </p:nvSpPr>
        <p:spPr bwMode="auto">
          <a:xfrm>
            <a:off x="581269" y="1503608"/>
            <a:ext cx="2786398" cy="723773"/>
          </a:xfrm>
          <a:prstGeom prst="roundRect">
            <a:avLst/>
          </a:prstGeom>
          <a:solidFill>
            <a:srgbClr val="EEEEEE"/>
          </a:solidFill>
          <a:ln w="38100">
            <a:solidFill>
              <a:srgbClr val="42A35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Trait Similarity</a:t>
            </a:r>
          </a:p>
        </p:txBody>
      </p:sp>
      <p:sp>
        <p:nvSpPr>
          <p:cNvPr id="20" name="Rounded Rectangle 19">
            <a:extLst>
              <a:ext uri="{FF2B5EF4-FFF2-40B4-BE49-F238E27FC236}">
                <a16:creationId xmlns:a16="http://schemas.microsoft.com/office/drawing/2014/main" id="{31C7B896-866B-6F2A-6FF7-641A81F262F9}"/>
              </a:ext>
            </a:extLst>
          </p:cNvPr>
          <p:cNvSpPr/>
          <p:nvPr/>
        </p:nvSpPr>
        <p:spPr bwMode="auto">
          <a:xfrm>
            <a:off x="581268" y="2614792"/>
            <a:ext cx="2786399" cy="723775"/>
          </a:xfrm>
          <a:prstGeom prst="roundRect">
            <a:avLst/>
          </a:prstGeom>
          <a:solidFill>
            <a:srgbClr val="EEEEEE"/>
          </a:solidFill>
          <a:ln w="38100">
            <a:solidFill>
              <a:srgbClr val="A579F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QTL</a:t>
            </a:r>
          </a:p>
        </p:txBody>
      </p:sp>
      <p:sp>
        <p:nvSpPr>
          <p:cNvPr id="21" name="Rounded Rectangle 20">
            <a:extLst>
              <a:ext uri="{FF2B5EF4-FFF2-40B4-BE49-F238E27FC236}">
                <a16:creationId xmlns:a16="http://schemas.microsoft.com/office/drawing/2014/main" id="{FF6C1717-9967-56D1-4F0F-D319A728F46E}"/>
              </a:ext>
            </a:extLst>
          </p:cNvPr>
          <p:cNvSpPr/>
          <p:nvPr/>
        </p:nvSpPr>
        <p:spPr bwMode="auto">
          <a:xfrm>
            <a:off x="581268" y="3725978"/>
            <a:ext cx="2786400" cy="723775"/>
          </a:xfrm>
          <a:prstGeom prst="roundRect">
            <a:avLst/>
          </a:prstGeom>
          <a:solidFill>
            <a:srgbClr val="EEEEEE"/>
          </a:solidFill>
          <a:ln w="38100">
            <a:solidFill>
              <a:srgbClr val="80008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Homology</a:t>
            </a:r>
          </a:p>
        </p:txBody>
      </p:sp>
      <p:sp>
        <p:nvSpPr>
          <p:cNvPr id="22" name="Rounded Rectangle 21">
            <a:extLst>
              <a:ext uri="{FF2B5EF4-FFF2-40B4-BE49-F238E27FC236}">
                <a16:creationId xmlns:a16="http://schemas.microsoft.com/office/drawing/2014/main" id="{6796046B-B91E-DD90-5646-F0B95AC115CA}"/>
              </a:ext>
            </a:extLst>
          </p:cNvPr>
          <p:cNvSpPr/>
          <p:nvPr/>
        </p:nvSpPr>
        <p:spPr bwMode="auto">
          <a:xfrm>
            <a:off x="581267" y="4837164"/>
            <a:ext cx="2786397" cy="723775"/>
          </a:xfrm>
          <a:prstGeom prst="roundRect">
            <a:avLst/>
          </a:prstGeom>
          <a:solidFill>
            <a:srgbClr val="EEEEEE"/>
          </a:solidFill>
          <a:ln w="38100">
            <a:solidFill>
              <a:srgbClr val="DBA52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Co-expression</a:t>
            </a:r>
          </a:p>
        </p:txBody>
      </p:sp>
    </p:spTree>
    <p:extLst>
      <p:ext uri="{BB962C8B-B14F-4D97-AF65-F5344CB8AC3E}">
        <p14:creationId xmlns:p14="http://schemas.microsoft.com/office/powerpoint/2010/main" val="1340550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11F60-0CAB-C389-24EA-DA38C343BFE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B68570-2A4B-0070-86F3-AA37EB323404}"/>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37</a:t>
            </a:fld>
            <a:endParaRPr lang="en-US">
              <a:solidFill>
                <a:srgbClr val="000000"/>
              </a:solidFill>
              <a:latin typeface="Segoe UI"/>
            </a:endParaRPr>
          </a:p>
        </p:txBody>
      </p:sp>
      <p:sp>
        <p:nvSpPr>
          <p:cNvPr id="7" name="!!10">
            <a:extLst>
              <a:ext uri="{FF2B5EF4-FFF2-40B4-BE49-F238E27FC236}">
                <a16:creationId xmlns:a16="http://schemas.microsoft.com/office/drawing/2014/main" id="{F6F6FDE8-2D1B-32B9-3763-0FAA3ED10DED}"/>
              </a:ext>
            </a:extLst>
          </p:cNvPr>
          <p:cNvSpPr/>
          <p:nvPr/>
        </p:nvSpPr>
        <p:spPr bwMode="auto">
          <a:xfrm>
            <a:off x="204579" y="127120"/>
            <a:ext cx="763613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8" name="rectangle">
            <a:extLst>
              <a:ext uri="{FF2B5EF4-FFF2-40B4-BE49-F238E27FC236}">
                <a16:creationId xmlns:a16="http://schemas.microsoft.com/office/drawing/2014/main" id="{0289D5D0-3ABD-EADD-9694-8FFFAA515D13}"/>
              </a:ext>
            </a:extLst>
          </p:cNvPr>
          <p:cNvSpPr/>
          <p:nvPr/>
        </p:nvSpPr>
        <p:spPr bwMode="auto">
          <a:xfrm>
            <a:off x="581269" y="1503608"/>
            <a:ext cx="2786398" cy="723773"/>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Trait Similarity</a:t>
            </a:r>
          </a:p>
        </p:txBody>
      </p:sp>
      <p:sp>
        <p:nvSpPr>
          <p:cNvPr id="9" name="Rounded Rectangle 8">
            <a:extLst>
              <a:ext uri="{FF2B5EF4-FFF2-40B4-BE49-F238E27FC236}">
                <a16:creationId xmlns:a16="http://schemas.microsoft.com/office/drawing/2014/main" id="{12FC6A36-D25F-2531-237A-76AD28957BF1}"/>
              </a:ext>
            </a:extLst>
          </p:cNvPr>
          <p:cNvSpPr/>
          <p:nvPr/>
        </p:nvSpPr>
        <p:spPr bwMode="auto">
          <a:xfrm>
            <a:off x="581268" y="2614792"/>
            <a:ext cx="2786399" cy="723775"/>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QTL</a:t>
            </a:r>
          </a:p>
        </p:txBody>
      </p:sp>
      <p:sp>
        <p:nvSpPr>
          <p:cNvPr id="11" name="Rounded Rectangle 10">
            <a:extLst>
              <a:ext uri="{FF2B5EF4-FFF2-40B4-BE49-F238E27FC236}">
                <a16:creationId xmlns:a16="http://schemas.microsoft.com/office/drawing/2014/main" id="{9CCECAF0-04E7-A7EA-5D09-17E9B2AC2A5B}"/>
              </a:ext>
            </a:extLst>
          </p:cNvPr>
          <p:cNvSpPr/>
          <p:nvPr/>
        </p:nvSpPr>
        <p:spPr bwMode="auto">
          <a:xfrm>
            <a:off x="581267" y="4837164"/>
            <a:ext cx="2786397" cy="723775"/>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Co-expression</a:t>
            </a:r>
          </a:p>
        </p:txBody>
      </p:sp>
      <p:sp>
        <p:nvSpPr>
          <p:cNvPr id="12" name="Rounded Rectangle 11">
            <a:extLst>
              <a:ext uri="{FF2B5EF4-FFF2-40B4-BE49-F238E27FC236}">
                <a16:creationId xmlns:a16="http://schemas.microsoft.com/office/drawing/2014/main" id="{B7538D81-9558-18E8-4DFE-BC141E338184}"/>
              </a:ext>
            </a:extLst>
          </p:cNvPr>
          <p:cNvSpPr/>
          <p:nvPr/>
        </p:nvSpPr>
        <p:spPr bwMode="auto">
          <a:xfrm>
            <a:off x="3864217" y="1503608"/>
            <a:ext cx="4960118" cy="2168392"/>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Homologous genes are identified using BLAST</a:t>
            </a:r>
            <a:r>
              <a:rPr lang="en-US" sz="2800">
                <a:solidFill>
                  <a:schemeClr val="tx1"/>
                </a:solidFill>
                <a:latin typeface="Arial" panose="020B0604020202020204" pitchFamily="34" charset="0"/>
                <a:cs typeface="Arial" panose="020B0604020202020204" pitchFamily="34" charset="0"/>
              </a:rPr>
              <a:t> (Basic Local Alignment Search Tool)</a:t>
            </a:r>
            <a:endParaRPr lang="en-US" sz="2800" dirty="0">
              <a:solidFill>
                <a:schemeClr val="tx1"/>
              </a:solidFill>
              <a:latin typeface="Arial" panose="020B0604020202020204" pitchFamily="34" charset="0"/>
              <a:cs typeface="Arial" panose="020B0604020202020204" pitchFamily="34" charset="0"/>
            </a:endParaRPr>
          </a:p>
        </p:txBody>
      </p:sp>
      <p:sp>
        <p:nvSpPr>
          <p:cNvPr id="13" name="Rounded Rectangle 12">
            <a:extLst>
              <a:ext uri="{FF2B5EF4-FFF2-40B4-BE49-F238E27FC236}">
                <a16:creationId xmlns:a16="http://schemas.microsoft.com/office/drawing/2014/main" id="{CF821BC4-B5EA-3CE7-8534-DA2D318A31B0}"/>
              </a:ext>
            </a:extLst>
          </p:cNvPr>
          <p:cNvSpPr/>
          <p:nvPr/>
        </p:nvSpPr>
        <p:spPr bwMode="auto">
          <a:xfrm>
            <a:off x="3864217" y="3944407"/>
            <a:ext cx="4960117" cy="1010692"/>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BLAST threshold set to 0.6</a:t>
            </a:r>
          </a:p>
        </p:txBody>
      </p:sp>
      <p:pic>
        <p:nvPicPr>
          <p:cNvPr id="5" name="!!blast">
            <a:extLst>
              <a:ext uri="{FF2B5EF4-FFF2-40B4-BE49-F238E27FC236}">
                <a16:creationId xmlns:a16="http://schemas.microsoft.com/office/drawing/2014/main" id="{61B15858-1D9C-A4B9-A804-9DED43E00B83}"/>
              </a:ext>
            </a:extLst>
          </p:cNvPr>
          <p:cNvPicPr>
            <a:picLocks noChangeAspect="1"/>
          </p:cNvPicPr>
          <p:nvPr/>
        </p:nvPicPr>
        <p:blipFill>
          <a:blip r:embed="rId3"/>
          <a:stretch>
            <a:fillRect/>
          </a:stretch>
        </p:blipFill>
        <p:spPr>
          <a:xfrm>
            <a:off x="8994531" y="1503478"/>
            <a:ext cx="2616200" cy="4445000"/>
          </a:xfrm>
          <a:prstGeom prst="rect">
            <a:avLst/>
          </a:prstGeom>
        </p:spPr>
      </p:pic>
      <p:sp>
        <p:nvSpPr>
          <p:cNvPr id="14" name="Rounded Rectangle 13">
            <a:extLst>
              <a:ext uri="{FF2B5EF4-FFF2-40B4-BE49-F238E27FC236}">
                <a16:creationId xmlns:a16="http://schemas.microsoft.com/office/drawing/2014/main" id="{2224E559-D4E3-02DD-DDAA-76A3ED513BB1}"/>
              </a:ext>
            </a:extLst>
          </p:cNvPr>
          <p:cNvSpPr/>
          <p:nvPr/>
        </p:nvSpPr>
        <p:spPr bwMode="auto">
          <a:xfrm>
            <a:off x="581268" y="3725978"/>
            <a:ext cx="2786400" cy="723775"/>
          </a:xfrm>
          <a:prstGeom prst="roundRect">
            <a:avLst/>
          </a:prstGeom>
          <a:solidFill>
            <a:srgbClr val="EEEEEE"/>
          </a:solidFill>
          <a:ln w="38100">
            <a:solidFill>
              <a:srgbClr val="80008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a:solidFill>
                  <a:schemeClr val="tx1"/>
                </a:solidFill>
                <a:latin typeface="Arial" panose="020B0604020202020204" pitchFamily="34" charset="0"/>
                <a:cs typeface="Arial" panose="020B0604020202020204" pitchFamily="34" charset="0"/>
              </a:rPr>
              <a:t>Homology</a:t>
            </a:r>
          </a:p>
        </p:txBody>
      </p:sp>
    </p:spTree>
    <p:extLst>
      <p:ext uri="{BB962C8B-B14F-4D97-AF65-F5344CB8AC3E}">
        <p14:creationId xmlns:p14="http://schemas.microsoft.com/office/powerpoint/2010/main" val="908379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9866C-EE34-107D-BEC6-F8B670D346EA}"/>
            </a:ext>
          </a:extLst>
        </p:cNvPr>
        <p:cNvGrpSpPr/>
        <p:nvPr/>
      </p:nvGrpSpPr>
      <p:grpSpPr>
        <a:xfrm>
          <a:off x="0" y="0"/>
          <a:ext cx="0" cy="0"/>
          <a:chOff x="0" y="0"/>
          <a:chExt cx="0" cy="0"/>
        </a:xfrm>
      </p:grpSpPr>
      <p:pic>
        <p:nvPicPr>
          <p:cNvPr id="10" name="!!coexp">
            <a:extLst>
              <a:ext uri="{FF2B5EF4-FFF2-40B4-BE49-F238E27FC236}">
                <a16:creationId xmlns:a16="http://schemas.microsoft.com/office/drawing/2014/main" id="{9B25A0A2-290C-7FD4-BA1D-28B90C8530F7}"/>
              </a:ext>
            </a:extLst>
          </p:cNvPr>
          <p:cNvPicPr>
            <a:picLocks noChangeAspect="1"/>
          </p:cNvPicPr>
          <p:nvPr/>
        </p:nvPicPr>
        <p:blipFill>
          <a:blip r:embed="rId3"/>
          <a:srcRect l="232" t="1288" r="-232" b="-1288"/>
          <a:stretch>
            <a:fillRect/>
          </a:stretch>
        </p:blipFill>
        <p:spPr>
          <a:xfrm>
            <a:off x="6677913" y="1061044"/>
            <a:ext cx="3402897" cy="4579013"/>
          </a:xfrm>
          <a:prstGeom prst="rect">
            <a:avLst/>
          </a:prstGeom>
        </p:spPr>
      </p:pic>
      <p:pic>
        <p:nvPicPr>
          <p:cNvPr id="9" name="!!blast">
            <a:extLst>
              <a:ext uri="{FF2B5EF4-FFF2-40B4-BE49-F238E27FC236}">
                <a16:creationId xmlns:a16="http://schemas.microsoft.com/office/drawing/2014/main" id="{B5E4959C-67D6-E7AA-DB69-0C7FD65DBA7C}"/>
              </a:ext>
            </a:extLst>
          </p:cNvPr>
          <p:cNvPicPr>
            <a:picLocks noChangeAspect="1"/>
          </p:cNvPicPr>
          <p:nvPr/>
        </p:nvPicPr>
        <p:blipFill>
          <a:blip r:embed="rId4"/>
          <a:stretch>
            <a:fillRect/>
          </a:stretch>
        </p:blipFill>
        <p:spPr>
          <a:xfrm>
            <a:off x="8577936" y="973096"/>
            <a:ext cx="3248164" cy="5518725"/>
          </a:xfrm>
          <a:prstGeom prst="rect">
            <a:avLst/>
          </a:prstGeom>
        </p:spPr>
      </p:pic>
      <p:sp>
        <p:nvSpPr>
          <p:cNvPr id="4" name="Slide Number Placeholder 3">
            <a:extLst>
              <a:ext uri="{FF2B5EF4-FFF2-40B4-BE49-F238E27FC236}">
                <a16:creationId xmlns:a16="http://schemas.microsoft.com/office/drawing/2014/main" id="{C083C69D-EC1A-6E4D-200A-944F1C12B80A}"/>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38</a:t>
            </a:fld>
            <a:endParaRPr lang="en-US">
              <a:solidFill>
                <a:srgbClr val="000000"/>
              </a:solidFill>
              <a:latin typeface="Segoe UI"/>
            </a:endParaRPr>
          </a:p>
        </p:txBody>
      </p:sp>
      <p:sp>
        <p:nvSpPr>
          <p:cNvPr id="7" name="!!10">
            <a:extLst>
              <a:ext uri="{FF2B5EF4-FFF2-40B4-BE49-F238E27FC236}">
                <a16:creationId xmlns:a16="http://schemas.microsoft.com/office/drawing/2014/main" id="{D65D9305-2FE6-A063-B073-32604A563C6F}"/>
              </a:ext>
            </a:extLst>
          </p:cNvPr>
          <p:cNvSpPr/>
          <p:nvPr/>
        </p:nvSpPr>
        <p:spPr bwMode="auto">
          <a:xfrm>
            <a:off x="204579" y="127120"/>
            <a:ext cx="763613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pic>
        <p:nvPicPr>
          <p:cNvPr id="2" name="!!mastertgag">
            <a:extLst>
              <a:ext uri="{FF2B5EF4-FFF2-40B4-BE49-F238E27FC236}">
                <a16:creationId xmlns:a16="http://schemas.microsoft.com/office/drawing/2014/main" id="{B6BE58A2-D9D3-7583-9A78-15406F37B65C}"/>
              </a:ext>
            </a:extLst>
          </p:cNvPr>
          <p:cNvPicPr>
            <a:picLocks noChangeAspect="1"/>
          </p:cNvPicPr>
          <p:nvPr/>
        </p:nvPicPr>
        <p:blipFill>
          <a:blip r:embed="rId5"/>
          <a:stretch>
            <a:fillRect/>
          </a:stretch>
        </p:blipFill>
        <p:spPr>
          <a:xfrm>
            <a:off x="3560171" y="991145"/>
            <a:ext cx="8219124" cy="5360970"/>
          </a:xfrm>
          <a:prstGeom prst="rect">
            <a:avLst/>
          </a:prstGeom>
        </p:spPr>
      </p:pic>
      <p:sp>
        <p:nvSpPr>
          <p:cNvPr id="16" name="rectangle">
            <a:extLst>
              <a:ext uri="{FF2B5EF4-FFF2-40B4-BE49-F238E27FC236}">
                <a16:creationId xmlns:a16="http://schemas.microsoft.com/office/drawing/2014/main" id="{845AE87C-07A8-02A6-9FF1-021E5DE4DC7C}"/>
              </a:ext>
            </a:extLst>
          </p:cNvPr>
          <p:cNvSpPr/>
          <p:nvPr/>
        </p:nvSpPr>
        <p:spPr bwMode="auto">
          <a:xfrm>
            <a:off x="581269" y="1503608"/>
            <a:ext cx="2786398" cy="723773"/>
          </a:xfrm>
          <a:prstGeom prst="roundRect">
            <a:avLst/>
          </a:prstGeom>
          <a:solidFill>
            <a:srgbClr val="EEEEEE"/>
          </a:solidFill>
          <a:ln w="38100">
            <a:solidFill>
              <a:srgbClr val="42A35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Trait Similarity</a:t>
            </a:r>
          </a:p>
        </p:txBody>
      </p:sp>
      <p:sp>
        <p:nvSpPr>
          <p:cNvPr id="17" name="Rounded Rectangle 16">
            <a:extLst>
              <a:ext uri="{FF2B5EF4-FFF2-40B4-BE49-F238E27FC236}">
                <a16:creationId xmlns:a16="http://schemas.microsoft.com/office/drawing/2014/main" id="{8C5BCC78-724B-94A9-3B54-AA1EF84DE94F}"/>
              </a:ext>
            </a:extLst>
          </p:cNvPr>
          <p:cNvSpPr/>
          <p:nvPr/>
        </p:nvSpPr>
        <p:spPr bwMode="auto">
          <a:xfrm>
            <a:off x="581268" y="2614792"/>
            <a:ext cx="2786399" cy="723775"/>
          </a:xfrm>
          <a:prstGeom prst="roundRect">
            <a:avLst/>
          </a:prstGeom>
          <a:solidFill>
            <a:srgbClr val="EEEEEE"/>
          </a:solidFill>
          <a:ln w="38100">
            <a:solidFill>
              <a:srgbClr val="A579F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QTL</a:t>
            </a:r>
          </a:p>
        </p:txBody>
      </p:sp>
      <p:sp>
        <p:nvSpPr>
          <p:cNvPr id="18" name="Rounded Rectangle 17">
            <a:extLst>
              <a:ext uri="{FF2B5EF4-FFF2-40B4-BE49-F238E27FC236}">
                <a16:creationId xmlns:a16="http://schemas.microsoft.com/office/drawing/2014/main" id="{4C49974B-F7E7-68E3-EB77-3931E27E4FE1}"/>
              </a:ext>
            </a:extLst>
          </p:cNvPr>
          <p:cNvSpPr/>
          <p:nvPr/>
        </p:nvSpPr>
        <p:spPr bwMode="auto">
          <a:xfrm>
            <a:off x="581268" y="3725978"/>
            <a:ext cx="2786400" cy="723775"/>
          </a:xfrm>
          <a:prstGeom prst="roundRect">
            <a:avLst/>
          </a:prstGeom>
          <a:solidFill>
            <a:srgbClr val="EEEEEE"/>
          </a:solidFill>
          <a:ln w="38100">
            <a:solidFill>
              <a:srgbClr val="80008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Homology</a:t>
            </a:r>
          </a:p>
        </p:txBody>
      </p:sp>
      <p:sp>
        <p:nvSpPr>
          <p:cNvPr id="19" name="Rounded Rectangle 18">
            <a:extLst>
              <a:ext uri="{FF2B5EF4-FFF2-40B4-BE49-F238E27FC236}">
                <a16:creationId xmlns:a16="http://schemas.microsoft.com/office/drawing/2014/main" id="{A9F8493A-7188-B0A8-AA61-7FF462670F61}"/>
              </a:ext>
            </a:extLst>
          </p:cNvPr>
          <p:cNvSpPr/>
          <p:nvPr/>
        </p:nvSpPr>
        <p:spPr bwMode="auto">
          <a:xfrm>
            <a:off x="581267" y="4837164"/>
            <a:ext cx="2786397" cy="723775"/>
          </a:xfrm>
          <a:prstGeom prst="roundRect">
            <a:avLst/>
          </a:prstGeom>
          <a:solidFill>
            <a:srgbClr val="EEEEEE"/>
          </a:solidFill>
          <a:ln w="38100">
            <a:solidFill>
              <a:srgbClr val="DBA52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Co-expression</a:t>
            </a:r>
          </a:p>
        </p:txBody>
      </p:sp>
    </p:spTree>
    <p:extLst>
      <p:ext uri="{BB962C8B-B14F-4D97-AF65-F5344CB8AC3E}">
        <p14:creationId xmlns:p14="http://schemas.microsoft.com/office/powerpoint/2010/main" val="35533513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5AC0C-5A94-4286-91A9-D43BC4674DED}"/>
            </a:ext>
          </a:extLst>
        </p:cNvPr>
        <p:cNvGrpSpPr/>
        <p:nvPr/>
      </p:nvGrpSpPr>
      <p:grpSpPr>
        <a:xfrm>
          <a:off x="0" y="0"/>
          <a:ext cx="0" cy="0"/>
          <a:chOff x="0" y="0"/>
          <a:chExt cx="0" cy="0"/>
        </a:xfrm>
      </p:grpSpPr>
      <p:pic>
        <p:nvPicPr>
          <p:cNvPr id="14" name="!!coexp">
            <a:extLst>
              <a:ext uri="{FF2B5EF4-FFF2-40B4-BE49-F238E27FC236}">
                <a16:creationId xmlns:a16="http://schemas.microsoft.com/office/drawing/2014/main" id="{96104200-448D-6DE3-B58F-AA68AEF77D92}"/>
              </a:ext>
            </a:extLst>
          </p:cNvPr>
          <p:cNvPicPr>
            <a:picLocks noChangeAspect="1"/>
          </p:cNvPicPr>
          <p:nvPr/>
        </p:nvPicPr>
        <p:blipFill>
          <a:blip r:embed="rId3"/>
          <a:stretch>
            <a:fillRect/>
          </a:stretch>
        </p:blipFill>
        <p:spPr>
          <a:xfrm>
            <a:off x="8368201" y="1503608"/>
            <a:ext cx="3402897" cy="4579013"/>
          </a:xfrm>
          <a:prstGeom prst="rect">
            <a:avLst/>
          </a:prstGeom>
        </p:spPr>
      </p:pic>
      <p:sp>
        <p:nvSpPr>
          <p:cNvPr id="4" name="Slide Number Placeholder 3">
            <a:extLst>
              <a:ext uri="{FF2B5EF4-FFF2-40B4-BE49-F238E27FC236}">
                <a16:creationId xmlns:a16="http://schemas.microsoft.com/office/drawing/2014/main" id="{392FAFDC-F4F6-8FF2-B828-A3AD9E954D2F}"/>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39</a:t>
            </a:fld>
            <a:endParaRPr lang="en-US">
              <a:solidFill>
                <a:srgbClr val="000000"/>
              </a:solidFill>
              <a:latin typeface="Segoe UI"/>
            </a:endParaRPr>
          </a:p>
        </p:txBody>
      </p:sp>
      <p:sp>
        <p:nvSpPr>
          <p:cNvPr id="7" name="!!10">
            <a:extLst>
              <a:ext uri="{FF2B5EF4-FFF2-40B4-BE49-F238E27FC236}">
                <a16:creationId xmlns:a16="http://schemas.microsoft.com/office/drawing/2014/main" id="{0454CB9C-6733-61F6-0660-D2A287D2F77E}"/>
              </a:ext>
            </a:extLst>
          </p:cNvPr>
          <p:cNvSpPr/>
          <p:nvPr/>
        </p:nvSpPr>
        <p:spPr bwMode="auto">
          <a:xfrm>
            <a:off x="204579" y="127120"/>
            <a:ext cx="763613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8" name="rectangle">
            <a:extLst>
              <a:ext uri="{FF2B5EF4-FFF2-40B4-BE49-F238E27FC236}">
                <a16:creationId xmlns:a16="http://schemas.microsoft.com/office/drawing/2014/main" id="{DB2BC7DB-A9E8-F15E-671D-BF946B489A2F}"/>
              </a:ext>
            </a:extLst>
          </p:cNvPr>
          <p:cNvSpPr/>
          <p:nvPr/>
        </p:nvSpPr>
        <p:spPr bwMode="auto">
          <a:xfrm>
            <a:off x="581269" y="1503608"/>
            <a:ext cx="2786398" cy="723773"/>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Trait Similarity</a:t>
            </a:r>
          </a:p>
        </p:txBody>
      </p:sp>
      <p:sp>
        <p:nvSpPr>
          <p:cNvPr id="9" name="Rounded Rectangle 8">
            <a:extLst>
              <a:ext uri="{FF2B5EF4-FFF2-40B4-BE49-F238E27FC236}">
                <a16:creationId xmlns:a16="http://schemas.microsoft.com/office/drawing/2014/main" id="{3663B2F3-8699-5303-7B2B-F8F5E497563B}"/>
              </a:ext>
            </a:extLst>
          </p:cNvPr>
          <p:cNvSpPr/>
          <p:nvPr/>
        </p:nvSpPr>
        <p:spPr bwMode="auto">
          <a:xfrm>
            <a:off x="581268" y="2614792"/>
            <a:ext cx="2786399" cy="723775"/>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QTL</a:t>
            </a:r>
          </a:p>
        </p:txBody>
      </p:sp>
      <p:sp>
        <p:nvSpPr>
          <p:cNvPr id="10" name="Rounded Rectangle 9">
            <a:extLst>
              <a:ext uri="{FF2B5EF4-FFF2-40B4-BE49-F238E27FC236}">
                <a16:creationId xmlns:a16="http://schemas.microsoft.com/office/drawing/2014/main" id="{BC7329EB-AEB2-E3F2-AAC6-137DC49BBBE8}"/>
              </a:ext>
            </a:extLst>
          </p:cNvPr>
          <p:cNvSpPr/>
          <p:nvPr/>
        </p:nvSpPr>
        <p:spPr bwMode="auto">
          <a:xfrm>
            <a:off x="581268" y="3725978"/>
            <a:ext cx="2786400" cy="723775"/>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Homology</a:t>
            </a:r>
          </a:p>
        </p:txBody>
      </p:sp>
      <p:sp>
        <p:nvSpPr>
          <p:cNvPr id="12" name="Rounded Rectangle 11">
            <a:extLst>
              <a:ext uri="{FF2B5EF4-FFF2-40B4-BE49-F238E27FC236}">
                <a16:creationId xmlns:a16="http://schemas.microsoft.com/office/drawing/2014/main" id="{2A00CB67-E553-3595-405E-DCA3C73620DF}"/>
              </a:ext>
            </a:extLst>
          </p:cNvPr>
          <p:cNvSpPr/>
          <p:nvPr/>
        </p:nvSpPr>
        <p:spPr bwMode="auto">
          <a:xfrm>
            <a:off x="3904920" y="1503608"/>
            <a:ext cx="4104126" cy="1347592"/>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Gene </a:t>
            </a:r>
            <a:r>
              <a:rPr lang="en-US" sz="2800">
                <a:solidFill>
                  <a:schemeClr val="tx1"/>
                </a:solidFill>
                <a:latin typeface="Arial" panose="020B0604020202020204" pitchFamily="34" charset="0"/>
                <a:cs typeface="Arial" panose="020B0604020202020204" pitchFamily="34" charset="0"/>
              </a:rPr>
              <a:t>pairs </a:t>
            </a:r>
            <a:r>
              <a:rPr lang="en-US" sz="2800" dirty="0">
                <a:solidFill>
                  <a:schemeClr val="tx1"/>
                </a:solidFill>
                <a:latin typeface="Arial" panose="020B0604020202020204" pitchFamily="34" charset="0"/>
                <a:cs typeface="Arial" panose="020B0604020202020204" pitchFamily="34" charset="0"/>
              </a:rPr>
              <a:t>sourced from Co-expression database</a:t>
            </a:r>
          </a:p>
        </p:txBody>
      </p:sp>
      <p:sp>
        <p:nvSpPr>
          <p:cNvPr id="18" name="Rounded Rectangle 17">
            <a:extLst>
              <a:ext uri="{FF2B5EF4-FFF2-40B4-BE49-F238E27FC236}">
                <a16:creationId xmlns:a16="http://schemas.microsoft.com/office/drawing/2014/main" id="{BB72DCE1-0374-4E3B-6C19-A04E4DCF8072}"/>
              </a:ext>
            </a:extLst>
          </p:cNvPr>
          <p:cNvSpPr/>
          <p:nvPr/>
        </p:nvSpPr>
        <p:spPr bwMode="auto">
          <a:xfrm>
            <a:off x="581267" y="4837164"/>
            <a:ext cx="2786397" cy="723775"/>
          </a:xfrm>
          <a:prstGeom prst="roundRect">
            <a:avLst/>
          </a:prstGeom>
          <a:solidFill>
            <a:srgbClr val="EEEEEE"/>
          </a:solidFill>
          <a:ln w="38100">
            <a:solidFill>
              <a:srgbClr val="DBA52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a:solidFill>
                  <a:schemeClr val="tx1"/>
                </a:solidFill>
                <a:latin typeface="Arial" panose="020B0604020202020204" pitchFamily="34" charset="0"/>
                <a:cs typeface="Arial" panose="020B0604020202020204" pitchFamily="34" charset="0"/>
              </a:rPr>
              <a:t>Co-expression</a:t>
            </a:r>
          </a:p>
        </p:txBody>
      </p:sp>
      <p:sp>
        <p:nvSpPr>
          <p:cNvPr id="2" name="Rounded Rectangle 1">
            <a:extLst>
              <a:ext uri="{FF2B5EF4-FFF2-40B4-BE49-F238E27FC236}">
                <a16:creationId xmlns:a16="http://schemas.microsoft.com/office/drawing/2014/main" id="{47542AF4-31B5-D867-D103-7DDB2A151E4F}"/>
              </a:ext>
            </a:extLst>
          </p:cNvPr>
          <p:cNvSpPr/>
          <p:nvPr/>
        </p:nvSpPr>
        <p:spPr bwMode="auto">
          <a:xfrm>
            <a:off x="3904920" y="3342145"/>
            <a:ext cx="4104126" cy="1347592"/>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Threshold </a:t>
            </a:r>
            <a:r>
              <a:rPr lang="en-US" sz="2800" dirty="0">
                <a:solidFill>
                  <a:schemeClr val="tx1"/>
                </a:solidFill>
                <a:latin typeface="Arial" panose="020B0604020202020204" pitchFamily="34" charset="0"/>
                <a:cs typeface="Arial" panose="020B0604020202020204" pitchFamily="34" charset="0"/>
              </a:rPr>
              <a:t>on co-expression score </a:t>
            </a:r>
            <a:r>
              <a:rPr lang="en-US" sz="2800">
                <a:solidFill>
                  <a:schemeClr val="tx1"/>
                </a:solidFill>
                <a:latin typeface="Arial" panose="020B0604020202020204" pitchFamily="34" charset="0"/>
                <a:cs typeface="Arial" panose="020B0604020202020204" pitchFamily="34" charset="0"/>
              </a:rPr>
              <a:t>set to 0.6 </a:t>
            </a:r>
          </a:p>
        </p:txBody>
      </p:sp>
      <p:pic>
        <p:nvPicPr>
          <p:cNvPr id="5" name="Picture 4">
            <a:extLst>
              <a:ext uri="{FF2B5EF4-FFF2-40B4-BE49-F238E27FC236}">
                <a16:creationId xmlns:a16="http://schemas.microsoft.com/office/drawing/2014/main" id="{49E66047-A653-552A-8F62-260E7162E538}"/>
              </a:ext>
            </a:extLst>
          </p:cNvPr>
          <p:cNvPicPr>
            <a:picLocks noChangeAspect="1"/>
          </p:cNvPicPr>
          <p:nvPr/>
        </p:nvPicPr>
        <p:blipFill>
          <a:blip r:embed="rId4"/>
          <a:stretch>
            <a:fillRect/>
          </a:stretch>
        </p:blipFill>
        <p:spPr>
          <a:xfrm>
            <a:off x="8128764" y="1414735"/>
            <a:ext cx="3881770" cy="4756758"/>
          </a:xfrm>
          <a:prstGeom prst="rect">
            <a:avLst/>
          </a:prstGeom>
        </p:spPr>
      </p:pic>
    </p:spTree>
    <p:extLst>
      <p:ext uri="{BB962C8B-B14F-4D97-AF65-F5344CB8AC3E}">
        <p14:creationId xmlns:p14="http://schemas.microsoft.com/office/powerpoint/2010/main" val="37387496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26729-B02D-9CF9-3682-0B939F5EB1E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9C4A6E-E6A6-E327-FF32-F5AC8558D040}"/>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40</a:t>
            </a:fld>
            <a:endParaRPr lang="en-US">
              <a:solidFill>
                <a:srgbClr val="000000"/>
              </a:solidFill>
              <a:latin typeface="Segoe UI"/>
            </a:endParaRPr>
          </a:p>
        </p:txBody>
      </p:sp>
      <p:sp>
        <p:nvSpPr>
          <p:cNvPr id="7" name="!!10">
            <a:extLst>
              <a:ext uri="{FF2B5EF4-FFF2-40B4-BE49-F238E27FC236}">
                <a16:creationId xmlns:a16="http://schemas.microsoft.com/office/drawing/2014/main" id="{A14C3F12-559D-834C-37E2-737FBF96DAEB}"/>
              </a:ext>
            </a:extLst>
          </p:cNvPr>
          <p:cNvSpPr/>
          <p:nvPr/>
        </p:nvSpPr>
        <p:spPr bwMode="auto">
          <a:xfrm>
            <a:off x="204579" y="127120"/>
            <a:ext cx="763613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8" name="rectangle">
            <a:extLst>
              <a:ext uri="{FF2B5EF4-FFF2-40B4-BE49-F238E27FC236}">
                <a16:creationId xmlns:a16="http://schemas.microsoft.com/office/drawing/2014/main" id="{B0B9A18B-78E8-9DA8-FCF6-886A8DC98F16}"/>
              </a:ext>
            </a:extLst>
          </p:cNvPr>
          <p:cNvSpPr/>
          <p:nvPr/>
        </p:nvSpPr>
        <p:spPr bwMode="auto">
          <a:xfrm>
            <a:off x="581269" y="1503608"/>
            <a:ext cx="2786398" cy="723773"/>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Trait Similarity</a:t>
            </a:r>
          </a:p>
        </p:txBody>
      </p:sp>
      <p:sp>
        <p:nvSpPr>
          <p:cNvPr id="9" name="Rounded Rectangle 8">
            <a:extLst>
              <a:ext uri="{FF2B5EF4-FFF2-40B4-BE49-F238E27FC236}">
                <a16:creationId xmlns:a16="http://schemas.microsoft.com/office/drawing/2014/main" id="{BBB4FF58-649F-D3EE-4440-CD803CF6B81F}"/>
              </a:ext>
            </a:extLst>
          </p:cNvPr>
          <p:cNvSpPr/>
          <p:nvPr/>
        </p:nvSpPr>
        <p:spPr bwMode="auto">
          <a:xfrm>
            <a:off x="581268" y="2614792"/>
            <a:ext cx="2786399" cy="723775"/>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QTL</a:t>
            </a:r>
          </a:p>
        </p:txBody>
      </p:sp>
      <p:sp>
        <p:nvSpPr>
          <p:cNvPr id="10" name="Rounded Rectangle 9">
            <a:extLst>
              <a:ext uri="{FF2B5EF4-FFF2-40B4-BE49-F238E27FC236}">
                <a16:creationId xmlns:a16="http://schemas.microsoft.com/office/drawing/2014/main" id="{0B6CD1CE-7DD2-C009-3624-AE5CAB9F7BD5}"/>
              </a:ext>
            </a:extLst>
          </p:cNvPr>
          <p:cNvSpPr/>
          <p:nvPr/>
        </p:nvSpPr>
        <p:spPr bwMode="auto">
          <a:xfrm>
            <a:off x="581268" y="3725978"/>
            <a:ext cx="2786400" cy="723775"/>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2800">
                <a:solidFill>
                  <a:srgbClr val="1B4C9C">
                    <a:alpha val="16000"/>
                  </a:srgbClr>
                </a:solidFill>
                <a:latin typeface="Arial" panose="020B0604020202020204" pitchFamily="34" charset="0"/>
                <a:cs typeface="Arial" panose="020B0604020202020204" pitchFamily="34" charset="0"/>
              </a:rPr>
              <a:t>Homology</a:t>
            </a:r>
          </a:p>
        </p:txBody>
      </p:sp>
      <p:sp>
        <p:nvSpPr>
          <p:cNvPr id="2" name="Rounded Rectangle 1">
            <a:extLst>
              <a:ext uri="{FF2B5EF4-FFF2-40B4-BE49-F238E27FC236}">
                <a16:creationId xmlns:a16="http://schemas.microsoft.com/office/drawing/2014/main" id="{48E0DBC2-A151-6271-7522-B4798FA5AC0B}"/>
              </a:ext>
            </a:extLst>
          </p:cNvPr>
          <p:cNvSpPr/>
          <p:nvPr/>
        </p:nvSpPr>
        <p:spPr bwMode="auto">
          <a:xfrm>
            <a:off x="581267" y="4837164"/>
            <a:ext cx="2786397" cy="723775"/>
          </a:xfrm>
          <a:prstGeom prst="roundRect">
            <a:avLst/>
          </a:prstGeom>
          <a:solidFill>
            <a:srgbClr val="EEEEEE"/>
          </a:solidFill>
          <a:ln w="38100">
            <a:solidFill>
              <a:srgbClr val="DBA52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a:solidFill>
                  <a:schemeClr val="tx1"/>
                </a:solidFill>
                <a:latin typeface="Arial" panose="020B0604020202020204" pitchFamily="34" charset="0"/>
                <a:cs typeface="Arial" panose="020B0604020202020204" pitchFamily="34" charset="0"/>
              </a:rPr>
              <a:t>Co-expression</a:t>
            </a:r>
          </a:p>
        </p:txBody>
      </p:sp>
      <p:pic>
        <p:nvPicPr>
          <p:cNvPr id="5" name="Picture 4">
            <a:extLst>
              <a:ext uri="{FF2B5EF4-FFF2-40B4-BE49-F238E27FC236}">
                <a16:creationId xmlns:a16="http://schemas.microsoft.com/office/drawing/2014/main" id="{3141DD24-297B-758C-22B3-498D53DCACE6}"/>
              </a:ext>
            </a:extLst>
          </p:cNvPr>
          <p:cNvPicPr>
            <a:picLocks noChangeAspect="1"/>
          </p:cNvPicPr>
          <p:nvPr/>
        </p:nvPicPr>
        <p:blipFill>
          <a:blip r:embed="rId3"/>
          <a:stretch>
            <a:fillRect/>
          </a:stretch>
        </p:blipFill>
        <p:spPr>
          <a:xfrm>
            <a:off x="3984008" y="2653292"/>
            <a:ext cx="7713416" cy="2413135"/>
          </a:xfrm>
          <a:prstGeom prst="rect">
            <a:avLst/>
          </a:prstGeom>
        </p:spPr>
      </p:pic>
      <p:sp>
        <p:nvSpPr>
          <p:cNvPr id="6" name="Rounded Rectangle 5">
            <a:extLst>
              <a:ext uri="{FF2B5EF4-FFF2-40B4-BE49-F238E27FC236}">
                <a16:creationId xmlns:a16="http://schemas.microsoft.com/office/drawing/2014/main" id="{B4E05580-FF51-8250-36CB-EA1711758C48}"/>
              </a:ext>
            </a:extLst>
          </p:cNvPr>
          <p:cNvSpPr/>
          <p:nvPr/>
        </p:nvSpPr>
        <p:spPr bwMode="auto">
          <a:xfrm>
            <a:off x="4022647" y="1503608"/>
            <a:ext cx="7713416" cy="898554"/>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Co-expression edges are sourced from Co-expression Database</a:t>
            </a:r>
          </a:p>
        </p:txBody>
      </p:sp>
    </p:spTree>
    <p:extLst>
      <p:ext uri="{BB962C8B-B14F-4D97-AF65-F5344CB8AC3E}">
        <p14:creationId xmlns:p14="http://schemas.microsoft.com/office/powerpoint/2010/main" val="1953467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B3E13-0B22-A07E-F398-F23B06F925C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0E6D612-B59A-9919-6E8D-F8A40B0F23F4}"/>
              </a:ext>
            </a:extLst>
          </p:cNvPr>
          <p:cNvPicPr>
            <a:picLocks noChangeAspect="1"/>
          </p:cNvPicPr>
          <p:nvPr/>
        </p:nvPicPr>
        <p:blipFill>
          <a:blip r:embed="rId3"/>
          <a:stretch>
            <a:fillRect/>
          </a:stretch>
        </p:blipFill>
        <p:spPr>
          <a:xfrm>
            <a:off x="3551027" y="1010344"/>
            <a:ext cx="8317885" cy="4676849"/>
          </a:xfrm>
          <a:prstGeom prst="rect">
            <a:avLst/>
          </a:prstGeom>
        </p:spPr>
      </p:pic>
      <p:sp>
        <p:nvSpPr>
          <p:cNvPr id="4" name="Slide Number Placeholder 3">
            <a:extLst>
              <a:ext uri="{FF2B5EF4-FFF2-40B4-BE49-F238E27FC236}">
                <a16:creationId xmlns:a16="http://schemas.microsoft.com/office/drawing/2014/main" id="{25BDA9A8-3A6C-4DF6-43B0-49E734447813}"/>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41</a:t>
            </a:fld>
            <a:endParaRPr lang="en-US">
              <a:solidFill>
                <a:srgbClr val="000000"/>
              </a:solidFill>
              <a:latin typeface="Segoe UI"/>
            </a:endParaRPr>
          </a:p>
        </p:txBody>
      </p:sp>
      <p:sp>
        <p:nvSpPr>
          <p:cNvPr id="7" name="!!10">
            <a:extLst>
              <a:ext uri="{FF2B5EF4-FFF2-40B4-BE49-F238E27FC236}">
                <a16:creationId xmlns:a16="http://schemas.microsoft.com/office/drawing/2014/main" id="{964BCB0A-6BFF-48A2-6916-7B5EDA9894F6}"/>
              </a:ext>
            </a:extLst>
          </p:cNvPr>
          <p:cNvSpPr/>
          <p:nvPr/>
        </p:nvSpPr>
        <p:spPr bwMode="auto">
          <a:xfrm>
            <a:off x="204579" y="127120"/>
            <a:ext cx="7636137"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algn="ct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Trait-Gene Association Graph</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10" name="rectangle">
            <a:extLst>
              <a:ext uri="{FF2B5EF4-FFF2-40B4-BE49-F238E27FC236}">
                <a16:creationId xmlns:a16="http://schemas.microsoft.com/office/drawing/2014/main" id="{B25AFDF2-FF8E-24BE-2045-2D97287C0A67}"/>
              </a:ext>
            </a:extLst>
          </p:cNvPr>
          <p:cNvSpPr/>
          <p:nvPr/>
        </p:nvSpPr>
        <p:spPr bwMode="auto">
          <a:xfrm>
            <a:off x="581269" y="1503608"/>
            <a:ext cx="2786398" cy="723773"/>
          </a:xfrm>
          <a:prstGeom prst="roundRect">
            <a:avLst/>
          </a:prstGeom>
          <a:solidFill>
            <a:srgbClr val="EEEEEE"/>
          </a:solidFill>
          <a:ln w="38100">
            <a:solidFill>
              <a:srgbClr val="42A35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Trait Similarity</a:t>
            </a:r>
          </a:p>
        </p:txBody>
      </p:sp>
      <p:sp>
        <p:nvSpPr>
          <p:cNvPr id="11" name="Rounded Rectangle 10">
            <a:extLst>
              <a:ext uri="{FF2B5EF4-FFF2-40B4-BE49-F238E27FC236}">
                <a16:creationId xmlns:a16="http://schemas.microsoft.com/office/drawing/2014/main" id="{C3DC1BE4-CB17-AB6B-3E32-C8D7828F1B39}"/>
              </a:ext>
            </a:extLst>
          </p:cNvPr>
          <p:cNvSpPr/>
          <p:nvPr/>
        </p:nvSpPr>
        <p:spPr bwMode="auto">
          <a:xfrm>
            <a:off x="581268" y="2614792"/>
            <a:ext cx="2786399" cy="723775"/>
          </a:xfrm>
          <a:prstGeom prst="roundRect">
            <a:avLst/>
          </a:prstGeom>
          <a:solidFill>
            <a:srgbClr val="EEEEEE"/>
          </a:solidFill>
          <a:ln w="38100">
            <a:solidFill>
              <a:srgbClr val="A579F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QTL</a:t>
            </a:r>
          </a:p>
        </p:txBody>
      </p:sp>
      <p:sp>
        <p:nvSpPr>
          <p:cNvPr id="12" name="Rounded Rectangle 11">
            <a:extLst>
              <a:ext uri="{FF2B5EF4-FFF2-40B4-BE49-F238E27FC236}">
                <a16:creationId xmlns:a16="http://schemas.microsoft.com/office/drawing/2014/main" id="{5609470F-CDF3-BBC7-F19A-205957608FE5}"/>
              </a:ext>
            </a:extLst>
          </p:cNvPr>
          <p:cNvSpPr/>
          <p:nvPr/>
        </p:nvSpPr>
        <p:spPr bwMode="auto">
          <a:xfrm>
            <a:off x="581268" y="3725978"/>
            <a:ext cx="2786400" cy="723775"/>
          </a:xfrm>
          <a:prstGeom prst="roundRect">
            <a:avLst/>
          </a:prstGeom>
          <a:solidFill>
            <a:srgbClr val="EEEEEE"/>
          </a:solidFill>
          <a:ln w="38100">
            <a:solidFill>
              <a:srgbClr val="80008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Homology</a:t>
            </a:r>
          </a:p>
        </p:txBody>
      </p:sp>
      <p:sp>
        <p:nvSpPr>
          <p:cNvPr id="13" name="Rounded Rectangle 12">
            <a:extLst>
              <a:ext uri="{FF2B5EF4-FFF2-40B4-BE49-F238E27FC236}">
                <a16:creationId xmlns:a16="http://schemas.microsoft.com/office/drawing/2014/main" id="{A537FAE9-5ED4-1907-48A1-8C035EA40A86}"/>
              </a:ext>
            </a:extLst>
          </p:cNvPr>
          <p:cNvSpPr/>
          <p:nvPr/>
        </p:nvSpPr>
        <p:spPr bwMode="auto">
          <a:xfrm>
            <a:off x="581267" y="4837164"/>
            <a:ext cx="2786397" cy="723775"/>
          </a:xfrm>
          <a:prstGeom prst="roundRect">
            <a:avLst/>
          </a:prstGeom>
          <a:solidFill>
            <a:srgbClr val="EEEEEE"/>
          </a:solidFill>
          <a:ln w="38100">
            <a:solidFill>
              <a:srgbClr val="DBA52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Co-expression</a:t>
            </a:r>
          </a:p>
        </p:txBody>
      </p:sp>
      <p:pic>
        <p:nvPicPr>
          <p:cNvPr id="2" name="!!mastertgag">
            <a:extLst>
              <a:ext uri="{FF2B5EF4-FFF2-40B4-BE49-F238E27FC236}">
                <a16:creationId xmlns:a16="http://schemas.microsoft.com/office/drawing/2014/main" id="{5B9035C8-EF79-AE46-37F3-14C50DB55EB4}"/>
              </a:ext>
            </a:extLst>
          </p:cNvPr>
          <p:cNvPicPr>
            <a:picLocks noChangeAspect="1"/>
          </p:cNvPicPr>
          <p:nvPr/>
        </p:nvPicPr>
        <p:blipFill>
          <a:blip r:embed="rId4"/>
          <a:stretch>
            <a:fillRect/>
          </a:stretch>
        </p:blipFill>
        <p:spPr>
          <a:xfrm>
            <a:off x="3560167" y="1045493"/>
            <a:ext cx="8219124" cy="5360970"/>
          </a:xfrm>
          <a:prstGeom prst="rect">
            <a:avLst/>
          </a:prstGeom>
        </p:spPr>
      </p:pic>
    </p:spTree>
    <p:extLst>
      <p:ext uri="{BB962C8B-B14F-4D97-AF65-F5344CB8AC3E}">
        <p14:creationId xmlns:p14="http://schemas.microsoft.com/office/powerpoint/2010/main" val="1891681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5B154-198B-1471-923A-475E8899C61E}"/>
            </a:ext>
          </a:extLst>
        </p:cNvPr>
        <p:cNvGrpSpPr/>
        <p:nvPr/>
      </p:nvGrpSpPr>
      <p:grpSpPr>
        <a:xfrm>
          <a:off x="0" y="0"/>
          <a:ext cx="0" cy="0"/>
          <a:chOff x="0" y="0"/>
          <a:chExt cx="0" cy="0"/>
        </a:xfrm>
      </p:grpSpPr>
      <p:sp>
        <p:nvSpPr>
          <p:cNvPr id="13" name="Title 2">
            <a:extLst>
              <a:ext uri="{FF2B5EF4-FFF2-40B4-BE49-F238E27FC236}">
                <a16:creationId xmlns:a16="http://schemas.microsoft.com/office/drawing/2014/main" id="{302D3714-769C-0DBE-3E02-091DB53E2826}"/>
              </a:ext>
            </a:extLst>
          </p:cNvPr>
          <p:cNvSpPr>
            <a:spLocks noGrp="1"/>
          </p:cNvSpPr>
          <p:nvPr>
            <p:ph type="title"/>
          </p:nvPr>
        </p:nvSpPr>
        <p:spPr>
          <a:xfrm>
            <a:off x="217117" y="69643"/>
            <a:ext cx="10571968" cy="963668"/>
          </a:xfrm>
        </p:spPr>
        <p:txBody>
          <a:bodyPr vert="horz" wrap="square" lIns="121920" tIns="60960" rIns="121920" bIns="60960" rtlCol="0" anchor="ctr" anchorCtr="0">
            <a:normAutofit/>
          </a:bodyPr>
          <a:lstStyle/>
          <a:p>
            <a:r>
              <a:rPr lang="en-US" altLang="zh-CN" sz="4000"/>
              <a:t>Outline</a:t>
            </a:r>
            <a:endParaRPr lang="en-US" sz="4000">
              <a:latin typeface="Open Sans" panose="020B0606030504020204" pitchFamily="34" charset="0"/>
            </a:endParaRPr>
          </a:p>
        </p:txBody>
      </p:sp>
      <p:sp>
        <p:nvSpPr>
          <p:cNvPr id="4" name="Slide Number Placeholder 3">
            <a:extLst>
              <a:ext uri="{FF2B5EF4-FFF2-40B4-BE49-F238E27FC236}">
                <a16:creationId xmlns:a16="http://schemas.microsoft.com/office/drawing/2014/main" id="{35DB0F0E-9664-FFB3-F23D-B9EE374F84DD}"/>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42</a:t>
            </a:fld>
            <a:endParaRPr lang="en-US">
              <a:solidFill>
                <a:srgbClr val="000000"/>
              </a:solidFill>
              <a:latin typeface="Segoe UI"/>
            </a:endParaRPr>
          </a:p>
        </p:txBody>
      </p:sp>
      <p:sp>
        <p:nvSpPr>
          <p:cNvPr id="8" name="!!1">
            <a:extLst>
              <a:ext uri="{FF2B5EF4-FFF2-40B4-BE49-F238E27FC236}">
                <a16:creationId xmlns:a16="http://schemas.microsoft.com/office/drawing/2014/main" id="{A74122CE-E4C9-912B-840C-F55BC5CE49BC}"/>
              </a:ext>
            </a:extLst>
          </p:cNvPr>
          <p:cNvSpPr/>
          <p:nvPr/>
        </p:nvSpPr>
        <p:spPr bwMode="auto">
          <a:xfrm>
            <a:off x="342205" y="1381773"/>
            <a:ext cx="5394344"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1. Self-Introduction</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0" name="!!3">
            <a:extLst>
              <a:ext uri="{FF2B5EF4-FFF2-40B4-BE49-F238E27FC236}">
                <a16:creationId xmlns:a16="http://schemas.microsoft.com/office/drawing/2014/main" id="{D612AF6F-E0CC-7931-9C73-092F7BCD444F}"/>
              </a:ext>
            </a:extLst>
          </p:cNvPr>
          <p:cNvSpPr/>
          <p:nvPr/>
        </p:nvSpPr>
        <p:spPr bwMode="auto">
          <a:xfrm>
            <a:off x="342205" y="3772184"/>
            <a:ext cx="5394356"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dirty="0">
                <a:solidFill>
                  <a:srgbClr val="1B4C9C">
                    <a:alpha val="16000"/>
                  </a:srgbClr>
                </a:solidFill>
                <a:latin typeface="Arial" panose="020B0604020202020204" pitchFamily="34" charset="0"/>
                <a:cs typeface="Arial" panose="020B0604020202020204" pitchFamily="34" charset="0"/>
              </a:rPr>
              <a:t>3. Biological Evidence Data</a:t>
            </a:r>
            <a:endParaRPr lang="en-US" sz="2800" dirty="0">
              <a:solidFill>
                <a:srgbClr val="1B4C9C">
                  <a:alpha val="16000"/>
                </a:srgbClr>
              </a:solidFill>
              <a:latin typeface="Arial" panose="020B0604020202020204" pitchFamily="34" charset="0"/>
              <a:cs typeface="Arial" panose="020B0604020202020204" pitchFamily="34" charset="0"/>
            </a:endParaRPr>
          </a:p>
        </p:txBody>
      </p:sp>
      <p:sp>
        <p:nvSpPr>
          <p:cNvPr id="11" name="!!10">
            <a:extLst>
              <a:ext uri="{FF2B5EF4-FFF2-40B4-BE49-F238E27FC236}">
                <a16:creationId xmlns:a16="http://schemas.microsoft.com/office/drawing/2014/main" id="{B012E167-38D3-F560-9384-449FC245A67E}"/>
              </a:ext>
            </a:extLst>
          </p:cNvPr>
          <p:cNvSpPr/>
          <p:nvPr/>
        </p:nvSpPr>
        <p:spPr bwMode="auto">
          <a:xfrm>
            <a:off x="342213" y="4925510"/>
            <a:ext cx="539435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4. Trait-Gene Association Graph</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4" name="!!6">
            <a:extLst>
              <a:ext uri="{FF2B5EF4-FFF2-40B4-BE49-F238E27FC236}">
                <a16:creationId xmlns:a16="http://schemas.microsoft.com/office/drawing/2014/main" id="{83AB3B0C-58F4-C057-467B-08CE79D8FDF8}"/>
              </a:ext>
            </a:extLst>
          </p:cNvPr>
          <p:cNvSpPr/>
          <p:nvPr/>
        </p:nvSpPr>
        <p:spPr bwMode="auto">
          <a:xfrm>
            <a:off x="6461788" y="1378868"/>
            <a:ext cx="5387997" cy="849648"/>
          </a:xfrm>
          <a:prstGeom prst="roundRect">
            <a:avLst>
              <a:gd name="adj" fmla="val 20246"/>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b="1">
                <a:solidFill>
                  <a:srgbClr val="1B4C9C"/>
                </a:solidFill>
                <a:latin typeface="Arial" panose="020B0604020202020204" pitchFamily="34" charset="0"/>
                <a:cs typeface="Arial" panose="020B0604020202020204" pitchFamily="34" charset="0"/>
              </a:rPr>
              <a:t>5. Gene Ranking Models</a:t>
            </a:r>
            <a:endParaRPr lang="en-US" sz="2800" b="1">
              <a:solidFill>
                <a:srgbClr val="1B4C9C"/>
              </a:solidFill>
              <a:latin typeface="Arial" panose="020B0604020202020204" pitchFamily="34" charset="0"/>
              <a:cs typeface="Arial" panose="020B0604020202020204" pitchFamily="34" charset="0"/>
            </a:endParaRPr>
          </a:p>
        </p:txBody>
      </p:sp>
      <p:sp>
        <p:nvSpPr>
          <p:cNvPr id="15" name="Rounded Rectangle 14">
            <a:extLst>
              <a:ext uri="{FF2B5EF4-FFF2-40B4-BE49-F238E27FC236}">
                <a16:creationId xmlns:a16="http://schemas.microsoft.com/office/drawing/2014/main" id="{73B07BC2-F3C8-E52D-23E2-64D6515AA4E7}"/>
              </a:ext>
            </a:extLst>
          </p:cNvPr>
          <p:cNvSpPr/>
          <p:nvPr/>
        </p:nvSpPr>
        <p:spPr bwMode="auto">
          <a:xfrm>
            <a:off x="6461788" y="3772184"/>
            <a:ext cx="5387995"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7. Website Live Demo</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6" name="Rounded Rectangle 15">
            <a:extLst>
              <a:ext uri="{FF2B5EF4-FFF2-40B4-BE49-F238E27FC236}">
                <a16:creationId xmlns:a16="http://schemas.microsoft.com/office/drawing/2014/main" id="{4F5BA97C-C256-7F55-8741-CD504B86381D}"/>
              </a:ext>
            </a:extLst>
          </p:cNvPr>
          <p:cNvSpPr/>
          <p:nvPr/>
        </p:nvSpPr>
        <p:spPr bwMode="auto">
          <a:xfrm>
            <a:off x="6455431" y="4925510"/>
            <a:ext cx="538798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8. Results</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9" name="!!5">
            <a:extLst>
              <a:ext uri="{FF2B5EF4-FFF2-40B4-BE49-F238E27FC236}">
                <a16:creationId xmlns:a16="http://schemas.microsoft.com/office/drawing/2014/main" id="{E65E6A22-7A7F-3D01-7905-79C3004EEE04}"/>
              </a:ext>
            </a:extLst>
          </p:cNvPr>
          <p:cNvSpPr/>
          <p:nvPr/>
        </p:nvSpPr>
        <p:spPr bwMode="auto">
          <a:xfrm>
            <a:off x="6461788" y="2574074"/>
            <a:ext cx="538800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6. Trait Similarity Models</a:t>
            </a:r>
            <a:endParaRPr lang="en-US" sz="2800">
              <a:solidFill>
                <a:srgbClr val="1B4C9C">
                  <a:alpha val="16000"/>
                </a:srgbClr>
              </a:solidFill>
              <a:latin typeface="Arial" panose="020B0604020202020204" pitchFamily="34" charset="0"/>
              <a:cs typeface="Arial" panose="020B0604020202020204" pitchFamily="34" charset="0"/>
            </a:endParaRPr>
          </a:p>
        </p:txBody>
      </p:sp>
      <p:cxnSp>
        <p:nvCxnSpPr>
          <p:cNvPr id="3" name="Straight Connector 2">
            <a:extLst>
              <a:ext uri="{FF2B5EF4-FFF2-40B4-BE49-F238E27FC236}">
                <a16:creationId xmlns:a16="http://schemas.microsoft.com/office/drawing/2014/main" id="{E90A93C4-F398-1FEA-E559-C35EBA2F5868}"/>
              </a:ext>
            </a:extLst>
          </p:cNvPr>
          <p:cNvCxnSpPr>
            <a:cxnSpLocks/>
          </p:cNvCxnSpPr>
          <p:nvPr/>
        </p:nvCxnSpPr>
        <p:spPr>
          <a:xfrm>
            <a:off x="6096000" y="1384624"/>
            <a:ext cx="0" cy="4449931"/>
          </a:xfrm>
          <a:prstGeom prst="line">
            <a:avLst/>
          </a:prstGeom>
          <a:ln w="38100">
            <a:solidFill>
              <a:srgbClr val="E7E7E7"/>
            </a:solidFill>
          </a:ln>
        </p:spPr>
        <p:style>
          <a:lnRef idx="1">
            <a:schemeClr val="accent1"/>
          </a:lnRef>
          <a:fillRef idx="0">
            <a:schemeClr val="accent1"/>
          </a:fillRef>
          <a:effectRef idx="0">
            <a:schemeClr val="accent1"/>
          </a:effectRef>
          <a:fontRef idx="minor">
            <a:schemeClr val="tx1"/>
          </a:fontRef>
        </p:style>
      </p:cxnSp>
      <p:sp>
        <p:nvSpPr>
          <p:cNvPr id="2" name="!!2">
            <a:extLst>
              <a:ext uri="{FF2B5EF4-FFF2-40B4-BE49-F238E27FC236}">
                <a16:creationId xmlns:a16="http://schemas.microsoft.com/office/drawing/2014/main" id="{5E7A1AA8-0727-BD9F-C54A-FCB30080991D}"/>
              </a:ext>
            </a:extLst>
          </p:cNvPr>
          <p:cNvSpPr/>
          <p:nvPr/>
        </p:nvSpPr>
        <p:spPr bwMode="auto">
          <a:xfrm>
            <a:off x="342204" y="2574074"/>
            <a:ext cx="5394363"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dirty="0">
                <a:solidFill>
                  <a:srgbClr val="1B4C9C">
                    <a:alpha val="16000"/>
                  </a:srgbClr>
                </a:solidFill>
                <a:latin typeface="Arial" panose="020B0604020202020204" pitchFamily="34" charset="0"/>
                <a:cs typeface="Arial" panose="020B0604020202020204" pitchFamily="34" charset="0"/>
              </a:rPr>
              <a:t>2. </a:t>
            </a:r>
            <a:r>
              <a:rPr lang="en-US" altLang="zh-CN" sz="2800" dirty="0" err="1">
                <a:solidFill>
                  <a:srgbClr val="1B4C9C">
                    <a:alpha val="16000"/>
                  </a:srgbClr>
                </a:solidFill>
                <a:latin typeface="Arial" panose="020B0604020202020204" pitchFamily="34" charset="0"/>
                <a:cs typeface="Arial" panose="020B0604020202020204" pitchFamily="34" charset="0"/>
              </a:rPr>
              <a:t>GeneSieve</a:t>
            </a:r>
            <a:r>
              <a:rPr lang="en-US" altLang="zh-CN" sz="2800" dirty="0">
                <a:solidFill>
                  <a:srgbClr val="1B4C9C">
                    <a:alpha val="16000"/>
                  </a:srgbClr>
                </a:solidFill>
                <a:latin typeface="Arial" panose="020B0604020202020204" pitchFamily="34" charset="0"/>
                <a:cs typeface="Arial" panose="020B0604020202020204" pitchFamily="34" charset="0"/>
              </a:rPr>
              <a:t> Overview</a:t>
            </a:r>
            <a:endParaRPr lang="en-US" sz="2800" dirty="0">
              <a:solidFill>
                <a:srgbClr val="1B4C9C">
                  <a:alpha val="16000"/>
                </a:srgb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8432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EE1BF-00D9-3497-6B65-405ED5FB147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20FF749-12A6-3685-77BE-808E33B799C3}"/>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43</a:t>
            </a:fld>
            <a:endParaRPr lang="en-US">
              <a:solidFill>
                <a:srgbClr val="000000"/>
              </a:solidFill>
              <a:latin typeface="Segoe UI"/>
            </a:endParaRPr>
          </a:p>
        </p:txBody>
      </p:sp>
      <p:sp>
        <p:nvSpPr>
          <p:cNvPr id="19" name="!!6">
            <a:extLst>
              <a:ext uri="{FF2B5EF4-FFF2-40B4-BE49-F238E27FC236}">
                <a16:creationId xmlns:a16="http://schemas.microsoft.com/office/drawing/2014/main" id="{B78646AB-10E3-903C-D6CA-57C4DD312E7B}"/>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Gene Ranking Models</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2" name="Rounded Rectangle 1">
            <a:extLst>
              <a:ext uri="{FF2B5EF4-FFF2-40B4-BE49-F238E27FC236}">
                <a16:creationId xmlns:a16="http://schemas.microsoft.com/office/drawing/2014/main" id="{35D5429B-43A1-3F6B-E82E-E12C4ED93955}"/>
              </a:ext>
            </a:extLst>
          </p:cNvPr>
          <p:cNvSpPr/>
          <p:nvPr/>
        </p:nvSpPr>
        <p:spPr bwMode="auto">
          <a:xfrm>
            <a:off x="540548" y="1233249"/>
            <a:ext cx="10686833" cy="4451933"/>
          </a:xfrm>
          <a:prstGeom prst="roundRect">
            <a:avLst>
              <a:gd name="adj" fmla="val 9082"/>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3" name="!!1">
            <a:extLst>
              <a:ext uri="{FF2B5EF4-FFF2-40B4-BE49-F238E27FC236}">
                <a16:creationId xmlns:a16="http://schemas.microsoft.com/office/drawing/2014/main" id="{0F3042A2-4BEE-4B3C-7000-965C9288CE17}"/>
              </a:ext>
            </a:extLst>
          </p:cNvPr>
          <p:cNvSpPr txBox="1"/>
          <p:nvPr/>
        </p:nvSpPr>
        <p:spPr>
          <a:xfrm>
            <a:off x="717167" y="1289341"/>
            <a:ext cx="10333591" cy="1354217"/>
          </a:xfrm>
          <a:prstGeom prst="rect">
            <a:avLst/>
          </a:prstGeom>
          <a:noFill/>
        </p:spPr>
        <p:txBody>
          <a:bodyPr wrap="square" lIns="0" tIns="0" rIns="0" bIns="0" rtlCol="0">
            <a:spAutoFit/>
          </a:bodyPr>
          <a:lstStyle/>
          <a:p>
            <a:r>
              <a:rPr lang="en-US" sz="3200" b="1" dirty="0">
                <a:solidFill>
                  <a:srgbClr val="13409F"/>
                </a:solidFill>
                <a:latin typeface="Arial" panose="020B0604020202020204" pitchFamily="34" charset="0"/>
                <a:cs typeface="Arial" panose="020B0604020202020204" pitchFamily="34" charset="0"/>
              </a:rPr>
              <a:t>Why use a gene ranking model?</a:t>
            </a:r>
          </a:p>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Different candidates produce graphs with different sizes, structures, and evidence patterns</a:t>
            </a:r>
          </a:p>
        </p:txBody>
      </p:sp>
      <p:sp>
        <p:nvSpPr>
          <p:cNvPr id="7" name="TextBox 6">
            <a:extLst>
              <a:ext uri="{FF2B5EF4-FFF2-40B4-BE49-F238E27FC236}">
                <a16:creationId xmlns:a16="http://schemas.microsoft.com/office/drawing/2014/main" id="{236558FB-B38E-545A-D78D-58E7755034EE}"/>
              </a:ext>
            </a:extLst>
          </p:cNvPr>
          <p:cNvSpPr txBox="1"/>
          <p:nvPr/>
        </p:nvSpPr>
        <p:spPr>
          <a:xfrm>
            <a:off x="628855" y="2870874"/>
            <a:ext cx="10510214" cy="2677656"/>
          </a:xfrm>
          <a:prstGeom prst="rect">
            <a:avLst/>
          </a:prstGeom>
          <a:noFill/>
        </p:spPr>
        <p:txBody>
          <a:bodyPr wrap="square">
            <a:spAutoFit/>
          </a:bodyPr>
          <a:lstStyle/>
          <a:p>
            <a:pPr marL="342900" indent="-342900">
              <a:buFont typeface="Arial" panose="020B0604020202020204" pitchFamily="34" charset="0"/>
              <a:buChar char="•"/>
            </a:pPr>
            <a:r>
              <a:rPr lang="en-US" sz="2800"/>
              <a:t>Need a model that converts each heterogeneous graph into </a:t>
            </a:r>
            <a:r>
              <a:rPr lang="en-US" sz="2800" b="1"/>
              <a:t>one confidence score</a:t>
            </a:r>
            <a:r>
              <a:rPr lang="en-US" sz="2800"/>
              <a:t> for ranking candidate genes</a:t>
            </a:r>
          </a:p>
          <a:p>
            <a:pPr marL="342900" indent="-342900">
              <a:buFont typeface="Arial" panose="020B0604020202020204" pitchFamily="34" charset="0"/>
              <a:buChar char="•"/>
            </a:pPr>
            <a:endParaRPr lang="en-US" sz="28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a:t>The importance of a relationship depends on its </a:t>
            </a:r>
            <a:r>
              <a:rPr lang="en-US" sz="2800" b="1"/>
              <a:t>context within the graph</a:t>
            </a:r>
            <a:r>
              <a:rPr lang="en-US" sz="2800"/>
              <a:t>, not just its edge weight. Need a way capture complex patterns within TGAGs. </a:t>
            </a:r>
            <a:endParaRPr lang="en-US"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59112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500"/>
                                        <p:tgtEl>
                                          <p:spTgt spid="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Effect transition="in" filter="fade">
                                      <p:cBhvr>
                                        <p:cTn id="23"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allAtOnce"/>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F311A-4FE8-0812-5544-7CD7B8E607C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2C08EF-4813-9032-9044-0BF1374C171D}"/>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44</a:t>
            </a:fld>
            <a:endParaRPr lang="en-US">
              <a:solidFill>
                <a:srgbClr val="000000"/>
              </a:solidFill>
              <a:latin typeface="Segoe UI"/>
            </a:endParaRPr>
          </a:p>
        </p:txBody>
      </p:sp>
      <p:sp>
        <p:nvSpPr>
          <p:cNvPr id="19" name="!!6">
            <a:extLst>
              <a:ext uri="{FF2B5EF4-FFF2-40B4-BE49-F238E27FC236}">
                <a16:creationId xmlns:a16="http://schemas.microsoft.com/office/drawing/2014/main" id="{620EADA8-942B-7685-F21D-E961C59E3774}"/>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4000" b="1" dirty="0">
                <a:solidFill>
                  <a:srgbClr val="13409F"/>
                </a:solidFill>
                <a:latin typeface="Arial" panose="020B0604020202020204" pitchFamily="34" charset="0"/>
                <a:cs typeface="Arial" panose="020B0604020202020204" pitchFamily="34" charset="0"/>
              </a:rPr>
              <a:t>Model Training Data</a:t>
            </a:r>
          </a:p>
        </p:txBody>
      </p:sp>
      <p:sp>
        <p:nvSpPr>
          <p:cNvPr id="2" name="Rounded Rectangle 1">
            <a:extLst>
              <a:ext uri="{FF2B5EF4-FFF2-40B4-BE49-F238E27FC236}">
                <a16:creationId xmlns:a16="http://schemas.microsoft.com/office/drawing/2014/main" id="{C4D417A4-84C4-3AF3-B609-79AC5CB9E5E6}"/>
              </a:ext>
            </a:extLst>
          </p:cNvPr>
          <p:cNvSpPr/>
          <p:nvPr/>
        </p:nvSpPr>
        <p:spPr bwMode="auto">
          <a:xfrm>
            <a:off x="540548" y="1233250"/>
            <a:ext cx="10686833" cy="3326876"/>
          </a:xfrm>
          <a:prstGeom prst="roundRect">
            <a:avLst>
              <a:gd name="adj" fmla="val 9082"/>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3" name="!!1">
            <a:extLst>
              <a:ext uri="{FF2B5EF4-FFF2-40B4-BE49-F238E27FC236}">
                <a16:creationId xmlns:a16="http://schemas.microsoft.com/office/drawing/2014/main" id="{8FD7746B-F753-F0B3-55F9-C1FE71117AD1}"/>
              </a:ext>
            </a:extLst>
          </p:cNvPr>
          <p:cNvSpPr txBox="1"/>
          <p:nvPr/>
        </p:nvSpPr>
        <p:spPr>
          <a:xfrm>
            <a:off x="717167" y="1289341"/>
            <a:ext cx="10333591" cy="3447098"/>
          </a:xfrm>
          <a:prstGeom prst="rect">
            <a:avLst/>
          </a:prstGeom>
          <a:noFill/>
        </p:spPr>
        <p:txBody>
          <a:bodyPr wrap="square" lIns="0" tIns="0" rIns="0" bIns="0" rtlCol="0">
            <a:spAutoFit/>
          </a:bodyPr>
          <a:lstStyle/>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The benchmark TGAGs comprise of 267 examples of synthetic queries that were submitted to </a:t>
            </a:r>
            <a:r>
              <a:rPr lang="en-US" sz="2800" dirty="0" err="1">
                <a:latin typeface="Arial" panose="020B0604020202020204" pitchFamily="34" charset="0"/>
                <a:cs typeface="Arial" panose="020B0604020202020204" pitchFamily="34" charset="0"/>
              </a:rPr>
              <a:t>GeneSieve</a:t>
            </a:r>
            <a:r>
              <a:rPr lang="en-US" sz="2800" dirty="0">
                <a:latin typeface="Arial" panose="020B0604020202020204" pitchFamily="34" charset="0"/>
                <a:cs typeface="Arial" panose="020B0604020202020204" pitchFamily="34" charset="0"/>
              </a:rPr>
              <a:t>. </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Each query’s candidate gene set has exactly one known true gene. </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The rank of the remaining genes is unknown. </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2170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FCC3D-5AA8-4480-D0B2-8DA1FDF8396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6FDB64-B061-4ACA-DCB5-E1F35B77C97D}"/>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45</a:t>
            </a:fld>
            <a:endParaRPr lang="en-US">
              <a:solidFill>
                <a:srgbClr val="000000"/>
              </a:solidFill>
              <a:latin typeface="Segoe UI"/>
            </a:endParaRPr>
          </a:p>
        </p:txBody>
      </p:sp>
      <p:sp>
        <p:nvSpPr>
          <p:cNvPr id="19" name="!!6">
            <a:extLst>
              <a:ext uri="{FF2B5EF4-FFF2-40B4-BE49-F238E27FC236}">
                <a16:creationId xmlns:a16="http://schemas.microsoft.com/office/drawing/2014/main" id="{795B3BF3-FE4F-78BA-CE98-0CE1C9156905}"/>
              </a:ext>
            </a:extLst>
          </p:cNvPr>
          <p:cNvSpPr/>
          <p:nvPr/>
        </p:nvSpPr>
        <p:spPr bwMode="auto">
          <a:xfrm>
            <a:off x="273135" y="107454"/>
            <a:ext cx="9072746" cy="1151329"/>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4000" b="1" dirty="0">
                <a:solidFill>
                  <a:srgbClr val="13409F"/>
                </a:solidFill>
                <a:latin typeface="Arial" panose="020B0604020202020204" pitchFamily="34" charset="0"/>
                <a:cs typeface="Arial" panose="020B0604020202020204" pitchFamily="34" charset="0"/>
              </a:rPr>
              <a:t>Relational-Graph Convolutional Network (R-GCN)</a:t>
            </a:r>
          </a:p>
        </p:txBody>
      </p:sp>
      <p:sp>
        <p:nvSpPr>
          <p:cNvPr id="2" name="Rounded Rectangle 1">
            <a:extLst>
              <a:ext uri="{FF2B5EF4-FFF2-40B4-BE49-F238E27FC236}">
                <a16:creationId xmlns:a16="http://schemas.microsoft.com/office/drawing/2014/main" id="{23CA71C2-06F2-A10F-1A58-1ACEFAED18CB}"/>
              </a:ext>
            </a:extLst>
          </p:cNvPr>
          <p:cNvSpPr/>
          <p:nvPr/>
        </p:nvSpPr>
        <p:spPr bwMode="auto">
          <a:xfrm>
            <a:off x="580301" y="1202691"/>
            <a:ext cx="10686833" cy="5441663"/>
          </a:xfrm>
          <a:prstGeom prst="roundRect">
            <a:avLst>
              <a:gd name="adj" fmla="val 9082"/>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3" name="!!1">
            <a:extLst>
              <a:ext uri="{FF2B5EF4-FFF2-40B4-BE49-F238E27FC236}">
                <a16:creationId xmlns:a16="http://schemas.microsoft.com/office/drawing/2014/main" id="{539476E3-11B7-C027-DC90-656CCCB8E2C3}"/>
              </a:ext>
            </a:extLst>
          </p:cNvPr>
          <p:cNvSpPr txBox="1"/>
          <p:nvPr/>
        </p:nvSpPr>
        <p:spPr>
          <a:xfrm>
            <a:off x="756923" y="1415009"/>
            <a:ext cx="10333591" cy="6032421"/>
          </a:xfrm>
          <a:prstGeom prst="rect">
            <a:avLst/>
          </a:prstGeom>
          <a:noFill/>
        </p:spPr>
        <p:txBody>
          <a:bodyPr wrap="square" lIns="0" tIns="0" rIns="0" bIns="0" rtlCol="0">
            <a:spAutoFit/>
          </a:bodyPr>
          <a:lstStyle/>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TGAGs are heterogeneous graphs containing four biologically distinct edge types. </a:t>
            </a:r>
          </a:p>
          <a:p>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Different relationships contribute differently to identifying causal genes</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R-GCN learns relation-specific transformations rather than treating every edge identically</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Information propagates through multiple hops, allowing the model to combine complementary biological evidence automatically</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44406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30000-24D3-EE5F-768B-2046706E681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9914BA-6717-1CBF-E0B9-78E53DD352D5}"/>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46</a:t>
            </a:fld>
            <a:endParaRPr lang="en-US">
              <a:solidFill>
                <a:srgbClr val="000000"/>
              </a:solidFill>
              <a:latin typeface="Segoe UI"/>
            </a:endParaRPr>
          </a:p>
        </p:txBody>
      </p:sp>
      <p:sp>
        <p:nvSpPr>
          <p:cNvPr id="19" name="!!6">
            <a:extLst>
              <a:ext uri="{FF2B5EF4-FFF2-40B4-BE49-F238E27FC236}">
                <a16:creationId xmlns:a16="http://schemas.microsoft.com/office/drawing/2014/main" id="{6E45DE5B-BE9E-7ED8-6EF8-6C5D540817B3}"/>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Gene Ranking </a:t>
            </a:r>
            <a:r>
              <a:rPr lang="en-US" altLang="zh-CN" sz="4000" b="1" dirty="0">
                <a:solidFill>
                  <a:srgbClr val="1B4C9C"/>
                </a:solidFill>
                <a:latin typeface="Arial" panose="020B0604020202020204" pitchFamily="34" charset="0"/>
                <a:cs typeface="Arial" panose="020B0604020202020204" pitchFamily="34" charset="0"/>
              </a:rPr>
              <a:t>Model</a:t>
            </a:r>
            <a:r>
              <a:rPr lang="en-US" altLang="zh-CN" sz="4000" b="1">
                <a:solidFill>
                  <a:srgbClr val="1B4C9C"/>
                </a:solidFill>
                <a:latin typeface="Arial" panose="020B0604020202020204" pitchFamily="34" charset="0"/>
                <a:cs typeface="Arial" panose="020B0604020202020204" pitchFamily="34" charset="0"/>
              </a:rPr>
              <a:t>: R-GCN</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pic>
        <p:nvPicPr>
          <p:cNvPr id="17" name="Content Placeholder 4">
            <a:extLst>
              <a:ext uri="{FF2B5EF4-FFF2-40B4-BE49-F238E27FC236}">
                <a16:creationId xmlns:a16="http://schemas.microsoft.com/office/drawing/2014/main" id="{FDFD69E7-68F5-05E3-201C-3C3A85D89233}"/>
              </a:ext>
            </a:extLst>
          </p:cNvPr>
          <p:cNvPicPr>
            <a:picLocks noGrp="1" noChangeAspect="1"/>
          </p:cNvPicPr>
          <p:nvPr>
            <p:ph idx="1"/>
          </p:nvPr>
        </p:nvPicPr>
        <p:blipFill>
          <a:blip r:embed="rId3"/>
          <a:stretch>
            <a:fillRect/>
          </a:stretch>
        </p:blipFill>
        <p:spPr>
          <a:xfrm>
            <a:off x="4371708" y="1094352"/>
            <a:ext cx="7571650" cy="5242347"/>
          </a:xfrm>
          <a:prstGeom prst="rect">
            <a:avLst/>
          </a:prstGeom>
        </p:spPr>
      </p:pic>
      <p:sp>
        <p:nvSpPr>
          <p:cNvPr id="18" name="!!example">
            <a:extLst>
              <a:ext uri="{FF2B5EF4-FFF2-40B4-BE49-F238E27FC236}">
                <a16:creationId xmlns:a16="http://schemas.microsoft.com/office/drawing/2014/main" id="{ED4193B0-01D4-6375-663B-89C6253A4654}"/>
              </a:ext>
            </a:extLst>
          </p:cNvPr>
          <p:cNvSpPr/>
          <p:nvPr/>
        </p:nvSpPr>
        <p:spPr>
          <a:xfrm>
            <a:off x="5158066" y="2128724"/>
            <a:ext cx="1280160" cy="1200329"/>
          </a:xfrm>
          <a:prstGeom prst="ellipse">
            <a:avLst/>
          </a:prstGeom>
          <a:solidFill>
            <a:srgbClr val="000000">
              <a:alpha val="5000"/>
            </a:srgbClr>
          </a:solidFill>
          <a:ln w="1080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n-US">
              <a:solidFill>
                <a:srgbClr val="000000"/>
              </a:solidFill>
            </a:endParaRPr>
          </a:p>
        </p:txBody>
      </p:sp>
      <p:sp>
        <p:nvSpPr>
          <p:cNvPr id="5" name="sometin">
            <a:extLst>
              <a:ext uri="{FF2B5EF4-FFF2-40B4-BE49-F238E27FC236}">
                <a16:creationId xmlns:a16="http://schemas.microsoft.com/office/drawing/2014/main" id="{41BC5571-BC43-AF07-2689-42C9F318CA68}"/>
              </a:ext>
            </a:extLst>
          </p:cNvPr>
          <p:cNvSpPr/>
          <p:nvPr/>
        </p:nvSpPr>
        <p:spPr bwMode="auto">
          <a:xfrm>
            <a:off x="403763" y="1386549"/>
            <a:ext cx="3482436" cy="2018733"/>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Let’s explore one R-GCN layer, then see how layers are combined</a:t>
            </a:r>
          </a:p>
        </p:txBody>
      </p:sp>
    </p:spTree>
    <p:extLst>
      <p:ext uri="{BB962C8B-B14F-4D97-AF65-F5344CB8AC3E}">
        <p14:creationId xmlns:p14="http://schemas.microsoft.com/office/powerpoint/2010/main" val="17784614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0F9DD-A6F2-69C7-1EAA-6EA26B747DB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ACDCCB-1345-4E2F-3E5B-E38CDA4F3AAC}"/>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47</a:t>
            </a:fld>
            <a:endParaRPr lang="en-US">
              <a:solidFill>
                <a:srgbClr val="000000"/>
              </a:solidFill>
              <a:latin typeface="Segoe UI"/>
            </a:endParaRPr>
          </a:p>
        </p:txBody>
      </p:sp>
      <p:sp>
        <p:nvSpPr>
          <p:cNvPr id="19" name="!!6">
            <a:extLst>
              <a:ext uri="{FF2B5EF4-FFF2-40B4-BE49-F238E27FC236}">
                <a16:creationId xmlns:a16="http://schemas.microsoft.com/office/drawing/2014/main" id="{5317F79B-AF77-BA23-F6BA-F2386261C6D7}"/>
              </a:ext>
            </a:extLst>
          </p:cNvPr>
          <p:cNvSpPr>
            <a:spLocks/>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Gene Ranking </a:t>
            </a:r>
            <a:r>
              <a:rPr lang="en-US" altLang="zh-CN" sz="4000" b="1" dirty="0">
                <a:solidFill>
                  <a:srgbClr val="1B4C9C"/>
                </a:solidFill>
                <a:latin typeface="Arial" panose="020B0604020202020204" pitchFamily="34" charset="0"/>
                <a:cs typeface="Arial" panose="020B0604020202020204" pitchFamily="34" charset="0"/>
              </a:rPr>
              <a:t>Model</a:t>
            </a:r>
            <a:r>
              <a:rPr lang="en-US" altLang="zh-CN" sz="4000" b="1">
                <a:solidFill>
                  <a:srgbClr val="1B4C9C"/>
                </a:solidFill>
                <a:latin typeface="Arial" panose="020B0604020202020204" pitchFamily="34" charset="0"/>
                <a:cs typeface="Arial" panose="020B0604020202020204" pitchFamily="34" charset="0"/>
              </a:rPr>
              <a:t>: R-GCN</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2" name="!!example">
            <a:extLst>
              <a:ext uri="{FF2B5EF4-FFF2-40B4-BE49-F238E27FC236}">
                <a16:creationId xmlns:a16="http://schemas.microsoft.com/office/drawing/2014/main" id="{9AD4AEEF-F62B-ED59-07F4-0465D6C80DD8}"/>
              </a:ext>
            </a:extLst>
          </p:cNvPr>
          <p:cNvSpPr>
            <a:spLocks/>
          </p:cNvSpPr>
          <p:nvPr/>
        </p:nvSpPr>
        <p:spPr>
          <a:xfrm>
            <a:off x="5135670" y="2448974"/>
            <a:ext cx="1210605" cy="1184251"/>
          </a:xfrm>
          <a:prstGeom prst="ellipse">
            <a:avLst/>
          </a:prstGeom>
          <a:solidFill>
            <a:srgbClr val="89DA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 name="Oval 2">
            <a:extLst>
              <a:ext uri="{FF2B5EF4-FFF2-40B4-BE49-F238E27FC236}">
                <a16:creationId xmlns:a16="http://schemas.microsoft.com/office/drawing/2014/main" id="{2B137755-B1A2-A538-1056-B5FE5B5241C5}"/>
              </a:ext>
            </a:extLst>
          </p:cNvPr>
          <p:cNvSpPr>
            <a:spLocks/>
          </p:cNvSpPr>
          <p:nvPr/>
        </p:nvSpPr>
        <p:spPr>
          <a:xfrm>
            <a:off x="2594773" y="5175982"/>
            <a:ext cx="1210605" cy="1184251"/>
          </a:xfrm>
          <a:prstGeom prst="ellipse">
            <a:avLst/>
          </a:prstGeom>
          <a:solidFill>
            <a:srgbClr val="3E8E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E91916F-4F0E-CA4F-28C0-C796F1190748}"/>
              </a:ext>
            </a:extLst>
          </p:cNvPr>
          <p:cNvSpPr>
            <a:spLocks/>
          </p:cNvSpPr>
          <p:nvPr/>
        </p:nvSpPr>
        <p:spPr>
          <a:xfrm>
            <a:off x="8167629" y="5175982"/>
            <a:ext cx="1210605" cy="1184251"/>
          </a:xfrm>
          <a:prstGeom prst="ellipse">
            <a:avLst/>
          </a:prstGeom>
          <a:solidFill>
            <a:srgbClr val="A461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ait2">
            <a:extLst>
              <a:ext uri="{FF2B5EF4-FFF2-40B4-BE49-F238E27FC236}">
                <a16:creationId xmlns:a16="http://schemas.microsoft.com/office/drawing/2014/main" id="{B15431DF-DCF8-4A35-8119-9210B6056177}"/>
              </a:ext>
            </a:extLst>
          </p:cNvPr>
          <p:cNvSpPr txBox="1">
            <a:spLocks/>
          </p:cNvSpPr>
          <p:nvPr/>
        </p:nvSpPr>
        <p:spPr>
          <a:xfrm>
            <a:off x="5616069" y="2875541"/>
            <a:ext cx="1207382" cy="369332"/>
          </a:xfrm>
          <a:prstGeom prst="rect">
            <a:avLst/>
          </a:prstGeom>
          <a:noFill/>
        </p:spPr>
        <p:txBody>
          <a:bodyPr wrap="none" rtlCol="0">
            <a:spAutoFit/>
          </a:bodyPr>
          <a:lstStyle/>
          <a:p>
            <a:r>
              <a:rPr lang="en-US"/>
              <a:t>Head Rice</a:t>
            </a:r>
          </a:p>
        </p:txBody>
      </p:sp>
      <p:sp>
        <p:nvSpPr>
          <p:cNvPr id="7" name="trait1">
            <a:extLst>
              <a:ext uri="{FF2B5EF4-FFF2-40B4-BE49-F238E27FC236}">
                <a16:creationId xmlns:a16="http://schemas.microsoft.com/office/drawing/2014/main" id="{14903414-960F-B799-B41C-B958D2E96DE7}"/>
              </a:ext>
            </a:extLst>
          </p:cNvPr>
          <p:cNvSpPr txBox="1">
            <a:spLocks/>
          </p:cNvSpPr>
          <p:nvPr/>
        </p:nvSpPr>
        <p:spPr>
          <a:xfrm>
            <a:off x="3027122" y="5583441"/>
            <a:ext cx="3404394" cy="369332"/>
          </a:xfrm>
          <a:prstGeom prst="rect">
            <a:avLst/>
          </a:prstGeom>
          <a:noFill/>
        </p:spPr>
        <p:txBody>
          <a:bodyPr wrap="none" rtlCol="0">
            <a:spAutoFit/>
          </a:bodyPr>
          <a:lstStyle/>
          <a:p>
            <a:r>
              <a:rPr lang="en-US"/>
              <a:t>Amylose Content Glutinous Rice</a:t>
            </a:r>
          </a:p>
        </p:txBody>
      </p:sp>
      <p:sp>
        <p:nvSpPr>
          <p:cNvPr id="8" name="gene1">
            <a:extLst>
              <a:ext uri="{FF2B5EF4-FFF2-40B4-BE49-F238E27FC236}">
                <a16:creationId xmlns:a16="http://schemas.microsoft.com/office/drawing/2014/main" id="{431FE745-3954-E2DB-42B8-8149C8BD87BA}"/>
              </a:ext>
            </a:extLst>
          </p:cNvPr>
          <p:cNvSpPr txBox="1">
            <a:spLocks/>
          </p:cNvSpPr>
          <p:nvPr/>
        </p:nvSpPr>
        <p:spPr>
          <a:xfrm>
            <a:off x="8524077" y="5593835"/>
            <a:ext cx="1984967" cy="369332"/>
          </a:xfrm>
          <a:prstGeom prst="rect">
            <a:avLst/>
          </a:prstGeom>
          <a:noFill/>
        </p:spPr>
        <p:txBody>
          <a:bodyPr wrap="none" rtlCol="0">
            <a:spAutoFit/>
          </a:bodyPr>
          <a:lstStyle/>
          <a:p>
            <a:r>
              <a:rPr lang="en-US"/>
              <a:t>LOC_Os06g04200</a:t>
            </a:r>
          </a:p>
        </p:txBody>
      </p:sp>
      <p:cxnSp>
        <p:nvCxnSpPr>
          <p:cNvPr id="9" name="Straight Connector 8">
            <a:extLst>
              <a:ext uri="{FF2B5EF4-FFF2-40B4-BE49-F238E27FC236}">
                <a16:creationId xmlns:a16="http://schemas.microsoft.com/office/drawing/2014/main" id="{AC83D9F0-55CD-A20A-4708-B5735B65D024}"/>
              </a:ext>
            </a:extLst>
          </p:cNvPr>
          <p:cNvCxnSpPr>
            <a:cxnSpLocks/>
            <a:endCxn id="2" idx="3"/>
          </p:cNvCxnSpPr>
          <p:nvPr/>
        </p:nvCxnSpPr>
        <p:spPr>
          <a:xfrm flipV="1">
            <a:off x="3222749" y="3459795"/>
            <a:ext cx="2090210" cy="2104582"/>
          </a:xfrm>
          <a:prstGeom prst="line">
            <a:avLst/>
          </a:prstGeom>
          <a:ln w="38100">
            <a:solidFill>
              <a:srgbClr val="3E8E4D"/>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DB1E92C-03D5-CF1F-4EDC-07EDF9F08246}"/>
              </a:ext>
            </a:extLst>
          </p:cNvPr>
          <p:cNvCxnSpPr>
            <a:cxnSpLocks/>
            <a:stCxn id="2" idx="5"/>
          </p:cNvCxnSpPr>
          <p:nvPr/>
        </p:nvCxnSpPr>
        <p:spPr>
          <a:xfrm>
            <a:off x="6168986" y="3459795"/>
            <a:ext cx="2457965" cy="2134040"/>
          </a:xfrm>
          <a:prstGeom prst="line">
            <a:avLst/>
          </a:prstGeom>
          <a:ln w="38100">
            <a:solidFill>
              <a:srgbClr val="A461F4"/>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690EA96-A190-4490-331E-07CE4CB237FE}"/>
              </a:ext>
            </a:extLst>
          </p:cNvPr>
          <p:cNvSpPr txBox="1">
            <a:spLocks/>
          </p:cNvSpPr>
          <p:nvPr/>
        </p:nvSpPr>
        <p:spPr>
          <a:xfrm>
            <a:off x="3523740" y="3929493"/>
            <a:ext cx="744114" cy="369332"/>
          </a:xfrm>
          <a:prstGeom prst="rect">
            <a:avLst/>
          </a:prstGeom>
          <a:noFill/>
        </p:spPr>
        <p:txBody>
          <a:bodyPr wrap="none" rtlCol="0">
            <a:spAutoFit/>
          </a:bodyPr>
          <a:lstStyle/>
          <a:p>
            <a:r>
              <a:rPr lang="en-US"/>
              <a:t>0.796</a:t>
            </a:r>
          </a:p>
        </p:txBody>
      </p:sp>
      <p:sp>
        <p:nvSpPr>
          <p:cNvPr id="12" name="TextBox 11">
            <a:extLst>
              <a:ext uri="{FF2B5EF4-FFF2-40B4-BE49-F238E27FC236}">
                <a16:creationId xmlns:a16="http://schemas.microsoft.com/office/drawing/2014/main" id="{1715B55A-E472-A277-C739-D5BEBCC5238A}"/>
              </a:ext>
            </a:extLst>
          </p:cNvPr>
          <p:cNvSpPr txBox="1">
            <a:spLocks/>
          </p:cNvSpPr>
          <p:nvPr/>
        </p:nvSpPr>
        <p:spPr>
          <a:xfrm>
            <a:off x="7397968" y="4189309"/>
            <a:ext cx="918841" cy="461665"/>
          </a:xfrm>
          <a:prstGeom prst="rect">
            <a:avLst/>
          </a:prstGeom>
          <a:noFill/>
        </p:spPr>
        <p:txBody>
          <a:bodyPr wrap="none" rtlCol="0">
            <a:spAutoFit/>
          </a:bodyPr>
          <a:lstStyle/>
          <a:p>
            <a:r>
              <a:rPr lang="en-US"/>
              <a:t>0.500</a:t>
            </a:r>
          </a:p>
        </p:txBody>
      </p:sp>
      <p:sp>
        <p:nvSpPr>
          <p:cNvPr id="39" name="sometin">
            <a:extLst>
              <a:ext uri="{FF2B5EF4-FFF2-40B4-BE49-F238E27FC236}">
                <a16:creationId xmlns:a16="http://schemas.microsoft.com/office/drawing/2014/main" id="{77EDE258-F921-DB2B-3B7B-954868BA2C58}"/>
              </a:ext>
            </a:extLst>
          </p:cNvPr>
          <p:cNvSpPr/>
          <p:nvPr/>
        </p:nvSpPr>
        <p:spPr bwMode="auto">
          <a:xfrm>
            <a:off x="376644" y="976167"/>
            <a:ext cx="11438712" cy="1341219"/>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Consider this snippet of the larger TGAG</a:t>
            </a:r>
          </a:p>
        </p:txBody>
      </p:sp>
    </p:spTree>
    <p:extLst>
      <p:ext uri="{BB962C8B-B14F-4D97-AF65-F5344CB8AC3E}">
        <p14:creationId xmlns:p14="http://schemas.microsoft.com/office/powerpoint/2010/main" val="298291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737CA-7ADE-47BC-555B-695456D53ED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BCEB5E-3BFB-8D68-438B-4AE795D3C7C5}"/>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48</a:t>
            </a:fld>
            <a:endParaRPr lang="en-US">
              <a:solidFill>
                <a:srgbClr val="000000"/>
              </a:solidFill>
              <a:latin typeface="Segoe UI"/>
            </a:endParaRPr>
          </a:p>
        </p:txBody>
      </p:sp>
      <p:sp>
        <p:nvSpPr>
          <p:cNvPr id="19" name="!!6">
            <a:extLst>
              <a:ext uri="{FF2B5EF4-FFF2-40B4-BE49-F238E27FC236}">
                <a16:creationId xmlns:a16="http://schemas.microsoft.com/office/drawing/2014/main" id="{5FCB9D95-0317-4073-CFFA-0CBC93383847}"/>
              </a:ext>
            </a:extLst>
          </p:cNvPr>
          <p:cNvSpPr>
            <a:spLocks/>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Gene Ranking </a:t>
            </a:r>
            <a:r>
              <a:rPr lang="en-US" altLang="zh-CN" sz="4000" b="1" dirty="0">
                <a:solidFill>
                  <a:srgbClr val="1B4C9C"/>
                </a:solidFill>
                <a:latin typeface="Arial" panose="020B0604020202020204" pitchFamily="34" charset="0"/>
                <a:cs typeface="Arial" panose="020B0604020202020204" pitchFamily="34" charset="0"/>
              </a:rPr>
              <a:t>Model</a:t>
            </a:r>
            <a:r>
              <a:rPr lang="en-US" altLang="zh-CN" sz="4000" b="1">
                <a:solidFill>
                  <a:srgbClr val="1B4C9C"/>
                </a:solidFill>
                <a:latin typeface="Arial" panose="020B0604020202020204" pitchFamily="34" charset="0"/>
                <a:cs typeface="Arial" panose="020B0604020202020204" pitchFamily="34" charset="0"/>
              </a:rPr>
              <a:t>: R-GCN</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2" name="Oval 1">
            <a:extLst>
              <a:ext uri="{FF2B5EF4-FFF2-40B4-BE49-F238E27FC236}">
                <a16:creationId xmlns:a16="http://schemas.microsoft.com/office/drawing/2014/main" id="{D35845F5-2035-7D59-CA40-424F4F2CD6DE}"/>
              </a:ext>
            </a:extLst>
          </p:cNvPr>
          <p:cNvSpPr>
            <a:spLocks/>
          </p:cNvSpPr>
          <p:nvPr/>
        </p:nvSpPr>
        <p:spPr>
          <a:xfrm>
            <a:off x="5135670" y="2448974"/>
            <a:ext cx="1210605" cy="1184251"/>
          </a:xfrm>
          <a:prstGeom prst="ellipse">
            <a:avLst/>
          </a:prstGeom>
          <a:solidFill>
            <a:srgbClr val="89DA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 name="Oval 2">
            <a:extLst>
              <a:ext uri="{FF2B5EF4-FFF2-40B4-BE49-F238E27FC236}">
                <a16:creationId xmlns:a16="http://schemas.microsoft.com/office/drawing/2014/main" id="{F6062AB6-9D0E-F279-EAF3-C0832D77220F}"/>
              </a:ext>
            </a:extLst>
          </p:cNvPr>
          <p:cNvSpPr>
            <a:spLocks/>
          </p:cNvSpPr>
          <p:nvPr/>
        </p:nvSpPr>
        <p:spPr>
          <a:xfrm>
            <a:off x="2594773" y="5175982"/>
            <a:ext cx="1210605" cy="1184251"/>
          </a:xfrm>
          <a:prstGeom prst="ellipse">
            <a:avLst/>
          </a:prstGeom>
          <a:solidFill>
            <a:srgbClr val="3E8E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60B16CE6-03BD-276C-6C65-13698848A39E}"/>
              </a:ext>
            </a:extLst>
          </p:cNvPr>
          <p:cNvSpPr>
            <a:spLocks/>
          </p:cNvSpPr>
          <p:nvPr/>
        </p:nvSpPr>
        <p:spPr>
          <a:xfrm>
            <a:off x="8167629" y="5175982"/>
            <a:ext cx="1210605" cy="1184251"/>
          </a:xfrm>
          <a:prstGeom prst="ellipse">
            <a:avLst/>
          </a:prstGeom>
          <a:solidFill>
            <a:srgbClr val="A461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ait2">
            <a:extLst>
              <a:ext uri="{FF2B5EF4-FFF2-40B4-BE49-F238E27FC236}">
                <a16:creationId xmlns:a16="http://schemas.microsoft.com/office/drawing/2014/main" id="{0D8B3418-2187-1514-51B2-60561EECFC4F}"/>
              </a:ext>
            </a:extLst>
          </p:cNvPr>
          <p:cNvSpPr txBox="1">
            <a:spLocks/>
          </p:cNvSpPr>
          <p:nvPr/>
        </p:nvSpPr>
        <p:spPr>
          <a:xfrm>
            <a:off x="5616069" y="2875541"/>
            <a:ext cx="3475631" cy="461665"/>
          </a:xfrm>
          <a:prstGeom prst="rect">
            <a:avLst/>
          </a:prstGeom>
          <a:noFill/>
        </p:spPr>
        <p:txBody>
          <a:bodyPr wrap="none" rtlCol="0">
            <a:spAutoFit/>
          </a:bodyPr>
          <a:lstStyle/>
          <a:p>
            <a:r>
              <a:rPr lang="en-US"/>
              <a:t>[0.84, 0.25, 0.73, …, 0.88]</a:t>
            </a:r>
          </a:p>
        </p:txBody>
      </p:sp>
      <p:sp>
        <p:nvSpPr>
          <p:cNvPr id="7" name="trait1">
            <a:extLst>
              <a:ext uri="{FF2B5EF4-FFF2-40B4-BE49-F238E27FC236}">
                <a16:creationId xmlns:a16="http://schemas.microsoft.com/office/drawing/2014/main" id="{C1F96707-86CB-AF89-7F06-538ACF081C01}"/>
              </a:ext>
            </a:extLst>
          </p:cNvPr>
          <p:cNvSpPr txBox="1">
            <a:spLocks/>
          </p:cNvSpPr>
          <p:nvPr/>
        </p:nvSpPr>
        <p:spPr>
          <a:xfrm>
            <a:off x="3027122" y="5583441"/>
            <a:ext cx="3475631" cy="461665"/>
          </a:xfrm>
          <a:prstGeom prst="rect">
            <a:avLst/>
          </a:prstGeom>
          <a:noFill/>
        </p:spPr>
        <p:txBody>
          <a:bodyPr wrap="none" rtlCol="0">
            <a:spAutoFit/>
          </a:bodyPr>
          <a:lstStyle/>
          <a:p>
            <a:r>
              <a:rPr lang="en-US"/>
              <a:t>[0.61, 0.63, 0.42, …, 0.26]</a:t>
            </a:r>
          </a:p>
        </p:txBody>
      </p:sp>
      <p:sp>
        <p:nvSpPr>
          <p:cNvPr id="8" name="gene1">
            <a:extLst>
              <a:ext uri="{FF2B5EF4-FFF2-40B4-BE49-F238E27FC236}">
                <a16:creationId xmlns:a16="http://schemas.microsoft.com/office/drawing/2014/main" id="{96E1FF9C-08D2-A070-2D3F-53C148721D1D}"/>
              </a:ext>
            </a:extLst>
          </p:cNvPr>
          <p:cNvSpPr txBox="1">
            <a:spLocks/>
          </p:cNvSpPr>
          <p:nvPr/>
        </p:nvSpPr>
        <p:spPr>
          <a:xfrm>
            <a:off x="8524077" y="5593835"/>
            <a:ext cx="3475631" cy="461665"/>
          </a:xfrm>
          <a:prstGeom prst="rect">
            <a:avLst/>
          </a:prstGeom>
          <a:noFill/>
        </p:spPr>
        <p:txBody>
          <a:bodyPr wrap="none" rtlCol="0">
            <a:spAutoFit/>
          </a:bodyPr>
          <a:lstStyle/>
          <a:p>
            <a:r>
              <a:rPr lang="en-US"/>
              <a:t>[0.57, 0.33, 0.16, …, 0.11]</a:t>
            </a:r>
          </a:p>
        </p:txBody>
      </p:sp>
      <p:cxnSp>
        <p:nvCxnSpPr>
          <p:cNvPr id="9" name="Straight Connector 8">
            <a:extLst>
              <a:ext uri="{FF2B5EF4-FFF2-40B4-BE49-F238E27FC236}">
                <a16:creationId xmlns:a16="http://schemas.microsoft.com/office/drawing/2014/main" id="{E743C317-40E3-61F7-5B62-963167D71962}"/>
              </a:ext>
            </a:extLst>
          </p:cNvPr>
          <p:cNvCxnSpPr>
            <a:cxnSpLocks/>
            <a:endCxn id="2" idx="3"/>
          </p:cNvCxnSpPr>
          <p:nvPr/>
        </p:nvCxnSpPr>
        <p:spPr>
          <a:xfrm flipV="1">
            <a:off x="3222749" y="3459795"/>
            <a:ext cx="2090210" cy="2104582"/>
          </a:xfrm>
          <a:prstGeom prst="line">
            <a:avLst/>
          </a:prstGeom>
          <a:ln w="38100">
            <a:solidFill>
              <a:srgbClr val="3E8E4D"/>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2298091-E241-95D3-1851-BCD96551C9A1}"/>
              </a:ext>
            </a:extLst>
          </p:cNvPr>
          <p:cNvCxnSpPr>
            <a:cxnSpLocks/>
            <a:stCxn id="2" idx="5"/>
          </p:cNvCxnSpPr>
          <p:nvPr/>
        </p:nvCxnSpPr>
        <p:spPr>
          <a:xfrm>
            <a:off x="6168986" y="3459795"/>
            <a:ext cx="2457965" cy="2134040"/>
          </a:xfrm>
          <a:prstGeom prst="line">
            <a:avLst/>
          </a:prstGeom>
          <a:ln w="38100">
            <a:solidFill>
              <a:srgbClr val="A461F4"/>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BE3F7C7-540C-9E6F-3D21-21F3B0EEB773}"/>
              </a:ext>
            </a:extLst>
          </p:cNvPr>
          <p:cNvSpPr txBox="1">
            <a:spLocks/>
          </p:cNvSpPr>
          <p:nvPr/>
        </p:nvSpPr>
        <p:spPr>
          <a:xfrm>
            <a:off x="3523740" y="3929493"/>
            <a:ext cx="744114" cy="369332"/>
          </a:xfrm>
          <a:prstGeom prst="rect">
            <a:avLst/>
          </a:prstGeom>
          <a:noFill/>
        </p:spPr>
        <p:txBody>
          <a:bodyPr wrap="none" rtlCol="0">
            <a:spAutoFit/>
          </a:bodyPr>
          <a:lstStyle/>
          <a:p>
            <a:r>
              <a:rPr lang="en-US"/>
              <a:t>0.796</a:t>
            </a:r>
          </a:p>
        </p:txBody>
      </p:sp>
      <p:sp>
        <p:nvSpPr>
          <p:cNvPr id="12" name="TextBox 11">
            <a:extLst>
              <a:ext uri="{FF2B5EF4-FFF2-40B4-BE49-F238E27FC236}">
                <a16:creationId xmlns:a16="http://schemas.microsoft.com/office/drawing/2014/main" id="{5609D495-2A4B-978D-9FF0-136E8ACEE94C}"/>
              </a:ext>
            </a:extLst>
          </p:cNvPr>
          <p:cNvSpPr txBox="1">
            <a:spLocks/>
          </p:cNvSpPr>
          <p:nvPr/>
        </p:nvSpPr>
        <p:spPr>
          <a:xfrm>
            <a:off x="7397968" y="4189309"/>
            <a:ext cx="918841" cy="461665"/>
          </a:xfrm>
          <a:prstGeom prst="rect">
            <a:avLst/>
          </a:prstGeom>
          <a:noFill/>
        </p:spPr>
        <p:txBody>
          <a:bodyPr wrap="none" rtlCol="0">
            <a:spAutoFit/>
          </a:bodyPr>
          <a:lstStyle/>
          <a:p>
            <a:r>
              <a:rPr lang="en-US"/>
              <a:t>0.500</a:t>
            </a:r>
          </a:p>
        </p:txBody>
      </p:sp>
      <p:sp>
        <p:nvSpPr>
          <p:cNvPr id="39" name="sometin">
            <a:extLst>
              <a:ext uri="{FF2B5EF4-FFF2-40B4-BE49-F238E27FC236}">
                <a16:creationId xmlns:a16="http://schemas.microsoft.com/office/drawing/2014/main" id="{E9EB5877-2E66-BBA3-302A-443E3959DE91}"/>
              </a:ext>
            </a:extLst>
          </p:cNvPr>
          <p:cNvSpPr/>
          <p:nvPr/>
        </p:nvSpPr>
        <p:spPr bwMode="auto">
          <a:xfrm>
            <a:off x="376644" y="976167"/>
            <a:ext cx="11438712" cy="1341219"/>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We extract their embeddings. </a:t>
            </a:r>
            <a:r>
              <a:rPr lang="en-US" sz="2800" err="1">
                <a:solidFill>
                  <a:schemeClr val="tx1"/>
                </a:solidFill>
                <a:latin typeface="Arial" panose="020B0604020202020204" pitchFamily="34" charset="0"/>
                <a:cs typeface="Arial" panose="020B0604020202020204" pitchFamily="34" charset="0"/>
              </a:rPr>
              <a:t>distillBERT</a:t>
            </a:r>
            <a:r>
              <a:rPr lang="en-US" sz="2800">
                <a:solidFill>
                  <a:schemeClr val="tx1"/>
                </a:solidFill>
                <a:latin typeface="Arial" panose="020B0604020202020204" pitchFamily="34" charset="0"/>
                <a:cs typeface="Arial" panose="020B0604020202020204" pitchFamily="34" charset="0"/>
              </a:rPr>
              <a:t> for traits, ESM-2 for genes</a:t>
            </a:r>
          </a:p>
        </p:txBody>
      </p:sp>
      <p:sp>
        <p:nvSpPr>
          <p:cNvPr id="13" name="TextBox 12">
            <a:extLst>
              <a:ext uri="{FF2B5EF4-FFF2-40B4-BE49-F238E27FC236}">
                <a16:creationId xmlns:a16="http://schemas.microsoft.com/office/drawing/2014/main" id="{961BCB39-1EA5-3553-AA6B-358EF56128BA}"/>
              </a:ext>
            </a:extLst>
          </p:cNvPr>
          <p:cNvSpPr txBox="1"/>
          <p:nvPr/>
        </p:nvSpPr>
        <p:spPr>
          <a:xfrm>
            <a:off x="8947560" y="3162951"/>
            <a:ext cx="793019" cy="261610"/>
          </a:xfrm>
          <a:prstGeom prst="rect">
            <a:avLst/>
          </a:prstGeom>
          <a:noFill/>
        </p:spPr>
        <p:txBody>
          <a:bodyPr wrap="square" rtlCol="0">
            <a:spAutoFit/>
          </a:bodyPr>
          <a:lstStyle/>
          <a:p>
            <a:r>
              <a:rPr lang="en-US" sz="1100"/>
              <a:t>(728,)</a:t>
            </a:r>
          </a:p>
        </p:txBody>
      </p:sp>
      <p:sp>
        <p:nvSpPr>
          <p:cNvPr id="14" name="TextBox 13">
            <a:extLst>
              <a:ext uri="{FF2B5EF4-FFF2-40B4-BE49-F238E27FC236}">
                <a16:creationId xmlns:a16="http://schemas.microsoft.com/office/drawing/2014/main" id="{35B0062A-BF09-C6F4-F180-AEDF117CC8A0}"/>
              </a:ext>
            </a:extLst>
          </p:cNvPr>
          <p:cNvSpPr txBox="1"/>
          <p:nvPr/>
        </p:nvSpPr>
        <p:spPr>
          <a:xfrm>
            <a:off x="6346275" y="5881833"/>
            <a:ext cx="793019" cy="261610"/>
          </a:xfrm>
          <a:prstGeom prst="rect">
            <a:avLst/>
          </a:prstGeom>
          <a:noFill/>
        </p:spPr>
        <p:txBody>
          <a:bodyPr wrap="square" rtlCol="0">
            <a:spAutoFit/>
          </a:bodyPr>
          <a:lstStyle/>
          <a:p>
            <a:r>
              <a:rPr lang="en-US" sz="1100"/>
              <a:t>(728,)</a:t>
            </a:r>
          </a:p>
        </p:txBody>
      </p:sp>
      <p:sp>
        <p:nvSpPr>
          <p:cNvPr id="15" name="TextBox 14">
            <a:extLst>
              <a:ext uri="{FF2B5EF4-FFF2-40B4-BE49-F238E27FC236}">
                <a16:creationId xmlns:a16="http://schemas.microsoft.com/office/drawing/2014/main" id="{3F10686E-CA95-8B81-62EB-FF4C810603E9}"/>
              </a:ext>
            </a:extLst>
          </p:cNvPr>
          <p:cNvSpPr txBox="1"/>
          <p:nvPr/>
        </p:nvSpPr>
        <p:spPr>
          <a:xfrm>
            <a:off x="11620911" y="5946256"/>
            <a:ext cx="793019" cy="261610"/>
          </a:xfrm>
          <a:prstGeom prst="rect">
            <a:avLst/>
          </a:prstGeom>
          <a:noFill/>
        </p:spPr>
        <p:txBody>
          <a:bodyPr wrap="square" rtlCol="0">
            <a:spAutoFit/>
          </a:bodyPr>
          <a:lstStyle/>
          <a:p>
            <a:r>
              <a:rPr lang="en-US" sz="1100"/>
              <a:t>(640,)</a:t>
            </a:r>
          </a:p>
        </p:txBody>
      </p:sp>
    </p:spTree>
    <p:extLst>
      <p:ext uri="{BB962C8B-B14F-4D97-AF65-F5344CB8AC3E}">
        <p14:creationId xmlns:p14="http://schemas.microsoft.com/office/powerpoint/2010/main" val="3973398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709A0-63FF-B43D-C3CC-FC440211414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E24994-7F0A-C20D-2BA9-E6DBFF628FD8}"/>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49</a:t>
            </a:fld>
            <a:endParaRPr lang="en-US">
              <a:solidFill>
                <a:srgbClr val="000000"/>
              </a:solidFill>
              <a:latin typeface="Segoe UI"/>
            </a:endParaRPr>
          </a:p>
        </p:txBody>
      </p:sp>
      <p:sp>
        <p:nvSpPr>
          <p:cNvPr id="19" name="!!6">
            <a:extLst>
              <a:ext uri="{FF2B5EF4-FFF2-40B4-BE49-F238E27FC236}">
                <a16:creationId xmlns:a16="http://schemas.microsoft.com/office/drawing/2014/main" id="{37ADCB1C-399F-C1ED-BCA8-7F792AF9846C}"/>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Gene Ranking </a:t>
            </a:r>
            <a:r>
              <a:rPr lang="en-US" altLang="zh-CN" sz="4000" b="1" dirty="0">
                <a:solidFill>
                  <a:srgbClr val="1B4C9C"/>
                </a:solidFill>
                <a:latin typeface="Arial" panose="020B0604020202020204" pitchFamily="34" charset="0"/>
                <a:cs typeface="Arial" panose="020B0604020202020204" pitchFamily="34" charset="0"/>
              </a:rPr>
              <a:t>Model</a:t>
            </a:r>
            <a:r>
              <a:rPr lang="en-US" altLang="zh-CN" sz="4000" b="1">
                <a:solidFill>
                  <a:srgbClr val="1B4C9C"/>
                </a:solidFill>
                <a:latin typeface="Arial" panose="020B0604020202020204" pitchFamily="34" charset="0"/>
                <a:cs typeface="Arial" panose="020B0604020202020204" pitchFamily="34" charset="0"/>
              </a:rPr>
              <a:t>: R-GCN</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2" name="Oval 1">
            <a:extLst>
              <a:ext uri="{FF2B5EF4-FFF2-40B4-BE49-F238E27FC236}">
                <a16:creationId xmlns:a16="http://schemas.microsoft.com/office/drawing/2014/main" id="{E3638295-BE81-8E96-5A01-764147F12FC6}"/>
              </a:ext>
            </a:extLst>
          </p:cNvPr>
          <p:cNvSpPr/>
          <p:nvPr/>
        </p:nvSpPr>
        <p:spPr>
          <a:xfrm>
            <a:off x="5135670" y="2448974"/>
            <a:ext cx="1210605" cy="1184251"/>
          </a:xfrm>
          <a:prstGeom prst="ellipse">
            <a:avLst/>
          </a:prstGeom>
          <a:solidFill>
            <a:srgbClr val="89DA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 name="Oval 2">
            <a:extLst>
              <a:ext uri="{FF2B5EF4-FFF2-40B4-BE49-F238E27FC236}">
                <a16:creationId xmlns:a16="http://schemas.microsoft.com/office/drawing/2014/main" id="{3F743AC6-A1A9-C041-853C-D381551FE92F}"/>
              </a:ext>
            </a:extLst>
          </p:cNvPr>
          <p:cNvSpPr/>
          <p:nvPr/>
        </p:nvSpPr>
        <p:spPr>
          <a:xfrm>
            <a:off x="2594773" y="5175982"/>
            <a:ext cx="1210605" cy="1184251"/>
          </a:xfrm>
          <a:prstGeom prst="ellipse">
            <a:avLst/>
          </a:prstGeom>
          <a:solidFill>
            <a:srgbClr val="3E8E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68DD79E0-8D7E-36C5-1C5D-1C5D6D9FB4C1}"/>
              </a:ext>
            </a:extLst>
          </p:cNvPr>
          <p:cNvSpPr/>
          <p:nvPr/>
        </p:nvSpPr>
        <p:spPr>
          <a:xfrm>
            <a:off x="8167629" y="5175982"/>
            <a:ext cx="1210605" cy="1184251"/>
          </a:xfrm>
          <a:prstGeom prst="ellipse">
            <a:avLst/>
          </a:prstGeom>
          <a:solidFill>
            <a:srgbClr val="A461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ait2">
            <a:extLst>
              <a:ext uri="{FF2B5EF4-FFF2-40B4-BE49-F238E27FC236}">
                <a16:creationId xmlns:a16="http://schemas.microsoft.com/office/drawing/2014/main" id="{35B4488E-4F45-0068-BE4F-C2E52696FAC0}"/>
              </a:ext>
            </a:extLst>
          </p:cNvPr>
          <p:cNvSpPr txBox="1"/>
          <p:nvPr/>
        </p:nvSpPr>
        <p:spPr>
          <a:xfrm>
            <a:off x="5616069" y="2875541"/>
            <a:ext cx="2879314" cy="461665"/>
          </a:xfrm>
          <a:prstGeom prst="rect">
            <a:avLst/>
          </a:prstGeom>
          <a:noFill/>
        </p:spPr>
        <p:txBody>
          <a:bodyPr wrap="none" rtlCol="0">
            <a:spAutoFit/>
          </a:bodyPr>
          <a:lstStyle/>
          <a:p>
            <a:r>
              <a:rPr lang="en-US"/>
              <a:t>[0.34, -0.52, …, 0.49]</a:t>
            </a:r>
          </a:p>
        </p:txBody>
      </p:sp>
      <p:sp>
        <p:nvSpPr>
          <p:cNvPr id="7" name="!!trait1">
            <a:extLst>
              <a:ext uri="{FF2B5EF4-FFF2-40B4-BE49-F238E27FC236}">
                <a16:creationId xmlns:a16="http://schemas.microsoft.com/office/drawing/2014/main" id="{BC5461C8-A3C4-7B28-2B35-171C42DAC21D}"/>
              </a:ext>
            </a:extLst>
          </p:cNvPr>
          <p:cNvSpPr txBox="1"/>
          <p:nvPr/>
        </p:nvSpPr>
        <p:spPr>
          <a:xfrm>
            <a:off x="3027122" y="5583441"/>
            <a:ext cx="2879314" cy="461665"/>
          </a:xfrm>
          <a:prstGeom prst="rect">
            <a:avLst/>
          </a:prstGeom>
          <a:noFill/>
        </p:spPr>
        <p:txBody>
          <a:bodyPr wrap="none" rtlCol="0">
            <a:spAutoFit/>
          </a:bodyPr>
          <a:lstStyle/>
          <a:p>
            <a:r>
              <a:rPr lang="en-US"/>
              <a:t>[0.14, -0.31, …, 0.28]</a:t>
            </a:r>
          </a:p>
        </p:txBody>
      </p:sp>
      <p:sp>
        <p:nvSpPr>
          <p:cNvPr id="8" name="!!gene1">
            <a:extLst>
              <a:ext uri="{FF2B5EF4-FFF2-40B4-BE49-F238E27FC236}">
                <a16:creationId xmlns:a16="http://schemas.microsoft.com/office/drawing/2014/main" id="{1E4F0110-F90A-4F5D-8A58-C0BB54DEA8C7}"/>
              </a:ext>
            </a:extLst>
          </p:cNvPr>
          <p:cNvSpPr txBox="1"/>
          <p:nvPr/>
        </p:nvSpPr>
        <p:spPr>
          <a:xfrm>
            <a:off x="8495383" y="5567221"/>
            <a:ext cx="2755883" cy="461665"/>
          </a:xfrm>
          <a:prstGeom prst="rect">
            <a:avLst/>
          </a:prstGeom>
          <a:noFill/>
        </p:spPr>
        <p:txBody>
          <a:bodyPr wrap="none" rtlCol="0">
            <a:spAutoFit/>
          </a:bodyPr>
          <a:lstStyle/>
          <a:p>
            <a:r>
              <a:rPr lang="en-US"/>
              <a:t>[0.83, 0.72, …, 0.12]</a:t>
            </a:r>
          </a:p>
        </p:txBody>
      </p:sp>
      <p:cxnSp>
        <p:nvCxnSpPr>
          <p:cNvPr id="9" name="Straight Connector 8">
            <a:extLst>
              <a:ext uri="{FF2B5EF4-FFF2-40B4-BE49-F238E27FC236}">
                <a16:creationId xmlns:a16="http://schemas.microsoft.com/office/drawing/2014/main" id="{0B5DD487-2C78-8903-3B6D-FD114467EF49}"/>
              </a:ext>
            </a:extLst>
          </p:cNvPr>
          <p:cNvCxnSpPr>
            <a:cxnSpLocks/>
            <a:endCxn id="2" idx="3"/>
          </p:cNvCxnSpPr>
          <p:nvPr/>
        </p:nvCxnSpPr>
        <p:spPr>
          <a:xfrm flipV="1">
            <a:off x="3222749" y="3459795"/>
            <a:ext cx="2090210" cy="2104582"/>
          </a:xfrm>
          <a:prstGeom prst="line">
            <a:avLst/>
          </a:prstGeom>
          <a:ln w="38100">
            <a:solidFill>
              <a:srgbClr val="3E8E4D"/>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1D007C59-0391-CA2B-0E45-22074CDEB93F}"/>
              </a:ext>
            </a:extLst>
          </p:cNvPr>
          <p:cNvCxnSpPr>
            <a:cxnSpLocks/>
            <a:stCxn id="2" idx="5"/>
          </p:cNvCxnSpPr>
          <p:nvPr/>
        </p:nvCxnSpPr>
        <p:spPr>
          <a:xfrm>
            <a:off x="6168986" y="3459795"/>
            <a:ext cx="2457965" cy="2134040"/>
          </a:xfrm>
          <a:prstGeom prst="line">
            <a:avLst/>
          </a:prstGeom>
          <a:ln w="38100">
            <a:solidFill>
              <a:srgbClr val="A461F4"/>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DB79FEA-890E-6942-52AC-1C56E7318447}"/>
              </a:ext>
            </a:extLst>
          </p:cNvPr>
          <p:cNvSpPr txBox="1"/>
          <p:nvPr/>
        </p:nvSpPr>
        <p:spPr>
          <a:xfrm>
            <a:off x="3523740" y="3929493"/>
            <a:ext cx="744114" cy="369332"/>
          </a:xfrm>
          <a:prstGeom prst="rect">
            <a:avLst/>
          </a:prstGeom>
          <a:noFill/>
        </p:spPr>
        <p:txBody>
          <a:bodyPr wrap="none" rtlCol="0">
            <a:spAutoFit/>
          </a:bodyPr>
          <a:lstStyle/>
          <a:p>
            <a:r>
              <a:rPr lang="en-US"/>
              <a:t>0.796</a:t>
            </a:r>
          </a:p>
        </p:txBody>
      </p:sp>
      <p:sp>
        <p:nvSpPr>
          <p:cNvPr id="12" name="TextBox 11">
            <a:extLst>
              <a:ext uri="{FF2B5EF4-FFF2-40B4-BE49-F238E27FC236}">
                <a16:creationId xmlns:a16="http://schemas.microsoft.com/office/drawing/2014/main" id="{B34AC8D3-7EAF-AADE-4457-E21243B4AA2B}"/>
              </a:ext>
            </a:extLst>
          </p:cNvPr>
          <p:cNvSpPr txBox="1"/>
          <p:nvPr/>
        </p:nvSpPr>
        <p:spPr>
          <a:xfrm>
            <a:off x="7397968" y="4189309"/>
            <a:ext cx="744114" cy="369332"/>
          </a:xfrm>
          <a:prstGeom prst="rect">
            <a:avLst/>
          </a:prstGeom>
          <a:noFill/>
        </p:spPr>
        <p:txBody>
          <a:bodyPr wrap="none" rtlCol="0">
            <a:spAutoFit/>
          </a:bodyPr>
          <a:lstStyle/>
          <a:p>
            <a:r>
              <a:rPr lang="en-US"/>
              <a:t>0.500</a:t>
            </a:r>
          </a:p>
        </p:txBody>
      </p:sp>
      <p:sp>
        <p:nvSpPr>
          <p:cNvPr id="13" name="TextBox 12">
            <a:extLst>
              <a:ext uri="{FF2B5EF4-FFF2-40B4-BE49-F238E27FC236}">
                <a16:creationId xmlns:a16="http://schemas.microsoft.com/office/drawing/2014/main" id="{E64C2980-45F0-402A-1D2F-91D0AB920B13}"/>
              </a:ext>
            </a:extLst>
          </p:cNvPr>
          <p:cNvSpPr txBox="1"/>
          <p:nvPr/>
        </p:nvSpPr>
        <p:spPr>
          <a:xfrm>
            <a:off x="5696314" y="5924695"/>
            <a:ext cx="793019" cy="261610"/>
          </a:xfrm>
          <a:prstGeom prst="rect">
            <a:avLst/>
          </a:prstGeom>
          <a:noFill/>
        </p:spPr>
        <p:txBody>
          <a:bodyPr wrap="square" rtlCol="0">
            <a:spAutoFit/>
          </a:bodyPr>
          <a:lstStyle/>
          <a:p>
            <a:r>
              <a:rPr lang="en-US" sz="1100"/>
              <a:t>(128,)</a:t>
            </a:r>
          </a:p>
        </p:txBody>
      </p:sp>
      <p:sp>
        <p:nvSpPr>
          <p:cNvPr id="14" name="TextBox 13">
            <a:extLst>
              <a:ext uri="{FF2B5EF4-FFF2-40B4-BE49-F238E27FC236}">
                <a16:creationId xmlns:a16="http://schemas.microsoft.com/office/drawing/2014/main" id="{7E9E1E56-C28C-52D4-C910-05EE7EF501E2}"/>
              </a:ext>
            </a:extLst>
          </p:cNvPr>
          <p:cNvSpPr txBox="1"/>
          <p:nvPr/>
        </p:nvSpPr>
        <p:spPr>
          <a:xfrm>
            <a:off x="8259196" y="3164525"/>
            <a:ext cx="793019" cy="261610"/>
          </a:xfrm>
          <a:prstGeom prst="rect">
            <a:avLst/>
          </a:prstGeom>
          <a:noFill/>
        </p:spPr>
        <p:txBody>
          <a:bodyPr wrap="square" rtlCol="0">
            <a:spAutoFit/>
          </a:bodyPr>
          <a:lstStyle/>
          <a:p>
            <a:r>
              <a:rPr lang="en-US" sz="1100"/>
              <a:t>(128,)</a:t>
            </a:r>
          </a:p>
        </p:txBody>
      </p:sp>
      <p:sp>
        <p:nvSpPr>
          <p:cNvPr id="15" name="TextBox 14">
            <a:extLst>
              <a:ext uri="{FF2B5EF4-FFF2-40B4-BE49-F238E27FC236}">
                <a16:creationId xmlns:a16="http://schemas.microsoft.com/office/drawing/2014/main" id="{C06B9ABD-D988-DFBC-FDA2-2535ED9FDA19}"/>
              </a:ext>
            </a:extLst>
          </p:cNvPr>
          <p:cNvSpPr txBox="1"/>
          <p:nvPr/>
        </p:nvSpPr>
        <p:spPr>
          <a:xfrm>
            <a:off x="11073137" y="5783496"/>
            <a:ext cx="793019" cy="261610"/>
          </a:xfrm>
          <a:prstGeom prst="rect">
            <a:avLst/>
          </a:prstGeom>
          <a:noFill/>
        </p:spPr>
        <p:txBody>
          <a:bodyPr wrap="square" rtlCol="0">
            <a:spAutoFit/>
          </a:bodyPr>
          <a:lstStyle/>
          <a:p>
            <a:r>
              <a:rPr lang="en-US" sz="1100"/>
              <a:t>(128,)</a:t>
            </a:r>
          </a:p>
        </p:txBody>
      </p:sp>
      <p:sp>
        <p:nvSpPr>
          <p:cNvPr id="16" name="sometin">
            <a:extLst>
              <a:ext uri="{FF2B5EF4-FFF2-40B4-BE49-F238E27FC236}">
                <a16:creationId xmlns:a16="http://schemas.microsoft.com/office/drawing/2014/main" id="{F5E64FF7-A316-F8CE-8D13-98310533DC30}"/>
              </a:ext>
            </a:extLst>
          </p:cNvPr>
          <p:cNvSpPr/>
          <p:nvPr/>
        </p:nvSpPr>
        <p:spPr bwMode="auto">
          <a:xfrm>
            <a:off x="376644" y="976167"/>
            <a:ext cx="11438712" cy="1341219"/>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These embeddings were multiplied with a learnable projection matrix, (separate for </a:t>
            </a:r>
            <a:r>
              <a:rPr lang="en-US" sz="2800" i="1" err="1">
                <a:solidFill>
                  <a:schemeClr val="tx1"/>
                </a:solidFill>
                <a:latin typeface="Arial" panose="020B0604020202020204" pitchFamily="34" charset="0"/>
                <a:cs typeface="Arial" panose="020B0604020202020204" pitchFamily="34" charset="0"/>
              </a:rPr>
              <a:t>distillBERT</a:t>
            </a:r>
            <a:r>
              <a:rPr lang="en-US" sz="2800" i="1">
                <a:solidFill>
                  <a:schemeClr val="tx1"/>
                </a:solidFill>
                <a:latin typeface="Arial" panose="020B0604020202020204" pitchFamily="34" charset="0"/>
                <a:cs typeface="Arial" panose="020B0604020202020204" pitchFamily="34" charset="0"/>
              </a:rPr>
              <a:t> </a:t>
            </a:r>
            <a:r>
              <a:rPr lang="en-US" sz="2800">
                <a:solidFill>
                  <a:schemeClr val="tx1"/>
                </a:solidFill>
                <a:latin typeface="Arial" panose="020B0604020202020204" pitchFamily="34" charset="0"/>
                <a:cs typeface="Arial" panose="020B0604020202020204" pitchFamily="34" charset="0"/>
              </a:rPr>
              <a:t>and </a:t>
            </a:r>
            <a:r>
              <a:rPr lang="en-US" sz="2800" i="1">
                <a:solidFill>
                  <a:schemeClr val="tx1"/>
                </a:solidFill>
                <a:latin typeface="Arial" panose="020B0604020202020204" pitchFamily="34" charset="0"/>
                <a:cs typeface="Arial" panose="020B0604020202020204" pitchFamily="34" charset="0"/>
              </a:rPr>
              <a:t>ESM-2</a:t>
            </a:r>
            <a:r>
              <a:rPr lang="en-US" sz="2800">
                <a:solidFill>
                  <a:schemeClr val="tx1"/>
                </a:solidFill>
                <a:latin typeface="Arial" panose="020B0604020202020204" pitchFamily="34" charset="0"/>
                <a:cs typeface="Arial" panose="020B0604020202020204" pitchFamily="34" charset="0"/>
              </a:rPr>
              <a:t>), to reduce the embedding size</a:t>
            </a:r>
          </a:p>
        </p:txBody>
      </p:sp>
    </p:spTree>
    <p:extLst>
      <p:ext uri="{BB962C8B-B14F-4D97-AF65-F5344CB8AC3E}">
        <p14:creationId xmlns:p14="http://schemas.microsoft.com/office/powerpoint/2010/main" val="15338630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AB04E-909D-E808-9F7C-E19616767C3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2C8947-5565-FDE3-0015-F5C18A90A5F4}"/>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50</a:t>
            </a:fld>
            <a:endParaRPr lang="en-US">
              <a:solidFill>
                <a:srgbClr val="000000"/>
              </a:solidFill>
              <a:latin typeface="Segoe UI"/>
            </a:endParaRPr>
          </a:p>
        </p:txBody>
      </p:sp>
      <p:sp>
        <p:nvSpPr>
          <p:cNvPr id="19" name="!!6">
            <a:extLst>
              <a:ext uri="{FF2B5EF4-FFF2-40B4-BE49-F238E27FC236}">
                <a16:creationId xmlns:a16="http://schemas.microsoft.com/office/drawing/2014/main" id="{1ADF1039-4212-292C-100D-BC76429030FB}"/>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Gene Ranking </a:t>
            </a:r>
            <a:r>
              <a:rPr lang="en-US" altLang="zh-CN" sz="4000" b="1" dirty="0">
                <a:solidFill>
                  <a:srgbClr val="1B4C9C"/>
                </a:solidFill>
                <a:latin typeface="Arial" panose="020B0604020202020204" pitchFamily="34" charset="0"/>
                <a:cs typeface="Arial" panose="020B0604020202020204" pitchFamily="34" charset="0"/>
              </a:rPr>
              <a:t>Model</a:t>
            </a:r>
            <a:r>
              <a:rPr lang="en-US" altLang="zh-CN" sz="4000" b="1">
                <a:solidFill>
                  <a:srgbClr val="1B4C9C"/>
                </a:solidFill>
                <a:latin typeface="Arial" panose="020B0604020202020204" pitchFamily="34" charset="0"/>
                <a:cs typeface="Arial" panose="020B0604020202020204" pitchFamily="34" charset="0"/>
              </a:rPr>
              <a:t>: R-GCN</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2" name="Oval 1">
            <a:extLst>
              <a:ext uri="{FF2B5EF4-FFF2-40B4-BE49-F238E27FC236}">
                <a16:creationId xmlns:a16="http://schemas.microsoft.com/office/drawing/2014/main" id="{0238F068-6251-6A3D-9EB0-433C4F6C1110}"/>
              </a:ext>
            </a:extLst>
          </p:cNvPr>
          <p:cNvSpPr/>
          <p:nvPr/>
        </p:nvSpPr>
        <p:spPr>
          <a:xfrm>
            <a:off x="5135670" y="2448974"/>
            <a:ext cx="1210605" cy="1184251"/>
          </a:xfrm>
          <a:prstGeom prst="ellipse">
            <a:avLst/>
          </a:prstGeom>
          <a:solidFill>
            <a:srgbClr val="89DA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 name="Oval 2">
            <a:extLst>
              <a:ext uri="{FF2B5EF4-FFF2-40B4-BE49-F238E27FC236}">
                <a16:creationId xmlns:a16="http://schemas.microsoft.com/office/drawing/2014/main" id="{8FF9C86E-A2EF-E521-3DC1-07052309F229}"/>
              </a:ext>
            </a:extLst>
          </p:cNvPr>
          <p:cNvSpPr/>
          <p:nvPr/>
        </p:nvSpPr>
        <p:spPr>
          <a:xfrm>
            <a:off x="2594773" y="5175982"/>
            <a:ext cx="1210605" cy="1184251"/>
          </a:xfrm>
          <a:prstGeom prst="ellipse">
            <a:avLst/>
          </a:prstGeom>
          <a:solidFill>
            <a:srgbClr val="3E8E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9A22646-CCE6-0665-49B8-CB15B83F3338}"/>
              </a:ext>
            </a:extLst>
          </p:cNvPr>
          <p:cNvSpPr/>
          <p:nvPr/>
        </p:nvSpPr>
        <p:spPr>
          <a:xfrm>
            <a:off x="8167629" y="5175982"/>
            <a:ext cx="1210605" cy="1184251"/>
          </a:xfrm>
          <a:prstGeom prst="ellipse">
            <a:avLst/>
          </a:prstGeom>
          <a:solidFill>
            <a:srgbClr val="A461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ait2">
            <a:extLst>
              <a:ext uri="{FF2B5EF4-FFF2-40B4-BE49-F238E27FC236}">
                <a16:creationId xmlns:a16="http://schemas.microsoft.com/office/drawing/2014/main" id="{3CAEA14B-7518-3A5C-D3B6-311A14BE8066}"/>
              </a:ext>
            </a:extLst>
          </p:cNvPr>
          <p:cNvSpPr txBox="1"/>
          <p:nvPr/>
        </p:nvSpPr>
        <p:spPr>
          <a:xfrm>
            <a:off x="5616069" y="2875541"/>
            <a:ext cx="2879314" cy="461665"/>
          </a:xfrm>
          <a:prstGeom prst="rect">
            <a:avLst/>
          </a:prstGeom>
          <a:noFill/>
        </p:spPr>
        <p:txBody>
          <a:bodyPr wrap="none" rtlCol="0">
            <a:spAutoFit/>
          </a:bodyPr>
          <a:lstStyle/>
          <a:p>
            <a:r>
              <a:rPr lang="en-US"/>
              <a:t>[0.34, -0.52, …, 0.49]</a:t>
            </a:r>
          </a:p>
        </p:txBody>
      </p:sp>
      <p:sp>
        <p:nvSpPr>
          <p:cNvPr id="7" name="!!trait1">
            <a:extLst>
              <a:ext uri="{FF2B5EF4-FFF2-40B4-BE49-F238E27FC236}">
                <a16:creationId xmlns:a16="http://schemas.microsoft.com/office/drawing/2014/main" id="{17C931C1-ECD1-8EA9-38D4-30FDDD2B2B85}"/>
              </a:ext>
            </a:extLst>
          </p:cNvPr>
          <p:cNvSpPr txBox="1"/>
          <p:nvPr/>
        </p:nvSpPr>
        <p:spPr>
          <a:xfrm>
            <a:off x="107179" y="3883323"/>
            <a:ext cx="2879314" cy="461665"/>
          </a:xfrm>
          <a:prstGeom prst="rect">
            <a:avLst/>
          </a:prstGeom>
          <a:noFill/>
        </p:spPr>
        <p:txBody>
          <a:bodyPr wrap="none" rtlCol="0">
            <a:spAutoFit/>
          </a:bodyPr>
          <a:lstStyle/>
          <a:p>
            <a:r>
              <a:rPr lang="en-US"/>
              <a:t>[0.14, -0.31, …, 0.28]</a:t>
            </a:r>
          </a:p>
        </p:txBody>
      </p:sp>
      <p:cxnSp>
        <p:nvCxnSpPr>
          <p:cNvPr id="9" name="Straight Connector 8">
            <a:extLst>
              <a:ext uri="{FF2B5EF4-FFF2-40B4-BE49-F238E27FC236}">
                <a16:creationId xmlns:a16="http://schemas.microsoft.com/office/drawing/2014/main" id="{F1D90238-D82B-7E5E-B73C-D58AB34B3EB2}"/>
              </a:ext>
            </a:extLst>
          </p:cNvPr>
          <p:cNvCxnSpPr>
            <a:cxnSpLocks/>
            <a:endCxn id="2" idx="3"/>
          </p:cNvCxnSpPr>
          <p:nvPr/>
        </p:nvCxnSpPr>
        <p:spPr>
          <a:xfrm flipV="1">
            <a:off x="3222749" y="3459795"/>
            <a:ext cx="2090210" cy="2104582"/>
          </a:xfrm>
          <a:prstGeom prst="line">
            <a:avLst/>
          </a:prstGeom>
          <a:ln w="38100">
            <a:solidFill>
              <a:srgbClr val="3E8E4D"/>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F521DA5-FFAC-8FAB-C672-BBF9D58F8039}"/>
              </a:ext>
            </a:extLst>
          </p:cNvPr>
          <p:cNvCxnSpPr>
            <a:cxnSpLocks/>
            <a:stCxn id="2" idx="5"/>
          </p:cNvCxnSpPr>
          <p:nvPr/>
        </p:nvCxnSpPr>
        <p:spPr>
          <a:xfrm>
            <a:off x="6168986" y="3459795"/>
            <a:ext cx="2457965" cy="2134040"/>
          </a:xfrm>
          <a:prstGeom prst="line">
            <a:avLst/>
          </a:prstGeom>
          <a:ln w="38100">
            <a:solidFill>
              <a:srgbClr val="A461F4"/>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6D23C54-1AB7-3E4D-802D-37450C33DEF7}"/>
              </a:ext>
            </a:extLst>
          </p:cNvPr>
          <p:cNvSpPr txBox="1"/>
          <p:nvPr/>
        </p:nvSpPr>
        <p:spPr>
          <a:xfrm>
            <a:off x="3973992" y="3883323"/>
            <a:ext cx="744114" cy="369332"/>
          </a:xfrm>
          <a:prstGeom prst="rect">
            <a:avLst/>
          </a:prstGeom>
          <a:noFill/>
        </p:spPr>
        <p:txBody>
          <a:bodyPr wrap="none" rtlCol="0">
            <a:spAutoFit/>
          </a:bodyPr>
          <a:lstStyle/>
          <a:p>
            <a:r>
              <a:rPr lang="en-US"/>
              <a:t>0.796</a:t>
            </a:r>
          </a:p>
        </p:txBody>
      </p:sp>
      <p:sp>
        <p:nvSpPr>
          <p:cNvPr id="16" name="sometin">
            <a:extLst>
              <a:ext uri="{FF2B5EF4-FFF2-40B4-BE49-F238E27FC236}">
                <a16:creationId xmlns:a16="http://schemas.microsoft.com/office/drawing/2014/main" id="{ACC0737D-2085-D200-8E8B-25C6D829751A}"/>
              </a:ext>
            </a:extLst>
          </p:cNvPr>
          <p:cNvSpPr/>
          <p:nvPr/>
        </p:nvSpPr>
        <p:spPr bwMode="auto">
          <a:xfrm>
            <a:off x="376644" y="976167"/>
            <a:ext cx="11438712" cy="1341219"/>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These embeddings were multiplied with a learnable projection matrix, (separate for </a:t>
            </a:r>
            <a:r>
              <a:rPr lang="en-US" sz="2800" i="1" err="1">
                <a:solidFill>
                  <a:schemeClr val="tx1"/>
                </a:solidFill>
                <a:latin typeface="Arial" panose="020B0604020202020204" pitchFamily="34" charset="0"/>
                <a:cs typeface="Arial" panose="020B0604020202020204" pitchFamily="34" charset="0"/>
              </a:rPr>
              <a:t>distillBERT</a:t>
            </a:r>
            <a:r>
              <a:rPr lang="en-US" sz="2800" i="1">
                <a:solidFill>
                  <a:schemeClr val="tx1"/>
                </a:solidFill>
                <a:latin typeface="Arial" panose="020B0604020202020204" pitchFamily="34" charset="0"/>
                <a:cs typeface="Arial" panose="020B0604020202020204" pitchFamily="34" charset="0"/>
              </a:rPr>
              <a:t> </a:t>
            </a:r>
            <a:r>
              <a:rPr lang="en-US" sz="2800">
                <a:solidFill>
                  <a:schemeClr val="tx1"/>
                </a:solidFill>
                <a:latin typeface="Arial" panose="020B0604020202020204" pitchFamily="34" charset="0"/>
                <a:cs typeface="Arial" panose="020B0604020202020204" pitchFamily="34" charset="0"/>
              </a:rPr>
              <a:t>and </a:t>
            </a:r>
            <a:r>
              <a:rPr lang="en-US" sz="2800" i="1">
                <a:solidFill>
                  <a:schemeClr val="tx1"/>
                </a:solidFill>
                <a:latin typeface="Arial" panose="020B0604020202020204" pitchFamily="34" charset="0"/>
                <a:cs typeface="Arial" panose="020B0604020202020204" pitchFamily="34" charset="0"/>
              </a:rPr>
              <a:t>ESM-2</a:t>
            </a:r>
            <a:r>
              <a:rPr lang="en-US" sz="2800">
                <a:solidFill>
                  <a:schemeClr val="tx1"/>
                </a:solidFill>
                <a:latin typeface="Arial" panose="020B0604020202020204" pitchFamily="34" charset="0"/>
                <a:cs typeface="Arial" panose="020B0604020202020204" pitchFamily="34" charset="0"/>
              </a:rPr>
              <a:t>), to reduce the embedding size</a:t>
            </a:r>
          </a:p>
        </p:txBody>
      </p:sp>
      <p:sp>
        <p:nvSpPr>
          <p:cNvPr id="20" name="TextBox 19">
            <a:extLst>
              <a:ext uri="{FF2B5EF4-FFF2-40B4-BE49-F238E27FC236}">
                <a16:creationId xmlns:a16="http://schemas.microsoft.com/office/drawing/2014/main" id="{5A09844A-5A4D-84CD-22C4-F120D147E394}"/>
              </a:ext>
            </a:extLst>
          </p:cNvPr>
          <p:cNvSpPr txBox="1"/>
          <p:nvPr/>
        </p:nvSpPr>
        <p:spPr>
          <a:xfrm>
            <a:off x="23336" y="3883324"/>
            <a:ext cx="347128" cy="461665"/>
          </a:xfrm>
          <a:prstGeom prst="rect">
            <a:avLst/>
          </a:prstGeom>
          <a:noFill/>
        </p:spPr>
        <p:txBody>
          <a:bodyPr wrap="square">
            <a:spAutoFit/>
          </a:bodyPr>
          <a:lstStyle/>
          <a:p>
            <a:r>
              <a:rPr lang="en-US"/>
              <a:t>(</a:t>
            </a:r>
          </a:p>
        </p:txBody>
      </p:sp>
      <p:sp>
        <p:nvSpPr>
          <p:cNvPr id="24" name="TextBox 23">
            <a:extLst>
              <a:ext uri="{FF2B5EF4-FFF2-40B4-BE49-F238E27FC236}">
                <a16:creationId xmlns:a16="http://schemas.microsoft.com/office/drawing/2014/main" id="{E49CE063-54EA-50E6-E6C6-1B32337F05B6}"/>
              </a:ext>
            </a:extLst>
          </p:cNvPr>
          <p:cNvSpPr txBox="1"/>
          <p:nvPr/>
        </p:nvSpPr>
        <p:spPr>
          <a:xfrm>
            <a:off x="3751764" y="3846072"/>
            <a:ext cx="156969" cy="461665"/>
          </a:xfrm>
          <a:prstGeom prst="rect">
            <a:avLst/>
          </a:prstGeom>
          <a:noFill/>
        </p:spPr>
        <p:txBody>
          <a:bodyPr wrap="square">
            <a:spAutoFit/>
          </a:bodyPr>
          <a:lstStyle/>
          <a:p>
            <a:r>
              <a:rPr lang="en-US"/>
              <a:t>)</a:t>
            </a:r>
          </a:p>
        </p:txBody>
      </p:sp>
      <p:sp>
        <p:nvSpPr>
          <p:cNvPr id="25" name="TextBox 24">
            <a:extLst>
              <a:ext uri="{FF2B5EF4-FFF2-40B4-BE49-F238E27FC236}">
                <a16:creationId xmlns:a16="http://schemas.microsoft.com/office/drawing/2014/main" id="{8A479437-AD11-7D7F-C798-A9BCB3746CAC}"/>
              </a:ext>
            </a:extLst>
          </p:cNvPr>
          <p:cNvSpPr txBox="1"/>
          <p:nvPr/>
        </p:nvSpPr>
        <p:spPr>
          <a:xfrm>
            <a:off x="8374688" y="4178751"/>
            <a:ext cx="347128" cy="461665"/>
          </a:xfrm>
          <a:prstGeom prst="rect">
            <a:avLst/>
          </a:prstGeom>
          <a:noFill/>
        </p:spPr>
        <p:txBody>
          <a:bodyPr wrap="square">
            <a:spAutoFit/>
          </a:bodyPr>
          <a:lstStyle/>
          <a:p>
            <a:r>
              <a:rPr lang="en-US"/>
              <a:t>(</a:t>
            </a:r>
          </a:p>
        </p:txBody>
      </p:sp>
      <p:sp>
        <p:nvSpPr>
          <p:cNvPr id="29" name="TextBox 28">
            <a:extLst>
              <a:ext uri="{FF2B5EF4-FFF2-40B4-BE49-F238E27FC236}">
                <a16:creationId xmlns:a16="http://schemas.microsoft.com/office/drawing/2014/main" id="{8B566590-7E64-E3BD-EE0D-6EE760FFD2FC}"/>
              </a:ext>
            </a:extLst>
          </p:cNvPr>
          <p:cNvSpPr txBox="1"/>
          <p:nvPr/>
        </p:nvSpPr>
        <p:spPr>
          <a:xfrm>
            <a:off x="2767999" y="3894163"/>
            <a:ext cx="450949" cy="461665"/>
          </a:xfrm>
          <a:prstGeom prst="rect">
            <a:avLst/>
          </a:prstGeom>
          <a:noFill/>
        </p:spPr>
        <p:txBody>
          <a:bodyPr wrap="square">
            <a:spAutoFit/>
          </a:bodyPr>
          <a:lstStyle/>
          <a:p>
            <a:r>
              <a:rPr lang="en-US"/>
              <a:t>@</a:t>
            </a:r>
          </a:p>
        </p:txBody>
      </p:sp>
      <p:sp>
        <p:nvSpPr>
          <p:cNvPr id="32" name="TextBox 31">
            <a:extLst>
              <a:ext uri="{FF2B5EF4-FFF2-40B4-BE49-F238E27FC236}">
                <a16:creationId xmlns:a16="http://schemas.microsoft.com/office/drawing/2014/main" id="{FA90A53B-2AF5-3BC0-EED1-8F1BB7C6EEC0}"/>
              </a:ext>
            </a:extLst>
          </p:cNvPr>
          <p:cNvSpPr txBox="1"/>
          <p:nvPr/>
        </p:nvSpPr>
        <p:spPr>
          <a:xfrm>
            <a:off x="3041199" y="3894163"/>
            <a:ext cx="832189" cy="472504"/>
          </a:xfrm>
          <a:prstGeom prst="rect">
            <a:avLst/>
          </a:prstGeom>
          <a:noFill/>
        </p:spPr>
        <p:txBody>
          <a:bodyPr wrap="square">
            <a:spAutoFit/>
          </a:bodyPr>
          <a:lstStyle/>
          <a:p>
            <a:r>
              <a:rPr lang="en-US" err="1"/>
              <a:t>W</a:t>
            </a:r>
            <a:r>
              <a:rPr lang="en-US" baseline="-25000" err="1"/>
              <a:t>text</a:t>
            </a:r>
            <a:endParaRPr lang="en-US"/>
          </a:p>
        </p:txBody>
      </p:sp>
      <p:sp>
        <p:nvSpPr>
          <p:cNvPr id="33" name="TextBox 32">
            <a:extLst>
              <a:ext uri="{FF2B5EF4-FFF2-40B4-BE49-F238E27FC236}">
                <a16:creationId xmlns:a16="http://schemas.microsoft.com/office/drawing/2014/main" id="{14B20B2B-3982-D4F9-C9ED-9A5976569865}"/>
              </a:ext>
            </a:extLst>
          </p:cNvPr>
          <p:cNvSpPr txBox="1"/>
          <p:nvPr/>
        </p:nvSpPr>
        <p:spPr>
          <a:xfrm>
            <a:off x="3842528" y="3846072"/>
            <a:ext cx="450949" cy="461665"/>
          </a:xfrm>
          <a:prstGeom prst="rect">
            <a:avLst/>
          </a:prstGeom>
          <a:noFill/>
        </p:spPr>
        <p:txBody>
          <a:bodyPr wrap="square">
            <a:spAutoFit/>
          </a:bodyPr>
          <a:lstStyle/>
          <a:p>
            <a:r>
              <a:rPr lang="en-US"/>
              <a:t>*</a:t>
            </a:r>
          </a:p>
        </p:txBody>
      </p:sp>
      <p:sp>
        <p:nvSpPr>
          <p:cNvPr id="34" name="TextBox 33">
            <a:extLst>
              <a:ext uri="{FF2B5EF4-FFF2-40B4-BE49-F238E27FC236}">
                <a16:creationId xmlns:a16="http://schemas.microsoft.com/office/drawing/2014/main" id="{3D278C0F-1691-0D39-CD3B-BBE95C6D6201}"/>
              </a:ext>
            </a:extLst>
          </p:cNvPr>
          <p:cNvSpPr txBox="1"/>
          <p:nvPr/>
        </p:nvSpPr>
        <p:spPr>
          <a:xfrm>
            <a:off x="11315431" y="4204400"/>
            <a:ext cx="832189" cy="472504"/>
          </a:xfrm>
          <a:prstGeom prst="rect">
            <a:avLst/>
          </a:prstGeom>
          <a:noFill/>
        </p:spPr>
        <p:txBody>
          <a:bodyPr wrap="square">
            <a:spAutoFit/>
          </a:bodyPr>
          <a:lstStyle/>
          <a:p>
            <a:r>
              <a:rPr lang="en-US" err="1"/>
              <a:t>W</a:t>
            </a:r>
            <a:r>
              <a:rPr lang="en-US" baseline="-25000" err="1"/>
              <a:t>qtl</a:t>
            </a:r>
            <a:endParaRPr lang="en-US"/>
          </a:p>
        </p:txBody>
      </p:sp>
      <p:sp>
        <p:nvSpPr>
          <p:cNvPr id="8" name="!!gene1">
            <a:extLst>
              <a:ext uri="{FF2B5EF4-FFF2-40B4-BE49-F238E27FC236}">
                <a16:creationId xmlns:a16="http://schemas.microsoft.com/office/drawing/2014/main" id="{E064D556-1FD6-06EB-98DB-2C34EA57F635}"/>
              </a:ext>
            </a:extLst>
          </p:cNvPr>
          <p:cNvSpPr txBox="1"/>
          <p:nvPr/>
        </p:nvSpPr>
        <p:spPr>
          <a:xfrm>
            <a:off x="8472560" y="4184345"/>
            <a:ext cx="2755883" cy="461665"/>
          </a:xfrm>
          <a:prstGeom prst="rect">
            <a:avLst/>
          </a:prstGeom>
          <a:noFill/>
        </p:spPr>
        <p:txBody>
          <a:bodyPr wrap="none" rtlCol="0">
            <a:spAutoFit/>
          </a:bodyPr>
          <a:lstStyle/>
          <a:p>
            <a:r>
              <a:rPr lang="en-US"/>
              <a:t>[0.83, 0.72, …, 0.12]</a:t>
            </a:r>
          </a:p>
        </p:txBody>
      </p:sp>
      <p:sp>
        <p:nvSpPr>
          <p:cNvPr id="12" name="TextBox 11">
            <a:extLst>
              <a:ext uri="{FF2B5EF4-FFF2-40B4-BE49-F238E27FC236}">
                <a16:creationId xmlns:a16="http://schemas.microsoft.com/office/drawing/2014/main" id="{81191E5A-CB40-9E3B-E5E3-EBF036A5A349}"/>
              </a:ext>
            </a:extLst>
          </p:cNvPr>
          <p:cNvSpPr txBox="1"/>
          <p:nvPr/>
        </p:nvSpPr>
        <p:spPr>
          <a:xfrm>
            <a:off x="7397968" y="4189309"/>
            <a:ext cx="744114" cy="369332"/>
          </a:xfrm>
          <a:prstGeom prst="rect">
            <a:avLst/>
          </a:prstGeom>
          <a:noFill/>
        </p:spPr>
        <p:txBody>
          <a:bodyPr wrap="none" rtlCol="0">
            <a:spAutoFit/>
          </a:bodyPr>
          <a:lstStyle/>
          <a:p>
            <a:r>
              <a:rPr lang="en-US"/>
              <a:t>0.500</a:t>
            </a:r>
          </a:p>
        </p:txBody>
      </p:sp>
      <p:sp>
        <p:nvSpPr>
          <p:cNvPr id="26" name="TextBox 25">
            <a:extLst>
              <a:ext uri="{FF2B5EF4-FFF2-40B4-BE49-F238E27FC236}">
                <a16:creationId xmlns:a16="http://schemas.microsoft.com/office/drawing/2014/main" id="{B6942B49-2B6E-11BF-0814-22040C872554}"/>
              </a:ext>
            </a:extLst>
          </p:cNvPr>
          <p:cNvSpPr txBox="1"/>
          <p:nvPr/>
        </p:nvSpPr>
        <p:spPr>
          <a:xfrm>
            <a:off x="11927852" y="4189309"/>
            <a:ext cx="156969" cy="461665"/>
          </a:xfrm>
          <a:prstGeom prst="rect">
            <a:avLst/>
          </a:prstGeom>
          <a:noFill/>
        </p:spPr>
        <p:txBody>
          <a:bodyPr wrap="square">
            <a:spAutoFit/>
          </a:bodyPr>
          <a:lstStyle/>
          <a:p>
            <a:r>
              <a:rPr lang="en-US"/>
              <a:t>)</a:t>
            </a:r>
          </a:p>
        </p:txBody>
      </p:sp>
      <p:sp>
        <p:nvSpPr>
          <p:cNvPr id="31" name="TextBox 30">
            <a:extLst>
              <a:ext uri="{FF2B5EF4-FFF2-40B4-BE49-F238E27FC236}">
                <a16:creationId xmlns:a16="http://schemas.microsoft.com/office/drawing/2014/main" id="{6B823301-2CE6-1B83-49AE-46996FB292FC}"/>
              </a:ext>
            </a:extLst>
          </p:cNvPr>
          <p:cNvSpPr txBox="1"/>
          <p:nvPr/>
        </p:nvSpPr>
        <p:spPr>
          <a:xfrm>
            <a:off x="11002967" y="4205970"/>
            <a:ext cx="450949" cy="461665"/>
          </a:xfrm>
          <a:prstGeom prst="rect">
            <a:avLst/>
          </a:prstGeom>
          <a:noFill/>
        </p:spPr>
        <p:txBody>
          <a:bodyPr wrap="square">
            <a:spAutoFit/>
          </a:bodyPr>
          <a:lstStyle/>
          <a:p>
            <a:r>
              <a:rPr lang="en-US"/>
              <a:t>@</a:t>
            </a:r>
          </a:p>
        </p:txBody>
      </p:sp>
      <p:sp>
        <p:nvSpPr>
          <p:cNvPr id="35" name="TextBox 34">
            <a:extLst>
              <a:ext uri="{FF2B5EF4-FFF2-40B4-BE49-F238E27FC236}">
                <a16:creationId xmlns:a16="http://schemas.microsoft.com/office/drawing/2014/main" id="{8DFEBFBE-EA38-D419-914A-6E2DE2D7757D}"/>
              </a:ext>
            </a:extLst>
          </p:cNvPr>
          <p:cNvSpPr txBox="1"/>
          <p:nvPr/>
        </p:nvSpPr>
        <p:spPr>
          <a:xfrm>
            <a:off x="8183442" y="4178750"/>
            <a:ext cx="347129" cy="461665"/>
          </a:xfrm>
          <a:prstGeom prst="rect">
            <a:avLst/>
          </a:prstGeom>
          <a:noFill/>
        </p:spPr>
        <p:txBody>
          <a:bodyPr wrap="square">
            <a:spAutoFit/>
          </a:bodyPr>
          <a:lstStyle/>
          <a:p>
            <a:r>
              <a:rPr lang="en-US"/>
              <a:t>*</a:t>
            </a:r>
          </a:p>
        </p:txBody>
      </p:sp>
      <p:sp>
        <p:nvSpPr>
          <p:cNvPr id="36" name="TextBox 35">
            <a:extLst>
              <a:ext uri="{FF2B5EF4-FFF2-40B4-BE49-F238E27FC236}">
                <a16:creationId xmlns:a16="http://schemas.microsoft.com/office/drawing/2014/main" id="{3907411E-78FF-AF08-2A62-C715BDFA0AF4}"/>
              </a:ext>
            </a:extLst>
          </p:cNvPr>
          <p:cNvSpPr txBox="1"/>
          <p:nvPr/>
        </p:nvSpPr>
        <p:spPr>
          <a:xfrm>
            <a:off x="8626951" y="2890320"/>
            <a:ext cx="950538" cy="461665"/>
          </a:xfrm>
          <a:prstGeom prst="rect">
            <a:avLst/>
          </a:prstGeom>
          <a:noFill/>
        </p:spPr>
        <p:txBody>
          <a:bodyPr wrap="square">
            <a:spAutoFit/>
          </a:bodyPr>
          <a:lstStyle/>
          <a:p>
            <a:r>
              <a:rPr lang="en-US" err="1"/>
              <a:t>W</a:t>
            </a:r>
            <a:r>
              <a:rPr lang="en-US" baseline="-25000" err="1"/>
              <a:t>root</a:t>
            </a:r>
            <a:endParaRPr lang="en-US"/>
          </a:p>
        </p:txBody>
      </p:sp>
      <p:sp>
        <p:nvSpPr>
          <p:cNvPr id="37" name="TextBox 36">
            <a:extLst>
              <a:ext uri="{FF2B5EF4-FFF2-40B4-BE49-F238E27FC236}">
                <a16:creationId xmlns:a16="http://schemas.microsoft.com/office/drawing/2014/main" id="{10C39B1B-CC95-7015-6D91-0D59013917CF}"/>
              </a:ext>
            </a:extLst>
          </p:cNvPr>
          <p:cNvSpPr txBox="1"/>
          <p:nvPr/>
        </p:nvSpPr>
        <p:spPr>
          <a:xfrm>
            <a:off x="8305096" y="2885335"/>
            <a:ext cx="450949" cy="461665"/>
          </a:xfrm>
          <a:prstGeom prst="rect">
            <a:avLst/>
          </a:prstGeom>
          <a:noFill/>
        </p:spPr>
        <p:txBody>
          <a:bodyPr wrap="square">
            <a:spAutoFit/>
          </a:bodyPr>
          <a:lstStyle/>
          <a:p>
            <a:r>
              <a:rPr lang="en-US"/>
              <a:t>@</a:t>
            </a:r>
          </a:p>
        </p:txBody>
      </p:sp>
      <p:sp>
        <p:nvSpPr>
          <p:cNvPr id="39" name="TextBox 38">
            <a:extLst>
              <a:ext uri="{FF2B5EF4-FFF2-40B4-BE49-F238E27FC236}">
                <a16:creationId xmlns:a16="http://schemas.microsoft.com/office/drawing/2014/main" id="{6B0B8B8A-1166-2066-DB34-70FEEC44DAA9}"/>
              </a:ext>
            </a:extLst>
          </p:cNvPr>
          <p:cNvSpPr txBox="1"/>
          <p:nvPr/>
        </p:nvSpPr>
        <p:spPr>
          <a:xfrm>
            <a:off x="9344070" y="2875541"/>
            <a:ext cx="450949" cy="461665"/>
          </a:xfrm>
          <a:prstGeom prst="rect">
            <a:avLst/>
          </a:prstGeom>
          <a:noFill/>
        </p:spPr>
        <p:txBody>
          <a:bodyPr wrap="square">
            <a:spAutoFit/>
          </a:bodyPr>
          <a:lstStyle/>
          <a:p>
            <a:r>
              <a:rPr lang="en-US"/>
              <a:t>)</a:t>
            </a:r>
          </a:p>
        </p:txBody>
      </p:sp>
      <p:sp>
        <p:nvSpPr>
          <p:cNvPr id="40" name="TextBox 39">
            <a:extLst>
              <a:ext uri="{FF2B5EF4-FFF2-40B4-BE49-F238E27FC236}">
                <a16:creationId xmlns:a16="http://schemas.microsoft.com/office/drawing/2014/main" id="{A28D4EA8-E075-AE86-2BB8-5C5530BEEA64}"/>
              </a:ext>
            </a:extLst>
          </p:cNvPr>
          <p:cNvSpPr txBox="1"/>
          <p:nvPr/>
        </p:nvSpPr>
        <p:spPr>
          <a:xfrm>
            <a:off x="5484501" y="2874942"/>
            <a:ext cx="450949" cy="461665"/>
          </a:xfrm>
          <a:prstGeom prst="rect">
            <a:avLst/>
          </a:prstGeom>
          <a:noFill/>
        </p:spPr>
        <p:txBody>
          <a:bodyPr wrap="square">
            <a:spAutoFit/>
          </a:bodyPr>
          <a:lstStyle/>
          <a:p>
            <a:r>
              <a:rPr lang="en-US"/>
              <a:t>(</a:t>
            </a:r>
          </a:p>
        </p:txBody>
      </p:sp>
    </p:spTree>
    <p:extLst>
      <p:ext uri="{BB962C8B-B14F-4D97-AF65-F5344CB8AC3E}">
        <p14:creationId xmlns:p14="http://schemas.microsoft.com/office/powerpoint/2010/main" val="2518858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6F7FB-1649-C58F-AE9A-3888D028D77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D903D27-BEFC-F785-B46F-AB8F65ADE3F5}"/>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51</a:t>
            </a:fld>
            <a:endParaRPr lang="en-US">
              <a:solidFill>
                <a:srgbClr val="000000"/>
              </a:solidFill>
              <a:latin typeface="Segoe UI"/>
            </a:endParaRPr>
          </a:p>
        </p:txBody>
      </p:sp>
      <p:sp>
        <p:nvSpPr>
          <p:cNvPr id="19" name="!!6">
            <a:extLst>
              <a:ext uri="{FF2B5EF4-FFF2-40B4-BE49-F238E27FC236}">
                <a16:creationId xmlns:a16="http://schemas.microsoft.com/office/drawing/2014/main" id="{0CE8AF72-A4A6-3706-FC95-523FF33C3F14}"/>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Gene Ranking </a:t>
            </a:r>
            <a:r>
              <a:rPr lang="en-US" altLang="zh-CN" sz="4000" b="1" dirty="0">
                <a:solidFill>
                  <a:srgbClr val="1B4C9C"/>
                </a:solidFill>
                <a:latin typeface="Arial" panose="020B0604020202020204" pitchFamily="34" charset="0"/>
                <a:cs typeface="Arial" panose="020B0604020202020204" pitchFamily="34" charset="0"/>
              </a:rPr>
              <a:t>Model</a:t>
            </a:r>
            <a:r>
              <a:rPr lang="en-US" altLang="zh-CN" sz="4000" b="1">
                <a:solidFill>
                  <a:srgbClr val="1B4C9C"/>
                </a:solidFill>
                <a:latin typeface="Arial" panose="020B0604020202020204" pitchFamily="34" charset="0"/>
                <a:cs typeface="Arial" panose="020B0604020202020204" pitchFamily="34" charset="0"/>
              </a:rPr>
              <a:t>: R-GCN</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2" name="Oval 1">
            <a:extLst>
              <a:ext uri="{FF2B5EF4-FFF2-40B4-BE49-F238E27FC236}">
                <a16:creationId xmlns:a16="http://schemas.microsoft.com/office/drawing/2014/main" id="{13610244-6C02-489D-57B3-B58CE7E63F04}"/>
              </a:ext>
            </a:extLst>
          </p:cNvPr>
          <p:cNvSpPr/>
          <p:nvPr/>
        </p:nvSpPr>
        <p:spPr>
          <a:xfrm>
            <a:off x="5135670" y="2448974"/>
            <a:ext cx="1210605" cy="1184251"/>
          </a:xfrm>
          <a:prstGeom prst="ellipse">
            <a:avLst/>
          </a:prstGeom>
          <a:solidFill>
            <a:srgbClr val="89DA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 name="Oval 2">
            <a:extLst>
              <a:ext uri="{FF2B5EF4-FFF2-40B4-BE49-F238E27FC236}">
                <a16:creationId xmlns:a16="http://schemas.microsoft.com/office/drawing/2014/main" id="{41B2F536-A6C5-4BDA-E500-CE1C644218F5}"/>
              </a:ext>
            </a:extLst>
          </p:cNvPr>
          <p:cNvSpPr/>
          <p:nvPr/>
        </p:nvSpPr>
        <p:spPr>
          <a:xfrm>
            <a:off x="2594773" y="5175982"/>
            <a:ext cx="1210605" cy="1184251"/>
          </a:xfrm>
          <a:prstGeom prst="ellipse">
            <a:avLst/>
          </a:prstGeom>
          <a:solidFill>
            <a:srgbClr val="3E8E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0F6E435-8429-7C17-EE92-0BDB06277A05}"/>
              </a:ext>
            </a:extLst>
          </p:cNvPr>
          <p:cNvSpPr/>
          <p:nvPr/>
        </p:nvSpPr>
        <p:spPr>
          <a:xfrm>
            <a:off x="8167629" y="5175982"/>
            <a:ext cx="1210605" cy="1184251"/>
          </a:xfrm>
          <a:prstGeom prst="ellipse">
            <a:avLst/>
          </a:prstGeom>
          <a:solidFill>
            <a:srgbClr val="A461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BDE78F39-CE29-981D-6372-31A60F8346DF}"/>
              </a:ext>
            </a:extLst>
          </p:cNvPr>
          <p:cNvCxnSpPr>
            <a:cxnSpLocks/>
            <a:endCxn id="2" idx="3"/>
          </p:cNvCxnSpPr>
          <p:nvPr/>
        </p:nvCxnSpPr>
        <p:spPr>
          <a:xfrm flipV="1">
            <a:off x="3222749" y="3459795"/>
            <a:ext cx="2090210" cy="2104582"/>
          </a:xfrm>
          <a:prstGeom prst="line">
            <a:avLst/>
          </a:prstGeom>
          <a:ln w="38100">
            <a:solidFill>
              <a:srgbClr val="3E8E4D"/>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31FD719-8323-A1C9-0A2E-1E72BF31F164}"/>
              </a:ext>
            </a:extLst>
          </p:cNvPr>
          <p:cNvCxnSpPr>
            <a:cxnSpLocks/>
            <a:stCxn id="2" idx="5"/>
          </p:cNvCxnSpPr>
          <p:nvPr/>
        </p:nvCxnSpPr>
        <p:spPr>
          <a:xfrm>
            <a:off x="6168986" y="3459795"/>
            <a:ext cx="2457965" cy="2134040"/>
          </a:xfrm>
          <a:prstGeom prst="line">
            <a:avLst/>
          </a:prstGeom>
          <a:ln w="38100">
            <a:solidFill>
              <a:srgbClr val="A461F4"/>
            </a:solidFill>
          </a:ln>
        </p:spPr>
        <p:style>
          <a:lnRef idx="2">
            <a:schemeClr val="accent1"/>
          </a:lnRef>
          <a:fillRef idx="0">
            <a:schemeClr val="accent1"/>
          </a:fillRef>
          <a:effectRef idx="1">
            <a:schemeClr val="accent1"/>
          </a:effectRef>
          <a:fontRef idx="minor">
            <a:schemeClr val="tx1"/>
          </a:fontRef>
        </p:style>
      </p:cxnSp>
      <p:sp>
        <p:nvSpPr>
          <p:cNvPr id="16" name="sometin">
            <a:extLst>
              <a:ext uri="{FF2B5EF4-FFF2-40B4-BE49-F238E27FC236}">
                <a16:creationId xmlns:a16="http://schemas.microsoft.com/office/drawing/2014/main" id="{73AD9266-694D-B065-15BA-B2142ED08B88}"/>
              </a:ext>
            </a:extLst>
          </p:cNvPr>
          <p:cNvSpPr/>
          <p:nvPr/>
        </p:nvSpPr>
        <p:spPr bwMode="auto">
          <a:xfrm>
            <a:off x="376644" y="976167"/>
            <a:ext cx="11438712" cy="1341219"/>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Messages are calculated</a:t>
            </a:r>
          </a:p>
        </p:txBody>
      </p:sp>
      <p:sp>
        <p:nvSpPr>
          <p:cNvPr id="14" name="!!trait1">
            <a:extLst>
              <a:ext uri="{FF2B5EF4-FFF2-40B4-BE49-F238E27FC236}">
                <a16:creationId xmlns:a16="http://schemas.microsoft.com/office/drawing/2014/main" id="{EA9FEF68-0FE0-9577-32A9-D8FAAA4575CE}"/>
              </a:ext>
            </a:extLst>
          </p:cNvPr>
          <p:cNvSpPr txBox="1"/>
          <p:nvPr/>
        </p:nvSpPr>
        <p:spPr>
          <a:xfrm>
            <a:off x="1256533" y="4065150"/>
            <a:ext cx="2838232" cy="461665"/>
          </a:xfrm>
          <a:prstGeom prst="rect">
            <a:avLst/>
          </a:prstGeom>
          <a:noFill/>
        </p:spPr>
        <p:txBody>
          <a:bodyPr wrap="square">
            <a:spAutoFit/>
          </a:bodyPr>
          <a:lstStyle/>
          <a:p>
            <a:r>
              <a:rPr lang="en-US"/>
              <a:t>[0.56, 0.98, …, 0.83]</a:t>
            </a:r>
          </a:p>
        </p:txBody>
      </p:sp>
      <p:sp>
        <p:nvSpPr>
          <p:cNvPr id="17" name="!!gene1">
            <a:extLst>
              <a:ext uri="{FF2B5EF4-FFF2-40B4-BE49-F238E27FC236}">
                <a16:creationId xmlns:a16="http://schemas.microsoft.com/office/drawing/2014/main" id="{577FF726-AF55-3BDE-EA6E-99A499611421}"/>
              </a:ext>
            </a:extLst>
          </p:cNvPr>
          <p:cNvSpPr txBox="1"/>
          <p:nvPr/>
        </p:nvSpPr>
        <p:spPr>
          <a:xfrm>
            <a:off x="7532140" y="4065150"/>
            <a:ext cx="2940906" cy="461665"/>
          </a:xfrm>
          <a:prstGeom prst="rect">
            <a:avLst/>
          </a:prstGeom>
          <a:noFill/>
        </p:spPr>
        <p:txBody>
          <a:bodyPr wrap="square">
            <a:spAutoFit/>
          </a:bodyPr>
          <a:lstStyle/>
          <a:p>
            <a:r>
              <a:rPr lang="en-US"/>
              <a:t>[0.20, -0.11, …, 0.03]</a:t>
            </a:r>
          </a:p>
        </p:txBody>
      </p:sp>
      <p:sp>
        <p:nvSpPr>
          <p:cNvPr id="21" name="!!trait2">
            <a:extLst>
              <a:ext uri="{FF2B5EF4-FFF2-40B4-BE49-F238E27FC236}">
                <a16:creationId xmlns:a16="http://schemas.microsoft.com/office/drawing/2014/main" id="{520355EC-47E1-129F-BDC7-77A568900F51}"/>
              </a:ext>
            </a:extLst>
          </p:cNvPr>
          <p:cNvSpPr txBox="1"/>
          <p:nvPr/>
        </p:nvSpPr>
        <p:spPr>
          <a:xfrm>
            <a:off x="6840080" y="2550454"/>
            <a:ext cx="2838232" cy="461665"/>
          </a:xfrm>
          <a:prstGeom prst="rect">
            <a:avLst/>
          </a:prstGeom>
          <a:noFill/>
        </p:spPr>
        <p:txBody>
          <a:bodyPr wrap="square">
            <a:spAutoFit/>
          </a:bodyPr>
          <a:lstStyle/>
          <a:p>
            <a:r>
              <a:rPr lang="en-US"/>
              <a:t>[0.38, 0.43, …, 0.43]</a:t>
            </a:r>
          </a:p>
        </p:txBody>
      </p:sp>
      <p:sp>
        <p:nvSpPr>
          <p:cNvPr id="23" name="TextBox 22">
            <a:extLst>
              <a:ext uri="{FF2B5EF4-FFF2-40B4-BE49-F238E27FC236}">
                <a16:creationId xmlns:a16="http://schemas.microsoft.com/office/drawing/2014/main" id="{F9144B38-2181-88BA-45D7-4FF4A8262DA5}"/>
              </a:ext>
            </a:extLst>
          </p:cNvPr>
          <p:cNvSpPr txBox="1"/>
          <p:nvPr/>
        </p:nvSpPr>
        <p:spPr>
          <a:xfrm>
            <a:off x="3805378" y="4381281"/>
            <a:ext cx="793019" cy="261610"/>
          </a:xfrm>
          <a:prstGeom prst="rect">
            <a:avLst/>
          </a:prstGeom>
          <a:noFill/>
        </p:spPr>
        <p:txBody>
          <a:bodyPr wrap="square" rtlCol="0">
            <a:spAutoFit/>
          </a:bodyPr>
          <a:lstStyle/>
          <a:p>
            <a:r>
              <a:rPr lang="en-US" sz="1100"/>
              <a:t>(128,)</a:t>
            </a:r>
          </a:p>
        </p:txBody>
      </p:sp>
      <p:sp>
        <p:nvSpPr>
          <p:cNvPr id="27" name="TextBox 26">
            <a:extLst>
              <a:ext uri="{FF2B5EF4-FFF2-40B4-BE49-F238E27FC236}">
                <a16:creationId xmlns:a16="http://schemas.microsoft.com/office/drawing/2014/main" id="{CAEB213A-E23D-6F8C-78FF-6D58E1C98EF7}"/>
              </a:ext>
            </a:extLst>
          </p:cNvPr>
          <p:cNvSpPr txBox="1"/>
          <p:nvPr/>
        </p:nvSpPr>
        <p:spPr>
          <a:xfrm>
            <a:off x="10197540" y="4396010"/>
            <a:ext cx="793019" cy="261610"/>
          </a:xfrm>
          <a:prstGeom prst="rect">
            <a:avLst/>
          </a:prstGeom>
          <a:noFill/>
        </p:spPr>
        <p:txBody>
          <a:bodyPr wrap="square" rtlCol="0">
            <a:spAutoFit/>
          </a:bodyPr>
          <a:lstStyle/>
          <a:p>
            <a:r>
              <a:rPr lang="en-US" sz="1100"/>
              <a:t>(128,)</a:t>
            </a:r>
          </a:p>
        </p:txBody>
      </p:sp>
      <p:sp>
        <p:nvSpPr>
          <p:cNvPr id="28" name="TextBox 27">
            <a:extLst>
              <a:ext uri="{FF2B5EF4-FFF2-40B4-BE49-F238E27FC236}">
                <a16:creationId xmlns:a16="http://schemas.microsoft.com/office/drawing/2014/main" id="{FAF7A932-7F7D-C7A0-8AE4-BD16C14BD362}"/>
              </a:ext>
            </a:extLst>
          </p:cNvPr>
          <p:cNvSpPr txBox="1"/>
          <p:nvPr/>
        </p:nvSpPr>
        <p:spPr>
          <a:xfrm>
            <a:off x="9448800" y="2853336"/>
            <a:ext cx="793019" cy="261610"/>
          </a:xfrm>
          <a:prstGeom prst="rect">
            <a:avLst/>
          </a:prstGeom>
          <a:noFill/>
        </p:spPr>
        <p:txBody>
          <a:bodyPr wrap="square" rtlCol="0">
            <a:spAutoFit/>
          </a:bodyPr>
          <a:lstStyle/>
          <a:p>
            <a:r>
              <a:rPr lang="en-US" sz="1100"/>
              <a:t>(128,)</a:t>
            </a:r>
          </a:p>
        </p:txBody>
      </p:sp>
    </p:spTree>
    <p:extLst>
      <p:ext uri="{BB962C8B-B14F-4D97-AF65-F5344CB8AC3E}">
        <p14:creationId xmlns:p14="http://schemas.microsoft.com/office/powerpoint/2010/main" val="2900688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1C9BD-D2CC-D316-481D-D2D9E2BDB0D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2D3C90-DD8C-8A1F-AF22-D601BDA0CC3A}"/>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52</a:t>
            </a:fld>
            <a:endParaRPr lang="en-US">
              <a:solidFill>
                <a:srgbClr val="000000"/>
              </a:solidFill>
              <a:latin typeface="Segoe UI"/>
            </a:endParaRPr>
          </a:p>
        </p:txBody>
      </p:sp>
      <p:sp>
        <p:nvSpPr>
          <p:cNvPr id="19" name="!!6">
            <a:extLst>
              <a:ext uri="{FF2B5EF4-FFF2-40B4-BE49-F238E27FC236}">
                <a16:creationId xmlns:a16="http://schemas.microsoft.com/office/drawing/2014/main" id="{62DFAD35-3F3A-F798-E87F-BE24DC8A3287}"/>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Gene Ranking </a:t>
            </a:r>
            <a:r>
              <a:rPr lang="en-US" altLang="zh-CN" sz="4000" b="1" dirty="0">
                <a:solidFill>
                  <a:srgbClr val="1B4C9C"/>
                </a:solidFill>
                <a:latin typeface="Arial" panose="020B0604020202020204" pitchFamily="34" charset="0"/>
                <a:cs typeface="Arial" panose="020B0604020202020204" pitchFamily="34" charset="0"/>
              </a:rPr>
              <a:t>Model</a:t>
            </a:r>
            <a:r>
              <a:rPr lang="en-US" altLang="zh-CN" sz="4000" b="1">
                <a:solidFill>
                  <a:srgbClr val="1B4C9C"/>
                </a:solidFill>
                <a:latin typeface="Arial" panose="020B0604020202020204" pitchFamily="34" charset="0"/>
                <a:cs typeface="Arial" panose="020B0604020202020204" pitchFamily="34" charset="0"/>
              </a:rPr>
              <a:t>: R-GCN</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2" name="Oval 1">
            <a:extLst>
              <a:ext uri="{FF2B5EF4-FFF2-40B4-BE49-F238E27FC236}">
                <a16:creationId xmlns:a16="http://schemas.microsoft.com/office/drawing/2014/main" id="{50B9737A-99FD-F4AB-A9F0-788741EA7D5E}"/>
              </a:ext>
            </a:extLst>
          </p:cNvPr>
          <p:cNvSpPr/>
          <p:nvPr/>
        </p:nvSpPr>
        <p:spPr>
          <a:xfrm>
            <a:off x="5135670" y="2448974"/>
            <a:ext cx="1210605" cy="1184251"/>
          </a:xfrm>
          <a:prstGeom prst="ellipse">
            <a:avLst/>
          </a:prstGeom>
          <a:solidFill>
            <a:srgbClr val="89DA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 name="Oval 2">
            <a:extLst>
              <a:ext uri="{FF2B5EF4-FFF2-40B4-BE49-F238E27FC236}">
                <a16:creationId xmlns:a16="http://schemas.microsoft.com/office/drawing/2014/main" id="{2EC822AA-CC19-4A04-BDFB-04BFF7C4F97C}"/>
              </a:ext>
            </a:extLst>
          </p:cNvPr>
          <p:cNvSpPr/>
          <p:nvPr/>
        </p:nvSpPr>
        <p:spPr>
          <a:xfrm>
            <a:off x="2594773" y="5175982"/>
            <a:ext cx="1210605" cy="1184251"/>
          </a:xfrm>
          <a:prstGeom prst="ellipse">
            <a:avLst/>
          </a:prstGeom>
          <a:solidFill>
            <a:srgbClr val="3E8E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D6BE32D-0735-4328-C59F-1694DD8BC611}"/>
              </a:ext>
            </a:extLst>
          </p:cNvPr>
          <p:cNvSpPr/>
          <p:nvPr/>
        </p:nvSpPr>
        <p:spPr>
          <a:xfrm>
            <a:off x="8167629" y="5175982"/>
            <a:ext cx="1210605" cy="1184251"/>
          </a:xfrm>
          <a:prstGeom prst="ellipse">
            <a:avLst/>
          </a:prstGeom>
          <a:solidFill>
            <a:srgbClr val="A461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4169339B-D9D9-FE97-3963-69BC498CEEEE}"/>
              </a:ext>
            </a:extLst>
          </p:cNvPr>
          <p:cNvCxnSpPr>
            <a:cxnSpLocks/>
            <a:endCxn id="2" idx="3"/>
          </p:cNvCxnSpPr>
          <p:nvPr/>
        </p:nvCxnSpPr>
        <p:spPr>
          <a:xfrm flipV="1">
            <a:off x="3222749" y="3459795"/>
            <a:ext cx="2090210" cy="2104582"/>
          </a:xfrm>
          <a:prstGeom prst="line">
            <a:avLst/>
          </a:prstGeom>
          <a:ln w="38100">
            <a:solidFill>
              <a:srgbClr val="3E8E4D"/>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ECF7BCC-F6FC-1462-7ECA-22525A26AE77}"/>
              </a:ext>
            </a:extLst>
          </p:cNvPr>
          <p:cNvCxnSpPr>
            <a:cxnSpLocks/>
            <a:stCxn id="2" idx="5"/>
          </p:cNvCxnSpPr>
          <p:nvPr/>
        </p:nvCxnSpPr>
        <p:spPr>
          <a:xfrm>
            <a:off x="6168986" y="3459795"/>
            <a:ext cx="2457965" cy="2134040"/>
          </a:xfrm>
          <a:prstGeom prst="line">
            <a:avLst/>
          </a:prstGeom>
          <a:ln w="38100">
            <a:solidFill>
              <a:srgbClr val="A461F4"/>
            </a:solidFill>
          </a:ln>
        </p:spPr>
        <p:style>
          <a:lnRef idx="2">
            <a:schemeClr val="accent1"/>
          </a:lnRef>
          <a:fillRef idx="0">
            <a:schemeClr val="accent1"/>
          </a:fillRef>
          <a:effectRef idx="1">
            <a:schemeClr val="accent1"/>
          </a:effectRef>
          <a:fontRef idx="minor">
            <a:schemeClr val="tx1"/>
          </a:fontRef>
        </p:style>
      </p:cxnSp>
      <p:sp>
        <p:nvSpPr>
          <p:cNvPr id="16" name="sometin">
            <a:extLst>
              <a:ext uri="{FF2B5EF4-FFF2-40B4-BE49-F238E27FC236}">
                <a16:creationId xmlns:a16="http://schemas.microsoft.com/office/drawing/2014/main" id="{A4CFE2BB-486C-A00C-FB93-03BCA16AEF85}"/>
              </a:ext>
            </a:extLst>
          </p:cNvPr>
          <p:cNvSpPr/>
          <p:nvPr/>
        </p:nvSpPr>
        <p:spPr bwMode="auto">
          <a:xfrm>
            <a:off x="376644" y="976167"/>
            <a:ext cx="11438712" cy="1341219"/>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Messages are calculated</a:t>
            </a:r>
          </a:p>
        </p:txBody>
      </p:sp>
      <p:sp>
        <p:nvSpPr>
          <p:cNvPr id="14" name="!!trait1">
            <a:extLst>
              <a:ext uri="{FF2B5EF4-FFF2-40B4-BE49-F238E27FC236}">
                <a16:creationId xmlns:a16="http://schemas.microsoft.com/office/drawing/2014/main" id="{B4BBC72B-B6F6-E146-F8A1-2FAFA896B5D2}"/>
              </a:ext>
            </a:extLst>
          </p:cNvPr>
          <p:cNvSpPr txBox="1"/>
          <p:nvPr/>
        </p:nvSpPr>
        <p:spPr>
          <a:xfrm>
            <a:off x="3515577" y="4531878"/>
            <a:ext cx="2940905" cy="461665"/>
          </a:xfrm>
          <a:prstGeom prst="rect">
            <a:avLst/>
          </a:prstGeom>
          <a:noFill/>
        </p:spPr>
        <p:txBody>
          <a:bodyPr wrap="square">
            <a:spAutoFit/>
          </a:bodyPr>
          <a:lstStyle/>
          <a:p>
            <a:r>
              <a:rPr lang="en-US"/>
              <a:t>[0.56, 0.98, …, 0.83] ,</a:t>
            </a:r>
          </a:p>
        </p:txBody>
      </p:sp>
      <p:sp>
        <p:nvSpPr>
          <p:cNvPr id="17" name="!!gene1">
            <a:extLst>
              <a:ext uri="{FF2B5EF4-FFF2-40B4-BE49-F238E27FC236}">
                <a16:creationId xmlns:a16="http://schemas.microsoft.com/office/drawing/2014/main" id="{C1EACE54-D4C0-8A72-B909-26D3A2597E9F}"/>
              </a:ext>
            </a:extLst>
          </p:cNvPr>
          <p:cNvSpPr txBox="1"/>
          <p:nvPr/>
        </p:nvSpPr>
        <p:spPr>
          <a:xfrm>
            <a:off x="6234679" y="4530078"/>
            <a:ext cx="2940906" cy="461665"/>
          </a:xfrm>
          <a:prstGeom prst="rect">
            <a:avLst/>
          </a:prstGeom>
          <a:noFill/>
        </p:spPr>
        <p:txBody>
          <a:bodyPr wrap="square">
            <a:spAutoFit/>
          </a:bodyPr>
          <a:lstStyle/>
          <a:p>
            <a:r>
              <a:rPr lang="en-US"/>
              <a:t>[0.20, -0.11, …, 0.03]</a:t>
            </a:r>
          </a:p>
        </p:txBody>
      </p:sp>
      <p:sp>
        <p:nvSpPr>
          <p:cNvPr id="21" name="!!trait2">
            <a:extLst>
              <a:ext uri="{FF2B5EF4-FFF2-40B4-BE49-F238E27FC236}">
                <a16:creationId xmlns:a16="http://schemas.microsoft.com/office/drawing/2014/main" id="{8ED3D1E8-1D1E-E445-898C-DB01D07C629A}"/>
              </a:ext>
            </a:extLst>
          </p:cNvPr>
          <p:cNvSpPr txBox="1"/>
          <p:nvPr/>
        </p:nvSpPr>
        <p:spPr>
          <a:xfrm>
            <a:off x="6840080" y="2459414"/>
            <a:ext cx="2838232" cy="461665"/>
          </a:xfrm>
          <a:prstGeom prst="rect">
            <a:avLst/>
          </a:prstGeom>
          <a:noFill/>
        </p:spPr>
        <p:txBody>
          <a:bodyPr wrap="square">
            <a:spAutoFit/>
          </a:bodyPr>
          <a:lstStyle/>
          <a:p>
            <a:r>
              <a:rPr lang="en-US"/>
              <a:t>[0.38, 0.43, …, 0.43]</a:t>
            </a:r>
          </a:p>
        </p:txBody>
      </p:sp>
      <p:sp>
        <p:nvSpPr>
          <p:cNvPr id="28" name="TextBox 27">
            <a:extLst>
              <a:ext uri="{FF2B5EF4-FFF2-40B4-BE49-F238E27FC236}">
                <a16:creationId xmlns:a16="http://schemas.microsoft.com/office/drawing/2014/main" id="{19051DFA-7CBC-D7B9-B53F-CB73FC61AC8D}"/>
              </a:ext>
            </a:extLst>
          </p:cNvPr>
          <p:cNvSpPr txBox="1"/>
          <p:nvPr/>
        </p:nvSpPr>
        <p:spPr>
          <a:xfrm>
            <a:off x="9451821" y="2751790"/>
            <a:ext cx="793019" cy="261610"/>
          </a:xfrm>
          <a:prstGeom prst="rect">
            <a:avLst/>
          </a:prstGeom>
          <a:noFill/>
        </p:spPr>
        <p:txBody>
          <a:bodyPr wrap="square" rtlCol="0">
            <a:spAutoFit/>
          </a:bodyPr>
          <a:lstStyle/>
          <a:p>
            <a:r>
              <a:rPr lang="en-US" sz="1100"/>
              <a:t>(128,)</a:t>
            </a:r>
          </a:p>
        </p:txBody>
      </p:sp>
      <p:sp>
        <p:nvSpPr>
          <p:cNvPr id="8" name="Curved Left Arrow 7">
            <a:extLst>
              <a:ext uri="{FF2B5EF4-FFF2-40B4-BE49-F238E27FC236}">
                <a16:creationId xmlns:a16="http://schemas.microsoft.com/office/drawing/2014/main" id="{B7D0C799-60A4-FEB2-35F6-763E1BCEA8FF}"/>
              </a:ext>
            </a:extLst>
          </p:cNvPr>
          <p:cNvSpPr/>
          <p:nvPr/>
        </p:nvSpPr>
        <p:spPr bwMode="auto">
          <a:xfrm rot="19032701">
            <a:off x="6321932" y="2300082"/>
            <a:ext cx="508000" cy="649334"/>
          </a:xfrm>
          <a:prstGeom prst="curvedLeftArrow">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12" name="TextBox 11">
            <a:extLst>
              <a:ext uri="{FF2B5EF4-FFF2-40B4-BE49-F238E27FC236}">
                <a16:creationId xmlns:a16="http://schemas.microsoft.com/office/drawing/2014/main" id="{EDCD5102-E885-358C-81E3-0950119FB1D4}"/>
              </a:ext>
            </a:extLst>
          </p:cNvPr>
          <p:cNvSpPr txBox="1"/>
          <p:nvPr/>
        </p:nvSpPr>
        <p:spPr>
          <a:xfrm>
            <a:off x="2532163" y="4523268"/>
            <a:ext cx="1130300" cy="461665"/>
          </a:xfrm>
          <a:prstGeom prst="rect">
            <a:avLst/>
          </a:prstGeom>
          <a:noFill/>
        </p:spPr>
        <p:txBody>
          <a:bodyPr wrap="square">
            <a:spAutoFit/>
          </a:bodyPr>
          <a:lstStyle/>
          <a:p>
            <a:r>
              <a:rPr lang="en-US"/>
              <a:t>mean(</a:t>
            </a:r>
          </a:p>
        </p:txBody>
      </p:sp>
      <p:sp>
        <p:nvSpPr>
          <p:cNvPr id="13" name="TextBox 12">
            <a:extLst>
              <a:ext uri="{FF2B5EF4-FFF2-40B4-BE49-F238E27FC236}">
                <a16:creationId xmlns:a16="http://schemas.microsoft.com/office/drawing/2014/main" id="{BD9AC44A-791B-8F7E-7D56-562776B56BE9}"/>
              </a:ext>
            </a:extLst>
          </p:cNvPr>
          <p:cNvSpPr txBox="1"/>
          <p:nvPr/>
        </p:nvSpPr>
        <p:spPr>
          <a:xfrm>
            <a:off x="8967307" y="4536419"/>
            <a:ext cx="376763" cy="461665"/>
          </a:xfrm>
          <a:prstGeom prst="rect">
            <a:avLst/>
          </a:prstGeom>
          <a:noFill/>
        </p:spPr>
        <p:txBody>
          <a:bodyPr wrap="square">
            <a:spAutoFit/>
          </a:bodyPr>
          <a:lstStyle/>
          <a:p>
            <a:r>
              <a:rPr lang="en-US"/>
              <a:t>)</a:t>
            </a:r>
          </a:p>
        </p:txBody>
      </p:sp>
      <p:sp>
        <p:nvSpPr>
          <p:cNvPr id="15" name="Right Arrow 14">
            <a:extLst>
              <a:ext uri="{FF2B5EF4-FFF2-40B4-BE49-F238E27FC236}">
                <a16:creationId xmlns:a16="http://schemas.microsoft.com/office/drawing/2014/main" id="{10DA9319-7F78-D326-FB8B-D7916A91391B}"/>
              </a:ext>
            </a:extLst>
          </p:cNvPr>
          <p:cNvSpPr/>
          <p:nvPr/>
        </p:nvSpPr>
        <p:spPr bwMode="auto">
          <a:xfrm rot="16200000">
            <a:off x="5347028" y="3812604"/>
            <a:ext cx="881227" cy="553720"/>
          </a:xfrm>
          <a:prstGeom prst="rightArrow">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797582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A842D-93D4-41BF-C080-509D15F47D7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BE340D-7117-71F2-197C-E95620956E31}"/>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53</a:t>
            </a:fld>
            <a:endParaRPr lang="en-US">
              <a:solidFill>
                <a:srgbClr val="000000"/>
              </a:solidFill>
              <a:latin typeface="Segoe UI"/>
            </a:endParaRPr>
          </a:p>
        </p:txBody>
      </p:sp>
      <p:sp>
        <p:nvSpPr>
          <p:cNvPr id="19" name="!!6">
            <a:extLst>
              <a:ext uri="{FF2B5EF4-FFF2-40B4-BE49-F238E27FC236}">
                <a16:creationId xmlns:a16="http://schemas.microsoft.com/office/drawing/2014/main" id="{3F42161B-DDFC-9F34-1350-A791F0509F0A}"/>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Gene Ranking </a:t>
            </a:r>
            <a:r>
              <a:rPr lang="en-US" altLang="zh-CN" sz="4000" b="1" dirty="0">
                <a:solidFill>
                  <a:srgbClr val="1B4C9C"/>
                </a:solidFill>
                <a:latin typeface="Arial" panose="020B0604020202020204" pitchFamily="34" charset="0"/>
                <a:cs typeface="Arial" panose="020B0604020202020204" pitchFamily="34" charset="0"/>
              </a:rPr>
              <a:t>Model</a:t>
            </a:r>
            <a:r>
              <a:rPr lang="en-US" altLang="zh-CN" sz="4000" b="1">
                <a:solidFill>
                  <a:srgbClr val="1B4C9C"/>
                </a:solidFill>
                <a:latin typeface="Arial" panose="020B0604020202020204" pitchFamily="34" charset="0"/>
                <a:cs typeface="Arial" panose="020B0604020202020204" pitchFamily="34" charset="0"/>
              </a:rPr>
              <a:t>: R-GCN</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2" name="Oval 1">
            <a:extLst>
              <a:ext uri="{FF2B5EF4-FFF2-40B4-BE49-F238E27FC236}">
                <a16:creationId xmlns:a16="http://schemas.microsoft.com/office/drawing/2014/main" id="{6B0BC8BB-74B1-9A1C-26DC-78B02C80E7EB}"/>
              </a:ext>
            </a:extLst>
          </p:cNvPr>
          <p:cNvSpPr/>
          <p:nvPr/>
        </p:nvSpPr>
        <p:spPr>
          <a:xfrm>
            <a:off x="5135670" y="2448974"/>
            <a:ext cx="1210605" cy="1184251"/>
          </a:xfrm>
          <a:prstGeom prst="ellipse">
            <a:avLst/>
          </a:prstGeom>
          <a:solidFill>
            <a:srgbClr val="89DA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 name="Oval 2">
            <a:extLst>
              <a:ext uri="{FF2B5EF4-FFF2-40B4-BE49-F238E27FC236}">
                <a16:creationId xmlns:a16="http://schemas.microsoft.com/office/drawing/2014/main" id="{38CB3471-F5D5-6EC7-5BA6-41D435479E08}"/>
              </a:ext>
            </a:extLst>
          </p:cNvPr>
          <p:cNvSpPr/>
          <p:nvPr/>
        </p:nvSpPr>
        <p:spPr>
          <a:xfrm>
            <a:off x="2594773" y="5175982"/>
            <a:ext cx="1210605" cy="1184251"/>
          </a:xfrm>
          <a:prstGeom prst="ellipse">
            <a:avLst/>
          </a:prstGeom>
          <a:solidFill>
            <a:srgbClr val="3E8E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A849FC62-FE34-1B6C-928A-C974EB61DC3F}"/>
              </a:ext>
            </a:extLst>
          </p:cNvPr>
          <p:cNvSpPr/>
          <p:nvPr/>
        </p:nvSpPr>
        <p:spPr>
          <a:xfrm>
            <a:off x="8167629" y="5175982"/>
            <a:ext cx="1210605" cy="1184251"/>
          </a:xfrm>
          <a:prstGeom prst="ellipse">
            <a:avLst/>
          </a:prstGeom>
          <a:solidFill>
            <a:srgbClr val="A461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CEF7ED6D-B6B9-989D-45F8-DD87F226C7A4}"/>
              </a:ext>
            </a:extLst>
          </p:cNvPr>
          <p:cNvCxnSpPr>
            <a:cxnSpLocks/>
            <a:endCxn id="2" idx="3"/>
          </p:cNvCxnSpPr>
          <p:nvPr/>
        </p:nvCxnSpPr>
        <p:spPr>
          <a:xfrm flipV="1">
            <a:off x="3222749" y="3459795"/>
            <a:ext cx="2090210" cy="2104582"/>
          </a:xfrm>
          <a:prstGeom prst="line">
            <a:avLst/>
          </a:prstGeom>
          <a:ln w="38100">
            <a:solidFill>
              <a:srgbClr val="3E8E4D"/>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4774423-B4BC-858B-1E5A-CA5A3C88A251}"/>
              </a:ext>
            </a:extLst>
          </p:cNvPr>
          <p:cNvCxnSpPr>
            <a:cxnSpLocks/>
            <a:stCxn id="2" idx="5"/>
          </p:cNvCxnSpPr>
          <p:nvPr/>
        </p:nvCxnSpPr>
        <p:spPr>
          <a:xfrm>
            <a:off x="6168986" y="3459795"/>
            <a:ext cx="2457965" cy="2134040"/>
          </a:xfrm>
          <a:prstGeom prst="line">
            <a:avLst/>
          </a:prstGeom>
          <a:ln w="38100">
            <a:solidFill>
              <a:srgbClr val="A461F4"/>
            </a:solidFill>
          </a:ln>
        </p:spPr>
        <p:style>
          <a:lnRef idx="2">
            <a:schemeClr val="accent1"/>
          </a:lnRef>
          <a:fillRef idx="0">
            <a:schemeClr val="accent1"/>
          </a:fillRef>
          <a:effectRef idx="1">
            <a:schemeClr val="accent1"/>
          </a:effectRef>
          <a:fontRef idx="minor">
            <a:schemeClr val="tx1"/>
          </a:fontRef>
        </p:style>
      </p:cxnSp>
      <p:sp>
        <p:nvSpPr>
          <p:cNvPr id="16" name="sometin">
            <a:extLst>
              <a:ext uri="{FF2B5EF4-FFF2-40B4-BE49-F238E27FC236}">
                <a16:creationId xmlns:a16="http://schemas.microsoft.com/office/drawing/2014/main" id="{EBF4CF6A-5284-FBC8-B1D3-90AAB4361168}"/>
              </a:ext>
            </a:extLst>
          </p:cNvPr>
          <p:cNvSpPr/>
          <p:nvPr/>
        </p:nvSpPr>
        <p:spPr bwMode="auto">
          <a:xfrm>
            <a:off x="376644" y="976167"/>
            <a:ext cx="11438712" cy="1341219"/>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This is one round of message passing, for one node. Order-invariant for the entire TGAG</a:t>
            </a:r>
          </a:p>
        </p:txBody>
      </p:sp>
      <p:sp>
        <p:nvSpPr>
          <p:cNvPr id="17" name="TextBox 16">
            <a:extLst>
              <a:ext uri="{FF2B5EF4-FFF2-40B4-BE49-F238E27FC236}">
                <a16:creationId xmlns:a16="http://schemas.microsoft.com/office/drawing/2014/main" id="{9654F6E1-9098-E47D-0682-44CB55B78EBE}"/>
              </a:ext>
            </a:extLst>
          </p:cNvPr>
          <p:cNvSpPr txBox="1"/>
          <p:nvPr/>
        </p:nvSpPr>
        <p:spPr>
          <a:xfrm>
            <a:off x="4433354" y="4956930"/>
            <a:ext cx="2940906" cy="461665"/>
          </a:xfrm>
          <a:prstGeom prst="rect">
            <a:avLst/>
          </a:prstGeom>
          <a:noFill/>
        </p:spPr>
        <p:txBody>
          <a:bodyPr wrap="square">
            <a:spAutoFit/>
          </a:bodyPr>
          <a:lstStyle/>
          <a:p>
            <a:r>
              <a:rPr lang="en-US"/>
              <a:t>[0.38, 0.43, …, 0.43]</a:t>
            </a:r>
          </a:p>
        </p:txBody>
      </p:sp>
      <p:sp>
        <p:nvSpPr>
          <p:cNvPr id="21" name="TextBox 20">
            <a:extLst>
              <a:ext uri="{FF2B5EF4-FFF2-40B4-BE49-F238E27FC236}">
                <a16:creationId xmlns:a16="http://schemas.microsoft.com/office/drawing/2014/main" id="{FDF8EA10-7D74-B3C1-BD49-17284F2B9511}"/>
              </a:ext>
            </a:extLst>
          </p:cNvPr>
          <p:cNvSpPr txBox="1"/>
          <p:nvPr/>
        </p:nvSpPr>
        <p:spPr>
          <a:xfrm>
            <a:off x="6840080" y="2459414"/>
            <a:ext cx="2838232" cy="461665"/>
          </a:xfrm>
          <a:prstGeom prst="rect">
            <a:avLst/>
          </a:prstGeom>
          <a:noFill/>
        </p:spPr>
        <p:txBody>
          <a:bodyPr wrap="square">
            <a:spAutoFit/>
          </a:bodyPr>
          <a:lstStyle/>
          <a:p>
            <a:r>
              <a:rPr lang="en-US"/>
              <a:t>[0.34, -0.52, …,0.49]</a:t>
            </a:r>
          </a:p>
        </p:txBody>
      </p:sp>
      <p:sp>
        <p:nvSpPr>
          <p:cNvPr id="28" name="TextBox 27">
            <a:extLst>
              <a:ext uri="{FF2B5EF4-FFF2-40B4-BE49-F238E27FC236}">
                <a16:creationId xmlns:a16="http://schemas.microsoft.com/office/drawing/2014/main" id="{E9D988A3-D64C-3669-A104-E207F389301C}"/>
              </a:ext>
            </a:extLst>
          </p:cNvPr>
          <p:cNvSpPr txBox="1"/>
          <p:nvPr/>
        </p:nvSpPr>
        <p:spPr>
          <a:xfrm>
            <a:off x="9451821" y="2751790"/>
            <a:ext cx="793019" cy="261610"/>
          </a:xfrm>
          <a:prstGeom prst="rect">
            <a:avLst/>
          </a:prstGeom>
          <a:noFill/>
        </p:spPr>
        <p:txBody>
          <a:bodyPr wrap="square" rtlCol="0">
            <a:spAutoFit/>
          </a:bodyPr>
          <a:lstStyle/>
          <a:p>
            <a:r>
              <a:rPr lang="en-US" sz="1100"/>
              <a:t>(128,)</a:t>
            </a:r>
          </a:p>
        </p:txBody>
      </p:sp>
      <p:sp>
        <p:nvSpPr>
          <p:cNvPr id="8" name="Curved Left Arrow 7">
            <a:extLst>
              <a:ext uri="{FF2B5EF4-FFF2-40B4-BE49-F238E27FC236}">
                <a16:creationId xmlns:a16="http://schemas.microsoft.com/office/drawing/2014/main" id="{8F4270CD-060C-409D-94D9-971C1541649A}"/>
              </a:ext>
            </a:extLst>
          </p:cNvPr>
          <p:cNvSpPr/>
          <p:nvPr/>
        </p:nvSpPr>
        <p:spPr bwMode="auto">
          <a:xfrm rot="19032701">
            <a:off x="6321932" y="2300082"/>
            <a:ext cx="508000" cy="649334"/>
          </a:xfrm>
          <a:prstGeom prst="curvedLeftArrow">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6" name="Right Arrow 5">
            <a:extLst>
              <a:ext uri="{FF2B5EF4-FFF2-40B4-BE49-F238E27FC236}">
                <a16:creationId xmlns:a16="http://schemas.microsoft.com/office/drawing/2014/main" id="{74893705-AC90-F780-01A2-61852C3EA2AE}"/>
              </a:ext>
            </a:extLst>
          </p:cNvPr>
          <p:cNvSpPr/>
          <p:nvPr/>
        </p:nvSpPr>
        <p:spPr bwMode="auto">
          <a:xfrm rot="16200000">
            <a:off x="5270861" y="4018217"/>
            <a:ext cx="1096559" cy="553720"/>
          </a:xfrm>
          <a:prstGeom prst="rightArrow">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7" name="TextBox 6">
            <a:extLst>
              <a:ext uri="{FF2B5EF4-FFF2-40B4-BE49-F238E27FC236}">
                <a16:creationId xmlns:a16="http://schemas.microsoft.com/office/drawing/2014/main" id="{C4A7594D-FC5B-7FF0-DBA5-556C1049DE76}"/>
              </a:ext>
            </a:extLst>
          </p:cNvPr>
          <p:cNvSpPr txBox="1"/>
          <p:nvPr/>
        </p:nvSpPr>
        <p:spPr>
          <a:xfrm>
            <a:off x="7001458" y="5289040"/>
            <a:ext cx="793019" cy="261610"/>
          </a:xfrm>
          <a:prstGeom prst="rect">
            <a:avLst/>
          </a:prstGeom>
          <a:noFill/>
        </p:spPr>
        <p:txBody>
          <a:bodyPr wrap="square" rtlCol="0">
            <a:spAutoFit/>
          </a:bodyPr>
          <a:lstStyle/>
          <a:p>
            <a:r>
              <a:rPr lang="en-US" sz="1100"/>
              <a:t>(128,)</a:t>
            </a:r>
          </a:p>
        </p:txBody>
      </p:sp>
    </p:spTree>
    <p:extLst>
      <p:ext uri="{BB962C8B-B14F-4D97-AF65-F5344CB8AC3E}">
        <p14:creationId xmlns:p14="http://schemas.microsoft.com/office/powerpoint/2010/main" val="1957397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40CDF-6F21-76B9-A2F5-96969B0C48A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1A7548-8087-21BE-A1BA-0BD9CFB0A7E2}"/>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54</a:t>
            </a:fld>
            <a:endParaRPr lang="en-US">
              <a:solidFill>
                <a:srgbClr val="000000"/>
              </a:solidFill>
              <a:latin typeface="Segoe UI"/>
            </a:endParaRPr>
          </a:p>
        </p:txBody>
      </p:sp>
      <p:sp>
        <p:nvSpPr>
          <p:cNvPr id="19" name="!!6">
            <a:extLst>
              <a:ext uri="{FF2B5EF4-FFF2-40B4-BE49-F238E27FC236}">
                <a16:creationId xmlns:a16="http://schemas.microsoft.com/office/drawing/2014/main" id="{10D08CC4-6382-1E1B-2757-F9B0A384870D}"/>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Gene Ranking </a:t>
            </a:r>
            <a:r>
              <a:rPr lang="en-US" altLang="zh-CN" sz="4000" b="1" dirty="0">
                <a:solidFill>
                  <a:srgbClr val="1B4C9C"/>
                </a:solidFill>
                <a:latin typeface="Arial" panose="020B0604020202020204" pitchFamily="34" charset="0"/>
                <a:cs typeface="Arial" panose="020B0604020202020204" pitchFamily="34" charset="0"/>
              </a:rPr>
              <a:t>Model</a:t>
            </a:r>
            <a:r>
              <a:rPr lang="en-US" altLang="zh-CN" sz="4000" b="1">
                <a:solidFill>
                  <a:srgbClr val="1B4C9C"/>
                </a:solidFill>
                <a:latin typeface="Arial" panose="020B0604020202020204" pitchFamily="34" charset="0"/>
                <a:cs typeface="Arial" panose="020B0604020202020204" pitchFamily="34" charset="0"/>
              </a:rPr>
              <a:t>: R-GCN</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16" name="sometin">
            <a:extLst>
              <a:ext uri="{FF2B5EF4-FFF2-40B4-BE49-F238E27FC236}">
                <a16:creationId xmlns:a16="http://schemas.microsoft.com/office/drawing/2014/main" id="{F7E7884A-C4C3-CA68-CF55-F80DA7831A86}"/>
              </a:ext>
            </a:extLst>
          </p:cNvPr>
          <p:cNvSpPr/>
          <p:nvPr/>
        </p:nvSpPr>
        <p:spPr bwMode="auto">
          <a:xfrm>
            <a:off x="376644" y="976167"/>
            <a:ext cx="11438712" cy="1341219"/>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Message Passing formula that captures all steps detailed:</a:t>
            </a:r>
          </a:p>
        </p:txBody>
      </p:sp>
      <p:pic>
        <p:nvPicPr>
          <p:cNvPr id="11" name="Picture 10">
            <a:extLst>
              <a:ext uri="{FF2B5EF4-FFF2-40B4-BE49-F238E27FC236}">
                <a16:creationId xmlns:a16="http://schemas.microsoft.com/office/drawing/2014/main" id="{EC97B834-8A81-2E79-257A-BD65077C5B26}"/>
              </a:ext>
            </a:extLst>
          </p:cNvPr>
          <p:cNvPicPr>
            <a:picLocks noChangeAspect="1"/>
          </p:cNvPicPr>
          <p:nvPr/>
        </p:nvPicPr>
        <p:blipFill>
          <a:blip r:embed="rId3"/>
          <a:stretch>
            <a:fillRect/>
          </a:stretch>
        </p:blipFill>
        <p:spPr>
          <a:xfrm>
            <a:off x="1842169" y="2582193"/>
            <a:ext cx="7772400" cy="1214940"/>
          </a:xfrm>
          <a:prstGeom prst="rect">
            <a:avLst/>
          </a:prstGeom>
        </p:spPr>
      </p:pic>
      <p:pic>
        <p:nvPicPr>
          <p:cNvPr id="12" name="Picture 11">
            <a:extLst>
              <a:ext uri="{FF2B5EF4-FFF2-40B4-BE49-F238E27FC236}">
                <a16:creationId xmlns:a16="http://schemas.microsoft.com/office/drawing/2014/main" id="{135166CD-69CF-F26E-3B43-51A93169D0F4}"/>
              </a:ext>
            </a:extLst>
          </p:cNvPr>
          <p:cNvPicPr>
            <a:picLocks noChangeAspect="1"/>
          </p:cNvPicPr>
          <p:nvPr/>
        </p:nvPicPr>
        <p:blipFill>
          <a:blip r:embed="rId4"/>
          <a:stretch>
            <a:fillRect/>
          </a:stretch>
        </p:blipFill>
        <p:spPr>
          <a:xfrm>
            <a:off x="1842169" y="5012074"/>
            <a:ext cx="7772400" cy="1237397"/>
          </a:xfrm>
          <a:prstGeom prst="rect">
            <a:avLst/>
          </a:prstGeom>
        </p:spPr>
      </p:pic>
      <p:sp>
        <p:nvSpPr>
          <p:cNvPr id="13" name="sometin">
            <a:extLst>
              <a:ext uri="{FF2B5EF4-FFF2-40B4-BE49-F238E27FC236}">
                <a16:creationId xmlns:a16="http://schemas.microsoft.com/office/drawing/2014/main" id="{AFAF7053-7C23-DBDD-ACD9-9462AA2FEBF4}"/>
              </a:ext>
            </a:extLst>
          </p:cNvPr>
          <p:cNvSpPr/>
          <p:nvPr/>
        </p:nvSpPr>
        <p:spPr bwMode="auto">
          <a:xfrm>
            <a:off x="376644" y="4039483"/>
            <a:ext cx="11438712" cy="730241"/>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Message expanded version:</a:t>
            </a:r>
          </a:p>
        </p:txBody>
      </p:sp>
    </p:spTree>
    <p:extLst>
      <p:ext uri="{BB962C8B-B14F-4D97-AF65-F5344CB8AC3E}">
        <p14:creationId xmlns:p14="http://schemas.microsoft.com/office/powerpoint/2010/main" val="22302618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2D7D8-36F4-632E-DEAF-BF356232839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562BEB4-902E-484E-A6CE-6316FDD19506}"/>
              </a:ext>
            </a:extLst>
          </p:cNvPr>
          <p:cNvPicPr>
            <a:picLocks noChangeAspect="1"/>
          </p:cNvPicPr>
          <p:nvPr/>
        </p:nvPicPr>
        <p:blipFill>
          <a:blip r:embed="rId3"/>
          <a:srcRect t="2292" b="5512"/>
          <a:stretch>
            <a:fillRect/>
          </a:stretch>
        </p:blipFill>
        <p:spPr>
          <a:xfrm>
            <a:off x="847557" y="847141"/>
            <a:ext cx="10496885" cy="5903404"/>
          </a:xfrm>
          <a:prstGeom prst="rect">
            <a:avLst/>
          </a:prstGeom>
        </p:spPr>
      </p:pic>
      <p:sp>
        <p:nvSpPr>
          <p:cNvPr id="4" name="Slide Number Placeholder 3">
            <a:extLst>
              <a:ext uri="{FF2B5EF4-FFF2-40B4-BE49-F238E27FC236}">
                <a16:creationId xmlns:a16="http://schemas.microsoft.com/office/drawing/2014/main" id="{B6B3F0DA-9FF9-1657-3BDA-8EB485BC146A}"/>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55</a:t>
            </a:fld>
            <a:endParaRPr lang="en-US">
              <a:solidFill>
                <a:srgbClr val="000000"/>
              </a:solidFill>
              <a:latin typeface="Segoe UI"/>
            </a:endParaRPr>
          </a:p>
        </p:txBody>
      </p:sp>
      <p:sp>
        <p:nvSpPr>
          <p:cNvPr id="19" name="!!6">
            <a:extLst>
              <a:ext uri="{FF2B5EF4-FFF2-40B4-BE49-F238E27FC236}">
                <a16:creationId xmlns:a16="http://schemas.microsoft.com/office/drawing/2014/main" id="{75C90874-D2FD-1A78-4F54-9D426EBF1C2C}"/>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Gene Ranking </a:t>
            </a:r>
            <a:r>
              <a:rPr lang="en-US" altLang="zh-CN" sz="4000" b="1" dirty="0">
                <a:solidFill>
                  <a:srgbClr val="1B4C9C"/>
                </a:solidFill>
                <a:latin typeface="Arial" panose="020B0604020202020204" pitchFamily="34" charset="0"/>
                <a:cs typeface="Arial" panose="020B0604020202020204" pitchFamily="34" charset="0"/>
              </a:rPr>
              <a:t>Model</a:t>
            </a:r>
            <a:r>
              <a:rPr lang="en-US" altLang="zh-CN" sz="4000" b="1">
                <a:solidFill>
                  <a:srgbClr val="1B4C9C"/>
                </a:solidFill>
                <a:latin typeface="Arial" panose="020B0604020202020204" pitchFamily="34" charset="0"/>
                <a:cs typeface="Arial" panose="020B0604020202020204" pitchFamily="34" charset="0"/>
              </a:rPr>
              <a:t>: R-GCN</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16" name="sometin">
            <a:extLst>
              <a:ext uri="{FF2B5EF4-FFF2-40B4-BE49-F238E27FC236}">
                <a16:creationId xmlns:a16="http://schemas.microsoft.com/office/drawing/2014/main" id="{FA387F1A-FE34-2F1C-39DA-9375528464C7}"/>
              </a:ext>
            </a:extLst>
          </p:cNvPr>
          <p:cNvSpPr/>
          <p:nvPr/>
        </p:nvSpPr>
        <p:spPr bwMode="auto">
          <a:xfrm>
            <a:off x="589295" y="2874253"/>
            <a:ext cx="1122547" cy="554920"/>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err="1">
                <a:solidFill>
                  <a:schemeClr val="tx1"/>
                </a:solidFill>
                <a:latin typeface="Arial" panose="020B0604020202020204" pitchFamily="34" charset="0"/>
                <a:cs typeface="Arial" panose="020B0604020202020204" pitchFamily="34" charset="0"/>
              </a:rPr>
              <a:t>W</a:t>
            </a:r>
            <a:r>
              <a:rPr lang="en-US" sz="2800" baseline="-25000" err="1">
                <a:solidFill>
                  <a:schemeClr val="tx1"/>
                </a:solidFill>
                <a:latin typeface="Arial" panose="020B0604020202020204" pitchFamily="34" charset="0"/>
                <a:cs typeface="Arial" panose="020B0604020202020204" pitchFamily="34" charset="0"/>
              </a:rPr>
              <a:t>root</a:t>
            </a:r>
            <a:endParaRPr lang="en-US" sz="2800">
              <a:solidFill>
                <a:schemeClr val="tx1"/>
              </a:solidFill>
              <a:latin typeface="Arial" panose="020B0604020202020204" pitchFamily="34" charset="0"/>
              <a:cs typeface="Arial" panose="020B0604020202020204" pitchFamily="34" charset="0"/>
            </a:endParaRPr>
          </a:p>
        </p:txBody>
      </p:sp>
      <p:sp>
        <p:nvSpPr>
          <p:cNvPr id="3" name="sometin">
            <a:extLst>
              <a:ext uri="{FF2B5EF4-FFF2-40B4-BE49-F238E27FC236}">
                <a16:creationId xmlns:a16="http://schemas.microsoft.com/office/drawing/2014/main" id="{831D892D-C65E-009C-3CD0-B31784EB5DF8}"/>
              </a:ext>
            </a:extLst>
          </p:cNvPr>
          <p:cNvSpPr/>
          <p:nvPr/>
        </p:nvSpPr>
        <p:spPr bwMode="auto">
          <a:xfrm>
            <a:off x="1803991" y="1747284"/>
            <a:ext cx="953122" cy="517451"/>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err="1">
                <a:solidFill>
                  <a:schemeClr val="tx1"/>
                </a:solidFill>
                <a:latin typeface="Arial" panose="020B0604020202020204" pitchFamily="34" charset="0"/>
                <a:cs typeface="Arial" panose="020B0604020202020204" pitchFamily="34" charset="0"/>
              </a:rPr>
              <a:t>W</a:t>
            </a:r>
            <a:r>
              <a:rPr lang="en-US" sz="2800" baseline="-25000" err="1">
                <a:solidFill>
                  <a:schemeClr val="tx1"/>
                </a:solidFill>
                <a:latin typeface="Arial" panose="020B0604020202020204" pitchFamily="34" charset="0"/>
                <a:cs typeface="Arial" panose="020B0604020202020204" pitchFamily="34" charset="0"/>
              </a:rPr>
              <a:t>text</a:t>
            </a:r>
            <a:endParaRPr lang="en-US" sz="2800">
              <a:solidFill>
                <a:schemeClr val="tx1"/>
              </a:solidFill>
              <a:latin typeface="Arial" panose="020B0604020202020204" pitchFamily="34" charset="0"/>
              <a:cs typeface="Arial" panose="020B0604020202020204" pitchFamily="34" charset="0"/>
            </a:endParaRPr>
          </a:p>
        </p:txBody>
      </p:sp>
      <p:sp>
        <p:nvSpPr>
          <p:cNvPr id="5" name="sometin">
            <a:extLst>
              <a:ext uri="{FF2B5EF4-FFF2-40B4-BE49-F238E27FC236}">
                <a16:creationId xmlns:a16="http://schemas.microsoft.com/office/drawing/2014/main" id="{6A35A9A9-5B0E-DBB4-5805-AC775F83D30C}"/>
              </a:ext>
            </a:extLst>
          </p:cNvPr>
          <p:cNvSpPr/>
          <p:nvPr/>
        </p:nvSpPr>
        <p:spPr bwMode="auto">
          <a:xfrm>
            <a:off x="4094992" y="1798419"/>
            <a:ext cx="859779" cy="466316"/>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err="1">
                <a:solidFill>
                  <a:schemeClr val="tx1"/>
                </a:solidFill>
                <a:latin typeface="Arial" panose="020B0604020202020204" pitchFamily="34" charset="0"/>
                <a:cs typeface="Arial" panose="020B0604020202020204" pitchFamily="34" charset="0"/>
              </a:rPr>
              <a:t>W</a:t>
            </a:r>
            <a:r>
              <a:rPr lang="en-US" sz="2800" baseline="-25000" err="1">
                <a:solidFill>
                  <a:schemeClr val="tx1"/>
                </a:solidFill>
                <a:latin typeface="Arial" panose="020B0604020202020204" pitchFamily="34" charset="0"/>
                <a:cs typeface="Arial" panose="020B0604020202020204" pitchFamily="34" charset="0"/>
              </a:rPr>
              <a:t>qtl</a:t>
            </a:r>
            <a:endParaRPr lang="en-US" sz="2800">
              <a:solidFill>
                <a:schemeClr val="tx1"/>
              </a:solidFill>
              <a:latin typeface="Arial" panose="020B0604020202020204" pitchFamily="34" charset="0"/>
              <a:cs typeface="Arial" panose="020B0604020202020204" pitchFamily="34" charset="0"/>
            </a:endParaRPr>
          </a:p>
        </p:txBody>
      </p:sp>
      <p:sp>
        <p:nvSpPr>
          <p:cNvPr id="6" name="sometin">
            <a:extLst>
              <a:ext uri="{FF2B5EF4-FFF2-40B4-BE49-F238E27FC236}">
                <a16:creationId xmlns:a16="http://schemas.microsoft.com/office/drawing/2014/main" id="{B67F6CEC-183E-F9F3-183A-E2621DD54C7F}"/>
              </a:ext>
            </a:extLst>
          </p:cNvPr>
          <p:cNvSpPr/>
          <p:nvPr/>
        </p:nvSpPr>
        <p:spPr bwMode="auto">
          <a:xfrm>
            <a:off x="6965286" y="1747284"/>
            <a:ext cx="1211151" cy="517451"/>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err="1">
                <a:solidFill>
                  <a:schemeClr val="tx1"/>
                </a:solidFill>
                <a:latin typeface="Arial" panose="020B0604020202020204" pitchFamily="34" charset="0"/>
                <a:cs typeface="Arial" panose="020B0604020202020204" pitchFamily="34" charset="0"/>
              </a:rPr>
              <a:t>W</a:t>
            </a:r>
            <a:r>
              <a:rPr lang="en-US" sz="2800" baseline="-25000" err="1">
                <a:solidFill>
                  <a:schemeClr val="tx1"/>
                </a:solidFill>
                <a:latin typeface="Arial" panose="020B0604020202020204" pitchFamily="34" charset="0"/>
                <a:cs typeface="Arial" panose="020B0604020202020204" pitchFamily="34" charset="0"/>
              </a:rPr>
              <a:t>coexp</a:t>
            </a:r>
            <a:endParaRPr lang="en-US" sz="2800">
              <a:solidFill>
                <a:schemeClr val="tx1"/>
              </a:solidFill>
              <a:latin typeface="Arial" panose="020B0604020202020204" pitchFamily="34" charset="0"/>
              <a:cs typeface="Arial" panose="020B0604020202020204" pitchFamily="34" charset="0"/>
            </a:endParaRPr>
          </a:p>
        </p:txBody>
      </p:sp>
      <p:sp>
        <p:nvSpPr>
          <p:cNvPr id="7" name="sometin">
            <a:extLst>
              <a:ext uri="{FF2B5EF4-FFF2-40B4-BE49-F238E27FC236}">
                <a16:creationId xmlns:a16="http://schemas.microsoft.com/office/drawing/2014/main" id="{4ABD6CEB-9BF8-6489-5DDF-F74845CF8756}"/>
              </a:ext>
            </a:extLst>
          </p:cNvPr>
          <p:cNvSpPr/>
          <p:nvPr/>
        </p:nvSpPr>
        <p:spPr bwMode="auto">
          <a:xfrm>
            <a:off x="8756214" y="2971125"/>
            <a:ext cx="1642427" cy="549371"/>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err="1">
                <a:solidFill>
                  <a:schemeClr val="tx1"/>
                </a:solidFill>
                <a:latin typeface="Arial" panose="020B0604020202020204" pitchFamily="34" charset="0"/>
                <a:cs typeface="Arial" panose="020B0604020202020204" pitchFamily="34" charset="0"/>
              </a:rPr>
              <a:t>W</a:t>
            </a:r>
            <a:r>
              <a:rPr lang="en-US" sz="2800" baseline="-25000" err="1">
                <a:solidFill>
                  <a:schemeClr val="tx1"/>
                </a:solidFill>
                <a:latin typeface="Arial" panose="020B0604020202020204" pitchFamily="34" charset="0"/>
                <a:cs typeface="Arial" panose="020B0604020202020204" pitchFamily="34" charset="0"/>
              </a:rPr>
              <a:t>homology</a:t>
            </a:r>
            <a:endParaRPr lang="en-US" sz="28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48123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 grpId="0" animBg="1"/>
      <p:bldP spid="5" grpId="0" animBg="1"/>
      <p:bldP spid="6" grpId="0" animBg="1"/>
      <p:bldP spid="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E74DC-2443-A284-B74C-06C7D0B5A9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F4922C-34BE-BBD2-A5FD-0118A9BB3A55}"/>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56</a:t>
            </a:fld>
            <a:endParaRPr lang="en-US">
              <a:solidFill>
                <a:srgbClr val="000000"/>
              </a:solidFill>
              <a:latin typeface="Segoe UI"/>
            </a:endParaRPr>
          </a:p>
        </p:txBody>
      </p:sp>
      <p:sp>
        <p:nvSpPr>
          <p:cNvPr id="19" name="!!6">
            <a:extLst>
              <a:ext uri="{FF2B5EF4-FFF2-40B4-BE49-F238E27FC236}">
                <a16:creationId xmlns:a16="http://schemas.microsoft.com/office/drawing/2014/main" id="{9FDFB1A7-49BC-E4EF-6629-D8FE82B6CA85}"/>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Gene Ranking </a:t>
            </a:r>
            <a:r>
              <a:rPr lang="en-US" altLang="zh-CN" sz="4000" b="1" dirty="0">
                <a:solidFill>
                  <a:srgbClr val="1B4C9C"/>
                </a:solidFill>
                <a:latin typeface="Arial" panose="020B0604020202020204" pitchFamily="34" charset="0"/>
                <a:cs typeface="Arial" panose="020B0604020202020204" pitchFamily="34" charset="0"/>
              </a:rPr>
              <a:t>Model</a:t>
            </a:r>
            <a:r>
              <a:rPr lang="en-US" altLang="zh-CN" sz="4000" b="1">
                <a:solidFill>
                  <a:srgbClr val="1B4C9C"/>
                </a:solidFill>
                <a:latin typeface="Arial" panose="020B0604020202020204" pitchFamily="34" charset="0"/>
                <a:cs typeface="Arial" panose="020B0604020202020204" pitchFamily="34" charset="0"/>
              </a:rPr>
              <a:t>: R-GCN</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8" name="Rectangle 7">
            <a:extLst>
              <a:ext uri="{FF2B5EF4-FFF2-40B4-BE49-F238E27FC236}">
                <a16:creationId xmlns:a16="http://schemas.microsoft.com/office/drawing/2014/main" id="{DD1B5053-A4F9-C47B-492E-53CEF029B22C}"/>
              </a:ext>
            </a:extLst>
          </p:cNvPr>
          <p:cNvSpPr/>
          <p:nvPr/>
        </p:nvSpPr>
        <p:spPr>
          <a:xfrm>
            <a:off x="2344084" y="3515372"/>
            <a:ext cx="808522" cy="741145"/>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7B9A68F-3ACD-2D83-3686-2999AF206FC8}"/>
              </a:ext>
            </a:extLst>
          </p:cNvPr>
          <p:cNvSpPr/>
          <p:nvPr/>
        </p:nvSpPr>
        <p:spPr>
          <a:xfrm>
            <a:off x="2599955" y="3787286"/>
            <a:ext cx="808522" cy="741145"/>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4CC602F-AF1C-5FE9-153E-6F801C6DE91B}"/>
              </a:ext>
            </a:extLst>
          </p:cNvPr>
          <p:cNvSpPr/>
          <p:nvPr/>
        </p:nvSpPr>
        <p:spPr>
          <a:xfrm>
            <a:off x="2896734" y="4059200"/>
            <a:ext cx="808522" cy="741145"/>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596C56C-9C2D-F520-1415-8DD2CBC70C56}"/>
              </a:ext>
            </a:extLst>
          </p:cNvPr>
          <p:cNvSpPr/>
          <p:nvPr/>
        </p:nvSpPr>
        <p:spPr>
          <a:xfrm>
            <a:off x="3178673" y="4334122"/>
            <a:ext cx="823361" cy="824765"/>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053EB53-B683-CFAB-CFB2-5096D0696B24}"/>
              </a:ext>
            </a:extLst>
          </p:cNvPr>
          <p:cNvSpPr/>
          <p:nvPr/>
        </p:nvSpPr>
        <p:spPr>
          <a:xfrm>
            <a:off x="3475451" y="4609044"/>
            <a:ext cx="808522" cy="741145"/>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F8241F3-1879-2380-278B-52FED225A124}"/>
              </a:ext>
            </a:extLst>
          </p:cNvPr>
          <p:cNvSpPr txBox="1"/>
          <p:nvPr/>
        </p:nvSpPr>
        <p:spPr>
          <a:xfrm>
            <a:off x="3076910" y="3243196"/>
            <a:ext cx="740267" cy="400110"/>
          </a:xfrm>
          <a:prstGeom prst="rect">
            <a:avLst/>
          </a:prstGeom>
          <a:noFill/>
        </p:spPr>
        <p:txBody>
          <a:bodyPr wrap="none" rtlCol="0">
            <a:spAutoFit/>
          </a:bodyPr>
          <a:lstStyle/>
          <a:p>
            <a:r>
              <a:rPr lang="en-US" sz="2000" err="1"/>
              <a:t>W</a:t>
            </a:r>
            <a:r>
              <a:rPr lang="en-US" sz="2000" baseline="-25000" err="1"/>
              <a:t>root</a:t>
            </a:r>
            <a:endParaRPr lang="en-US" sz="2000"/>
          </a:p>
        </p:txBody>
      </p:sp>
      <p:sp>
        <p:nvSpPr>
          <p:cNvPr id="14" name="TextBox 13">
            <a:extLst>
              <a:ext uri="{FF2B5EF4-FFF2-40B4-BE49-F238E27FC236}">
                <a16:creationId xmlns:a16="http://schemas.microsoft.com/office/drawing/2014/main" id="{E663C6AA-4E10-3C95-43A7-B6E1DEFA47C3}"/>
              </a:ext>
            </a:extLst>
          </p:cNvPr>
          <p:cNvSpPr txBox="1"/>
          <p:nvPr/>
        </p:nvSpPr>
        <p:spPr>
          <a:xfrm>
            <a:off x="3367943" y="3536445"/>
            <a:ext cx="705899" cy="400110"/>
          </a:xfrm>
          <a:prstGeom prst="rect">
            <a:avLst/>
          </a:prstGeom>
          <a:noFill/>
        </p:spPr>
        <p:txBody>
          <a:bodyPr wrap="none" rtlCol="0">
            <a:spAutoFit/>
          </a:bodyPr>
          <a:lstStyle/>
          <a:p>
            <a:r>
              <a:rPr lang="en-US" sz="2000" err="1"/>
              <a:t>W</a:t>
            </a:r>
            <a:r>
              <a:rPr lang="en-US" sz="2000" baseline="-25000" err="1"/>
              <a:t>text</a:t>
            </a:r>
            <a:endParaRPr lang="en-US" sz="2000"/>
          </a:p>
        </p:txBody>
      </p:sp>
      <p:sp>
        <p:nvSpPr>
          <p:cNvPr id="15" name="TextBox 14">
            <a:extLst>
              <a:ext uri="{FF2B5EF4-FFF2-40B4-BE49-F238E27FC236}">
                <a16:creationId xmlns:a16="http://schemas.microsoft.com/office/drawing/2014/main" id="{8BAF6C17-35EB-998F-BA33-26C7EF7D20CF}"/>
              </a:ext>
            </a:extLst>
          </p:cNvPr>
          <p:cNvSpPr txBox="1"/>
          <p:nvPr/>
        </p:nvSpPr>
        <p:spPr>
          <a:xfrm>
            <a:off x="3664347" y="3843232"/>
            <a:ext cx="617733" cy="400110"/>
          </a:xfrm>
          <a:prstGeom prst="rect">
            <a:avLst/>
          </a:prstGeom>
          <a:noFill/>
        </p:spPr>
        <p:txBody>
          <a:bodyPr wrap="none" rtlCol="0">
            <a:spAutoFit/>
          </a:bodyPr>
          <a:lstStyle/>
          <a:p>
            <a:r>
              <a:rPr lang="en-US" sz="2000" err="1"/>
              <a:t>W</a:t>
            </a:r>
            <a:r>
              <a:rPr lang="en-US" sz="2000" baseline="-25000" err="1"/>
              <a:t>qtl</a:t>
            </a:r>
            <a:endParaRPr lang="en-US" sz="2000"/>
          </a:p>
        </p:txBody>
      </p:sp>
      <p:sp>
        <p:nvSpPr>
          <p:cNvPr id="17" name="TextBox 16">
            <a:extLst>
              <a:ext uri="{FF2B5EF4-FFF2-40B4-BE49-F238E27FC236}">
                <a16:creationId xmlns:a16="http://schemas.microsoft.com/office/drawing/2014/main" id="{EB0AA61B-DC09-15CE-9BB6-279C988F034D}"/>
              </a:ext>
            </a:extLst>
          </p:cNvPr>
          <p:cNvSpPr txBox="1"/>
          <p:nvPr/>
        </p:nvSpPr>
        <p:spPr>
          <a:xfrm>
            <a:off x="3981967" y="4123549"/>
            <a:ext cx="866199" cy="400110"/>
          </a:xfrm>
          <a:prstGeom prst="rect">
            <a:avLst/>
          </a:prstGeom>
          <a:noFill/>
        </p:spPr>
        <p:txBody>
          <a:bodyPr wrap="none" rtlCol="0">
            <a:spAutoFit/>
          </a:bodyPr>
          <a:lstStyle/>
          <a:p>
            <a:r>
              <a:rPr lang="en-US" sz="2000" err="1"/>
              <a:t>W</a:t>
            </a:r>
            <a:r>
              <a:rPr lang="en-US" sz="2000" baseline="-25000" err="1"/>
              <a:t>coexp</a:t>
            </a:r>
            <a:endParaRPr lang="en-US" sz="2000"/>
          </a:p>
        </p:txBody>
      </p:sp>
      <p:sp>
        <p:nvSpPr>
          <p:cNvPr id="18" name="TextBox 17">
            <a:extLst>
              <a:ext uri="{FF2B5EF4-FFF2-40B4-BE49-F238E27FC236}">
                <a16:creationId xmlns:a16="http://schemas.microsoft.com/office/drawing/2014/main" id="{DCD70A95-87E5-43AD-5204-97917094F433}"/>
              </a:ext>
            </a:extLst>
          </p:cNvPr>
          <p:cNvSpPr txBox="1"/>
          <p:nvPr/>
        </p:nvSpPr>
        <p:spPr>
          <a:xfrm>
            <a:off x="4241012" y="4415314"/>
            <a:ext cx="1196161" cy="400110"/>
          </a:xfrm>
          <a:prstGeom prst="rect">
            <a:avLst/>
          </a:prstGeom>
          <a:noFill/>
        </p:spPr>
        <p:txBody>
          <a:bodyPr wrap="none" rtlCol="0">
            <a:spAutoFit/>
          </a:bodyPr>
          <a:lstStyle/>
          <a:p>
            <a:r>
              <a:rPr lang="en-US" sz="2000" err="1"/>
              <a:t>W</a:t>
            </a:r>
            <a:r>
              <a:rPr lang="en-US" sz="2000" baseline="-25000" err="1"/>
              <a:t>homology</a:t>
            </a:r>
            <a:endParaRPr lang="en-US" sz="2000"/>
          </a:p>
        </p:txBody>
      </p:sp>
      <p:sp>
        <p:nvSpPr>
          <p:cNvPr id="20" name="TextBox 19">
            <a:extLst>
              <a:ext uri="{FF2B5EF4-FFF2-40B4-BE49-F238E27FC236}">
                <a16:creationId xmlns:a16="http://schemas.microsoft.com/office/drawing/2014/main" id="{1E38E7F8-57FC-6903-9EDB-1D91B339EC27}"/>
              </a:ext>
            </a:extLst>
          </p:cNvPr>
          <p:cNvSpPr txBox="1"/>
          <p:nvPr/>
        </p:nvSpPr>
        <p:spPr>
          <a:xfrm>
            <a:off x="3178673" y="5747099"/>
            <a:ext cx="896720" cy="369332"/>
          </a:xfrm>
          <a:prstGeom prst="rect">
            <a:avLst/>
          </a:prstGeom>
          <a:noFill/>
        </p:spPr>
        <p:txBody>
          <a:bodyPr wrap="none" rtlCol="0">
            <a:spAutoFit/>
          </a:bodyPr>
          <a:lstStyle/>
          <a:p>
            <a:r>
              <a:rPr lang="en-US"/>
              <a:t>Layer 1</a:t>
            </a:r>
          </a:p>
        </p:txBody>
      </p:sp>
      <p:sp>
        <p:nvSpPr>
          <p:cNvPr id="21" name="Rectangle 20">
            <a:extLst>
              <a:ext uri="{FF2B5EF4-FFF2-40B4-BE49-F238E27FC236}">
                <a16:creationId xmlns:a16="http://schemas.microsoft.com/office/drawing/2014/main" id="{540F6EFA-4C3F-EA7D-860F-DF0EB5B6770A}"/>
              </a:ext>
            </a:extLst>
          </p:cNvPr>
          <p:cNvSpPr/>
          <p:nvPr/>
        </p:nvSpPr>
        <p:spPr>
          <a:xfrm>
            <a:off x="8844259" y="3515372"/>
            <a:ext cx="808522" cy="741145"/>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54F54E1-E4B5-E2BC-630B-D9F70DE8D69C}"/>
              </a:ext>
            </a:extLst>
          </p:cNvPr>
          <p:cNvSpPr/>
          <p:nvPr/>
        </p:nvSpPr>
        <p:spPr>
          <a:xfrm>
            <a:off x="9100130" y="3787286"/>
            <a:ext cx="808522" cy="741145"/>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89BF2F2-8441-DC56-6000-C28C5E4F3A3A}"/>
              </a:ext>
            </a:extLst>
          </p:cNvPr>
          <p:cNvSpPr/>
          <p:nvPr/>
        </p:nvSpPr>
        <p:spPr>
          <a:xfrm>
            <a:off x="9396909" y="4059200"/>
            <a:ext cx="808522" cy="741145"/>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236FB91-7478-4E03-FD7C-69839BB92745}"/>
              </a:ext>
            </a:extLst>
          </p:cNvPr>
          <p:cNvSpPr/>
          <p:nvPr/>
        </p:nvSpPr>
        <p:spPr>
          <a:xfrm>
            <a:off x="9678848" y="4334122"/>
            <a:ext cx="823361" cy="824765"/>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BC432BE-3879-2A6E-DFEC-DAAEAA829861}"/>
              </a:ext>
            </a:extLst>
          </p:cNvPr>
          <p:cNvSpPr/>
          <p:nvPr/>
        </p:nvSpPr>
        <p:spPr>
          <a:xfrm>
            <a:off x="9975626" y="4609044"/>
            <a:ext cx="808522" cy="741145"/>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31F59C6-571A-D0E8-0A4C-EBC3ABED8C18}"/>
              </a:ext>
            </a:extLst>
          </p:cNvPr>
          <p:cNvSpPr txBox="1"/>
          <p:nvPr/>
        </p:nvSpPr>
        <p:spPr>
          <a:xfrm>
            <a:off x="9577085" y="3243196"/>
            <a:ext cx="740267" cy="400110"/>
          </a:xfrm>
          <a:prstGeom prst="rect">
            <a:avLst/>
          </a:prstGeom>
          <a:noFill/>
        </p:spPr>
        <p:txBody>
          <a:bodyPr wrap="none" rtlCol="0">
            <a:spAutoFit/>
          </a:bodyPr>
          <a:lstStyle/>
          <a:p>
            <a:r>
              <a:rPr lang="en-US" sz="2000" err="1"/>
              <a:t>W</a:t>
            </a:r>
            <a:r>
              <a:rPr lang="en-US" sz="2000" baseline="-25000" err="1"/>
              <a:t>root</a:t>
            </a:r>
            <a:endParaRPr lang="en-US" sz="2000"/>
          </a:p>
        </p:txBody>
      </p:sp>
      <p:sp>
        <p:nvSpPr>
          <p:cNvPr id="27" name="TextBox 26">
            <a:extLst>
              <a:ext uri="{FF2B5EF4-FFF2-40B4-BE49-F238E27FC236}">
                <a16:creationId xmlns:a16="http://schemas.microsoft.com/office/drawing/2014/main" id="{8F26FAF4-A6AB-BCA7-C8A7-9FEDEE29BD36}"/>
              </a:ext>
            </a:extLst>
          </p:cNvPr>
          <p:cNvSpPr txBox="1"/>
          <p:nvPr/>
        </p:nvSpPr>
        <p:spPr>
          <a:xfrm>
            <a:off x="9868118" y="3536445"/>
            <a:ext cx="705899" cy="400110"/>
          </a:xfrm>
          <a:prstGeom prst="rect">
            <a:avLst/>
          </a:prstGeom>
          <a:noFill/>
        </p:spPr>
        <p:txBody>
          <a:bodyPr wrap="none" rtlCol="0">
            <a:spAutoFit/>
          </a:bodyPr>
          <a:lstStyle/>
          <a:p>
            <a:r>
              <a:rPr lang="en-US" sz="2000" err="1"/>
              <a:t>W</a:t>
            </a:r>
            <a:r>
              <a:rPr lang="en-US" sz="2000" baseline="-25000" err="1"/>
              <a:t>text</a:t>
            </a:r>
            <a:endParaRPr lang="en-US" sz="2000"/>
          </a:p>
        </p:txBody>
      </p:sp>
      <p:sp>
        <p:nvSpPr>
          <p:cNvPr id="28" name="TextBox 27">
            <a:extLst>
              <a:ext uri="{FF2B5EF4-FFF2-40B4-BE49-F238E27FC236}">
                <a16:creationId xmlns:a16="http://schemas.microsoft.com/office/drawing/2014/main" id="{EA15448C-C244-BB18-66E3-EAA4B437ED92}"/>
              </a:ext>
            </a:extLst>
          </p:cNvPr>
          <p:cNvSpPr txBox="1"/>
          <p:nvPr/>
        </p:nvSpPr>
        <p:spPr>
          <a:xfrm>
            <a:off x="10164522" y="3843232"/>
            <a:ext cx="617733" cy="400110"/>
          </a:xfrm>
          <a:prstGeom prst="rect">
            <a:avLst/>
          </a:prstGeom>
          <a:noFill/>
        </p:spPr>
        <p:txBody>
          <a:bodyPr wrap="none" rtlCol="0">
            <a:spAutoFit/>
          </a:bodyPr>
          <a:lstStyle/>
          <a:p>
            <a:r>
              <a:rPr lang="en-US" sz="2000" err="1"/>
              <a:t>W</a:t>
            </a:r>
            <a:r>
              <a:rPr lang="en-US" sz="2000" baseline="-25000" err="1"/>
              <a:t>qtl</a:t>
            </a:r>
            <a:endParaRPr lang="en-US" sz="2000"/>
          </a:p>
        </p:txBody>
      </p:sp>
      <p:sp>
        <p:nvSpPr>
          <p:cNvPr id="29" name="TextBox 28">
            <a:extLst>
              <a:ext uri="{FF2B5EF4-FFF2-40B4-BE49-F238E27FC236}">
                <a16:creationId xmlns:a16="http://schemas.microsoft.com/office/drawing/2014/main" id="{E6DFDF0B-5812-F171-FD9A-43B1CC337C83}"/>
              </a:ext>
            </a:extLst>
          </p:cNvPr>
          <p:cNvSpPr txBox="1"/>
          <p:nvPr/>
        </p:nvSpPr>
        <p:spPr>
          <a:xfrm>
            <a:off x="10482142" y="4123549"/>
            <a:ext cx="866199" cy="400110"/>
          </a:xfrm>
          <a:prstGeom prst="rect">
            <a:avLst/>
          </a:prstGeom>
          <a:noFill/>
        </p:spPr>
        <p:txBody>
          <a:bodyPr wrap="none" rtlCol="0">
            <a:spAutoFit/>
          </a:bodyPr>
          <a:lstStyle/>
          <a:p>
            <a:r>
              <a:rPr lang="en-US" sz="2000" err="1"/>
              <a:t>W</a:t>
            </a:r>
            <a:r>
              <a:rPr lang="en-US" sz="2000" baseline="-25000" err="1"/>
              <a:t>coexp</a:t>
            </a:r>
            <a:endParaRPr lang="en-US" sz="2000"/>
          </a:p>
        </p:txBody>
      </p:sp>
      <p:sp>
        <p:nvSpPr>
          <p:cNvPr id="30" name="TextBox 29">
            <a:extLst>
              <a:ext uri="{FF2B5EF4-FFF2-40B4-BE49-F238E27FC236}">
                <a16:creationId xmlns:a16="http://schemas.microsoft.com/office/drawing/2014/main" id="{3F6687A7-EFB1-1855-5E2B-C9ABEF8E4D37}"/>
              </a:ext>
            </a:extLst>
          </p:cNvPr>
          <p:cNvSpPr txBox="1"/>
          <p:nvPr/>
        </p:nvSpPr>
        <p:spPr>
          <a:xfrm>
            <a:off x="9678848" y="5747099"/>
            <a:ext cx="896720" cy="369332"/>
          </a:xfrm>
          <a:prstGeom prst="rect">
            <a:avLst/>
          </a:prstGeom>
          <a:noFill/>
        </p:spPr>
        <p:txBody>
          <a:bodyPr wrap="none" rtlCol="0">
            <a:spAutoFit/>
          </a:bodyPr>
          <a:lstStyle/>
          <a:p>
            <a:r>
              <a:rPr lang="en-US"/>
              <a:t>Layer 2</a:t>
            </a:r>
          </a:p>
        </p:txBody>
      </p:sp>
      <p:sp>
        <p:nvSpPr>
          <p:cNvPr id="31" name="TextBox 30">
            <a:extLst>
              <a:ext uri="{FF2B5EF4-FFF2-40B4-BE49-F238E27FC236}">
                <a16:creationId xmlns:a16="http://schemas.microsoft.com/office/drawing/2014/main" id="{47ABE781-2B8C-88A6-DAA5-EDB83079EFF8}"/>
              </a:ext>
            </a:extLst>
          </p:cNvPr>
          <p:cNvSpPr txBox="1"/>
          <p:nvPr/>
        </p:nvSpPr>
        <p:spPr>
          <a:xfrm>
            <a:off x="1106628" y="4087550"/>
            <a:ext cx="405880" cy="369332"/>
          </a:xfrm>
          <a:prstGeom prst="rect">
            <a:avLst/>
          </a:prstGeom>
          <a:noFill/>
        </p:spPr>
        <p:txBody>
          <a:bodyPr wrap="none" rtlCol="0">
            <a:spAutoFit/>
          </a:bodyPr>
          <a:lstStyle/>
          <a:p>
            <a:r>
              <a:rPr lang="en-US"/>
              <a:t>x</a:t>
            </a:r>
            <a:r>
              <a:rPr lang="en-US" baseline="-25000"/>
              <a:t>i</a:t>
            </a:r>
            <a:r>
              <a:rPr lang="en-US" baseline="30000"/>
              <a:t>1</a:t>
            </a:r>
            <a:endParaRPr lang="en-US"/>
          </a:p>
        </p:txBody>
      </p:sp>
      <p:sp>
        <p:nvSpPr>
          <p:cNvPr id="32" name="TextBox 31">
            <a:extLst>
              <a:ext uri="{FF2B5EF4-FFF2-40B4-BE49-F238E27FC236}">
                <a16:creationId xmlns:a16="http://schemas.microsoft.com/office/drawing/2014/main" id="{8BEDC88C-155B-09AA-5DF3-E9741FF17F50}"/>
              </a:ext>
            </a:extLst>
          </p:cNvPr>
          <p:cNvSpPr txBox="1"/>
          <p:nvPr/>
        </p:nvSpPr>
        <p:spPr>
          <a:xfrm>
            <a:off x="130734" y="4864037"/>
            <a:ext cx="3021872" cy="461665"/>
          </a:xfrm>
          <a:prstGeom prst="rect">
            <a:avLst/>
          </a:prstGeom>
          <a:noFill/>
        </p:spPr>
        <p:txBody>
          <a:bodyPr wrap="square">
            <a:spAutoFit/>
          </a:bodyPr>
          <a:lstStyle/>
          <a:p>
            <a:r>
              <a:rPr lang="en-US"/>
              <a:t>(node embeddings)</a:t>
            </a:r>
          </a:p>
        </p:txBody>
      </p:sp>
      <p:sp>
        <p:nvSpPr>
          <p:cNvPr id="33" name="TextBox 32">
            <a:extLst>
              <a:ext uri="{FF2B5EF4-FFF2-40B4-BE49-F238E27FC236}">
                <a16:creationId xmlns:a16="http://schemas.microsoft.com/office/drawing/2014/main" id="{C383F1C9-A211-D9ED-509E-0B968B29FED5}"/>
              </a:ext>
            </a:extLst>
          </p:cNvPr>
          <p:cNvSpPr txBox="1"/>
          <p:nvPr/>
        </p:nvSpPr>
        <p:spPr>
          <a:xfrm>
            <a:off x="1765526" y="4087550"/>
            <a:ext cx="391454" cy="369332"/>
          </a:xfrm>
          <a:prstGeom prst="rect">
            <a:avLst/>
          </a:prstGeom>
          <a:noFill/>
        </p:spPr>
        <p:txBody>
          <a:bodyPr wrap="none" rtlCol="0">
            <a:spAutoFit/>
          </a:bodyPr>
          <a:lstStyle/>
          <a:p>
            <a:r>
              <a:rPr lang="en-US"/>
              <a:t>@</a:t>
            </a:r>
          </a:p>
        </p:txBody>
      </p:sp>
      <p:sp>
        <p:nvSpPr>
          <p:cNvPr id="34" name="TextBox 33">
            <a:extLst>
              <a:ext uri="{FF2B5EF4-FFF2-40B4-BE49-F238E27FC236}">
                <a16:creationId xmlns:a16="http://schemas.microsoft.com/office/drawing/2014/main" id="{94864BD1-D39C-8EDB-BC5D-07B33F91AB47}"/>
              </a:ext>
            </a:extLst>
          </p:cNvPr>
          <p:cNvSpPr txBox="1"/>
          <p:nvPr/>
        </p:nvSpPr>
        <p:spPr>
          <a:xfrm>
            <a:off x="7764184" y="4071851"/>
            <a:ext cx="635239" cy="369332"/>
          </a:xfrm>
          <a:prstGeom prst="rect">
            <a:avLst/>
          </a:prstGeom>
          <a:noFill/>
        </p:spPr>
        <p:txBody>
          <a:bodyPr wrap="square">
            <a:spAutoFit/>
          </a:bodyPr>
          <a:lstStyle/>
          <a:p>
            <a:r>
              <a:rPr lang="en-US"/>
              <a:t>x</a:t>
            </a:r>
            <a:r>
              <a:rPr lang="en-US" baseline="-25000"/>
              <a:t>i</a:t>
            </a:r>
            <a:r>
              <a:rPr lang="en-US" baseline="30000"/>
              <a:t>2</a:t>
            </a:r>
            <a:endParaRPr lang="en-US"/>
          </a:p>
        </p:txBody>
      </p:sp>
      <p:sp>
        <p:nvSpPr>
          <p:cNvPr id="35" name="TextBox 34">
            <a:extLst>
              <a:ext uri="{FF2B5EF4-FFF2-40B4-BE49-F238E27FC236}">
                <a16:creationId xmlns:a16="http://schemas.microsoft.com/office/drawing/2014/main" id="{70AD82FB-B311-C3E9-2CF6-7950766A1351}"/>
              </a:ext>
            </a:extLst>
          </p:cNvPr>
          <p:cNvSpPr txBox="1"/>
          <p:nvPr/>
        </p:nvSpPr>
        <p:spPr>
          <a:xfrm>
            <a:off x="4774690" y="4120619"/>
            <a:ext cx="821059" cy="369332"/>
          </a:xfrm>
          <a:prstGeom prst="rect">
            <a:avLst/>
          </a:prstGeom>
          <a:noFill/>
        </p:spPr>
        <p:txBody>
          <a:bodyPr wrap="none" rtlCol="0">
            <a:spAutoFit/>
          </a:bodyPr>
          <a:lstStyle/>
          <a:p>
            <a:r>
              <a:rPr lang="en-US"/>
              <a:t>+ bias </a:t>
            </a:r>
          </a:p>
        </p:txBody>
      </p:sp>
      <p:cxnSp>
        <p:nvCxnSpPr>
          <p:cNvPr id="36" name="Straight Arrow Connector 35">
            <a:extLst>
              <a:ext uri="{FF2B5EF4-FFF2-40B4-BE49-F238E27FC236}">
                <a16:creationId xmlns:a16="http://schemas.microsoft.com/office/drawing/2014/main" id="{06A6D81D-63F3-E541-D80B-7BDFCF49AE12}"/>
              </a:ext>
            </a:extLst>
          </p:cNvPr>
          <p:cNvCxnSpPr>
            <a:cxnSpLocks/>
          </p:cNvCxnSpPr>
          <p:nvPr/>
        </p:nvCxnSpPr>
        <p:spPr>
          <a:xfrm>
            <a:off x="5911702" y="4305285"/>
            <a:ext cx="176981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D670AEC8-EB9C-04A1-A5A4-F24B64551283}"/>
              </a:ext>
            </a:extLst>
          </p:cNvPr>
          <p:cNvSpPr txBox="1"/>
          <p:nvPr/>
        </p:nvSpPr>
        <p:spPr>
          <a:xfrm>
            <a:off x="8203696" y="4087550"/>
            <a:ext cx="391454" cy="369332"/>
          </a:xfrm>
          <a:prstGeom prst="rect">
            <a:avLst/>
          </a:prstGeom>
          <a:noFill/>
        </p:spPr>
        <p:txBody>
          <a:bodyPr wrap="none" rtlCol="0">
            <a:spAutoFit/>
          </a:bodyPr>
          <a:lstStyle/>
          <a:p>
            <a:r>
              <a:rPr lang="en-US"/>
              <a:t>@</a:t>
            </a:r>
          </a:p>
        </p:txBody>
      </p:sp>
      <p:sp>
        <p:nvSpPr>
          <p:cNvPr id="38" name="sometin">
            <a:extLst>
              <a:ext uri="{FF2B5EF4-FFF2-40B4-BE49-F238E27FC236}">
                <a16:creationId xmlns:a16="http://schemas.microsoft.com/office/drawing/2014/main" id="{54DE6E89-71DB-B3E9-E561-51D3F82143CD}"/>
              </a:ext>
            </a:extLst>
          </p:cNvPr>
          <p:cNvSpPr/>
          <p:nvPr/>
        </p:nvSpPr>
        <p:spPr bwMode="auto">
          <a:xfrm>
            <a:off x="394915" y="1201909"/>
            <a:ext cx="11354062" cy="1137566"/>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Multiple layers of R-GCN are formed by simply continuing the message passing process with a new set of weights</a:t>
            </a:r>
          </a:p>
        </p:txBody>
      </p:sp>
      <p:sp>
        <p:nvSpPr>
          <p:cNvPr id="40" name="TextBox 39">
            <a:extLst>
              <a:ext uri="{FF2B5EF4-FFF2-40B4-BE49-F238E27FC236}">
                <a16:creationId xmlns:a16="http://schemas.microsoft.com/office/drawing/2014/main" id="{D8171BE0-3A0A-39D4-A195-B856E6BB70D2}"/>
              </a:ext>
            </a:extLst>
          </p:cNvPr>
          <p:cNvSpPr txBox="1"/>
          <p:nvPr/>
        </p:nvSpPr>
        <p:spPr>
          <a:xfrm>
            <a:off x="10717360" y="4408989"/>
            <a:ext cx="1196161" cy="400110"/>
          </a:xfrm>
          <a:prstGeom prst="rect">
            <a:avLst/>
          </a:prstGeom>
          <a:noFill/>
        </p:spPr>
        <p:txBody>
          <a:bodyPr wrap="none" rtlCol="0">
            <a:spAutoFit/>
          </a:bodyPr>
          <a:lstStyle/>
          <a:p>
            <a:r>
              <a:rPr lang="en-US" sz="2000" err="1"/>
              <a:t>W</a:t>
            </a:r>
            <a:r>
              <a:rPr lang="en-US" sz="2000" baseline="-25000" err="1"/>
              <a:t>homology</a:t>
            </a:r>
            <a:endParaRPr lang="en-US" sz="2000"/>
          </a:p>
        </p:txBody>
      </p:sp>
    </p:spTree>
    <p:extLst>
      <p:ext uri="{BB962C8B-B14F-4D97-AF65-F5344CB8AC3E}">
        <p14:creationId xmlns:p14="http://schemas.microsoft.com/office/powerpoint/2010/main" val="1421996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00"/>
                                        <p:tgtEl>
                                          <p:spTgt spid="2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500"/>
                                        <p:tgtEl>
                                          <p:spTgt spid="4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p:bldP spid="27" grpId="0"/>
      <p:bldP spid="28" grpId="0"/>
      <p:bldP spid="29" grpId="0"/>
      <p:bldP spid="30" grpId="0"/>
      <p:bldP spid="37" grpId="0"/>
      <p:bldP spid="4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07F9E-F2F0-249D-8EC0-EDEC382BA9F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9BDCA65-388C-0D39-BAFA-A508D84D049E}"/>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57</a:t>
            </a:fld>
            <a:endParaRPr lang="en-US">
              <a:solidFill>
                <a:srgbClr val="000000"/>
              </a:solidFill>
              <a:latin typeface="Segoe UI"/>
            </a:endParaRPr>
          </a:p>
        </p:txBody>
      </p:sp>
      <p:sp>
        <p:nvSpPr>
          <p:cNvPr id="19" name="!!6">
            <a:extLst>
              <a:ext uri="{FF2B5EF4-FFF2-40B4-BE49-F238E27FC236}">
                <a16:creationId xmlns:a16="http://schemas.microsoft.com/office/drawing/2014/main" id="{9974730C-097E-1A95-0299-2A4E154F0FBD}"/>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Gene Ranking </a:t>
            </a:r>
            <a:r>
              <a:rPr lang="en-US" altLang="zh-CN" sz="4000" b="1" dirty="0">
                <a:solidFill>
                  <a:srgbClr val="1B4C9C"/>
                </a:solidFill>
                <a:latin typeface="Arial" panose="020B0604020202020204" pitchFamily="34" charset="0"/>
                <a:cs typeface="Arial" panose="020B0604020202020204" pitchFamily="34" charset="0"/>
              </a:rPr>
              <a:t>Model: R-GCN</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2" name="Rounded Rectangle 1">
            <a:extLst>
              <a:ext uri="{FF2B5EF4-FFF2-40B4-BE49-F238E27FC236}">
                <a16:creationId xmlns:a16="http://schemas.microsoft.com/office/drawing/2014/main" id="{0C7F47C6-378A-587B-4BA4-DDD9D850C1E9}"/>
              </a:ext>
            </a:extLst>
          </p:cNvPr>
          <p:cNvSpPr/>
          <p:nvPr/>
        </p:nvSpPr>
        <p:spPr bwMode="auto">
          <a:xfrm>
            <a:off x="580304" y="1050159"/>
            <a:ext cx="10686833" cy="1693042"/>
          </a:xfrm>
          <a:prstGeom prst="roundRect">
            <a:avLst>
              <a:gd name="adj" fmla="val 9082"/>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3" name="!!1">
            <a:extLst>
              <a:ext uri="{FF2B5EF4-FFF2-40B4-BE49-F238E27FC236}">
                <a16:creationId xmlns:a16="http://schemas.microsoft.com/office/drawing/2014/main" id="{50976180-B018-A0AB-D72E-E2B2FF9CF249}"/>
              </a:ext>
            </a:extLst>
          </p:cNvPr>
          <p:cNvSpPr txBox="1"/>
          <p:nvPr/>
        </p:nvSpPr>
        <p:spPr>
          <a:xfrm>
            <a:off x="756923" y="1106250"/>
            <a:ext cx="10333591" cy="1785104"/>
          </a:xfrm>
          <a:prstGeom prst="rect">
            <a:avLst/>
          </a:prstGeom>
          <a:noFill/>
        </p:spPr>
        <p:txBody>
          <a:bodyPr wrap="square" lIns="0" tIns="0" rIns="0" bIns="0" rtlCol="0">
            <a:spAutoFit/>
          </a:bodyPr>
          <a:lstStyle/>
          <a:p>
            <a:r>
              <a:rPr lang="en-US" sz="3200" b="1">
                <a:solidFill>
                  <a:srgbClr val="13409F"/>
                </a:solidFill>
                <a:latin typeface="Arial" panose="020B0604020202020204" pitchFamily="34" charset="0"/>
                <a:cs typeface="Arial" panose="020B0604020202020204" pitchFamily="34" charset="0"/>
              </a:rPr>
              <a:t>R-GCN Architecture</a:t>
            </a:r>
          </a:p>
          <a:p>
            <a:pPr marL="342900" indent="-342900">
              <a:buFont typeface="Arial" panose="020B0604020202020204" pitchFamily="34" charset="0"/>
              <a:buChar char="•"/>
            </a:pPr>
            <a:r>
              <a:rPr lang="en-US" sz="2800" err="1">
                <a:latin typeface="Arial" panose="020B0604020202020204" pitchFamily="34" charset="0"/>
                <a:cs typeface="Arial" panose="020B0604020202020204" pitchFamily="34" charset="0"/>
              </a:rPr>
              <a:t>GeneSieve</a:t>
            </a:r>
            <a:r>
              <a:rPr lang="en-US" sz="2800">
                <a:latin typeface="Arial" panose="020B0604020202020204" pitchFamily="34" charset="0"/>
                <a:cs typeface="Arial" panose="020B0604020202020204" pitchFamily="34" charset="0"/>
              </a:rPr>
              <a:t> explores two R-GCN architectures, what we call “R-GCN Pooled” and “R-GCN Deep” </a:t>
            </a:r>
          </a:p>
          <a:p>
            <a:pPr marL="342900" indent="-342900">
              <a:buFont typeface="Arial" panose="020B0604020202020204" pitchFamily="34" charset="0"/>
              <a:buChar char="•"/>
            </a:pPr>
            <a:endParaRPr lang="en-US"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6735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C3E47-A3DC-5F73-2972-64BE42090C9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8CB853-11C3-67CE-57FA-8E6089E6522E}"/>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58</a:t>
            </a:fld>
            <a:endParaRPr lang="en-US">
              <a:solidFill>
                <a:srgbClr val="000000"/>
              </a:solidFill>
              <a:latin typeface="Segoe UI"/>
            </a:endParaRPr>
          </a:p>
        </p:txBody>
      </p:sp>
      <p:sp>
        <p:nvSpPr>
          <p:cNvPr id="19" name="!!6">
            <a:extLst>
              <a:ext uri="{FF2B5EF4-FFF2-40B4-BE49-F238E27FC236}">
                <a16:creationId xmlns:a16="http://schemas.microsoft.com/office/drawing/2014/main" id="{0C9B7404-EF44-495B-D71C-BDEB56D00312}"/>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R-GCN Pooled</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pic>
        <p:nvPicPr>
          <p:cNvPr id="14" name="Picture 13">
            <a:extLst>
              <a:ext uri="{FF2B5EF4-FFF2-40B4-BE49-F238E27FC236}">
                <a16:creationId xmlns:a16="http://schemas.microsoft.com/office/drawing/2014/main" id="{9465FF10-2152-A0E2-A8D1-3F2317AD6F8F}"/>
              </a:ext>
            </a:extLst>
          </p:cNvPr>
          <p:cNvPicPr>
            <a:picLocks noChangeAspect="1"/>
          </p:cNvPicPr>
          <p:nvPr/>
        </p:nvPicPr>
        <p:blipFill>
          <a:blip r:embed="rId3"/>
          <a:stretch>
            <a:fillRect/>
          </a:stretch>
        </p:blipFill>
        <p:spPr>
          <a:xfrm>
            <a:off x="4111121" y="144157"/>
            <a:ext cx="5749315" cy="6569686"/>
          </a:xfrm>
          <a:prstGeom prst="rect">
            <a:avLst/>
          </a:prstGeom>
        </p:spPr>
      </p:pic>
    </p:spTree>
    <p:extLst>
      <p:ext uri="{BB962C8B-B14F-4D97-AF65-F5344CB8AC3E}">
        <p14:creationId xmlns:p14="http://schemas.microsoft.com/office/powerpoint/2010/main" val="28071346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93BCB-D14B-CAD6-280F-6B4E48A846E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E6C1202-3D34-0EC1-FE5D-534596E27E3F}"/>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59</a:t>
            </a:fld>
            <a:endParaRPr lang="en-US">
              <a:solidFill>
                <a:srgbClr val="000000"/>
              </a:solidFill>
              <a:latin typeface="Segoe UI"/>
            </a:endParaRPr>
          </a:p>
        </p:txBody>
      </p:sp>
      <p:pic>
        <p:nvPicPr>
          <p:cNvPr id="14" name="Picture 13">
            <a:extLst>
              <a:ext uri="{FF2B5EF4-FFF2-40B4-BE49-F238E27FC236}">
                <a16:creationId xmlns:a16="http://schemas.microsoft.com/office/drawing/2014/main" id="{803E839F-93BD-B312-E8B4-5A9274B42297}"/>
              </a:ext>
            </a:extLst>
          </p:cNvPr>
          <p:cNvPicPr>
            <a:picLocks noChangeAspect="1"/>
          </p:cNvPicPr>
          <p:nvPr/>
        </p:nvPicPr>
        <p:blipFill>
          <a:blip r:embed="rId3"/>
          <a:stretch>
            <a:fillRect/>
          </a:stretch>
        </p:blipFill>
        <p:spPr>
          <a:xfrm>
            <a:off x="-2622759" y="-6483632"/>
            <a:ext cx="11675633" cy="13341632"/>
          </a:xfrm>
          <a:prstGeom prst="rect">
            <a:avLst/>
          </a:prstGeom>
        </p:spPr>
      </p:pic>
      <p:sp>
        <p:nvSpPr>
          <p:cNvPr id="2" name="sometin">
            <a:extLst>
              <a:ext uri="{FF2B5EF4-FFF2-40B4-BE49-F238E27FC236}">
                <a16:creationId xmlns:a16="http://schemas.microsoft.com/office/drawing/2014/main" id="{6CBFF43E-E10A-79A4-66D4-758377AC8E87}"/>
              </a:ext>
            </a:extLst>
          </p:cNvPr>
          <p:cNvSpPr/>
          <p:nvPr/>
        </p:nvSpPr>
        <p:spPr bwMode="auto">
          <a:xfrm>
            <a:off x="8105400" y="4352881"/>
            <a:ext cx="4086600" cy="1034665"/>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A query is submitted to the system</a:t>
            </a:r>
          </a:p>
        </p:txBody>
      </p:sp>
      <p:sp>
        <p:nvSpPr>
          <p:cNvPr id="3" name="!!text">
            <a:extLst>
              <a:ext uri="{FF2B5EF4-FFF2-40B4-BE49-F238E27FC236}">
                <a16:creationId xmlns:a16="http://schemas.microsoft.com/office/drawing/2014/main" id="{65C36B4D-5427-CE18-9E7A-DD4BA5B51DD2}"/>
              </a:ext>
            </a:extLst>
          </p:cNvPr>
          <p:cNvSpPr/>
          <p:nvPr/>
        </p:nvSpPr>
        <p:spPr bwMode="auto">
          <a:xfrm>
            <a:off x="5024448" y="2371274"/>
            <a:ext cx="6161903" cy="680845"/>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Each candidate’s TGAG is extracted</a:t>
            </a:r>
          </a:p>
        </p:txBody>
      </p:sp>
    </p:spTree>
    <p:extLst>
      <p:ext uri="{BB962C8B-B14F-4D97-AF65-F5344CB8AC3E}">
        <p14:creationId xmlns:p14="http://schemas.microsoft.com/office/powerpoint/2010/main" val="3202633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EDD1A-2A20-A66A-1E9E-3DF93291743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20B2F48-6AF7-510C-E801-4D041AAFECD1}"/>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60</a:t>
            </a:fld>
            <a:endParaRPr lang="en-US">
              <a:solidFill>
                <a:srgbClr val="000000"/>
              </a:solidFill>
              <a:latin typeface="Segoe UI"/>
            </a:endParaRPr>
          </a:p>
        </p:txBody>
      </p:sp>
      <p:pic>
        <p:nvPicPr>
          <p:cNvPr id="14" name="Picture 13">
            <a:extLst>
              <a:ext uri="{FF2B5EF4-FFF2-40B4-BE49-F238E27FC236}">
                <a16:creationId xmlns:a16="http://schemas.microsoft.com/office/drawing/2014/main" id="{7E369ACA-B688-9A36-BFB4-23B030F59A9E}"/>
              </a:ext>
            </a:extLst>
          </p:cNvPr>
          <p:cNvPicPr>
            <a:picLocks noChangeAspect="1"/>
          </p:cNvPicPr>
          <p:nvPr/>
        </p:nvPicPr>
        <p:blipFill>
          <a:blip r:embed="rId3"/>
          <a:stretch>
            <a:fillRect/>
          </a:stretch>
        </p:blipFill>
        <p:spPr>
          <a:xfrm>
            <a:off x="-2613332" y="-3137117"/>
            <a:ext cx="11675633" cy="13341632"/>
          </a:xfrm>
          <a:prstGeom prst="rect">
            <a:avLst/>
          </a:prstGeom>
        </p:spPr>
      </p:pic>
      <p:sp>
        <p:nvSpPr>
          <p:cNvPr id="2" name="!!text">
            <a:extLst>
              <a:ext uri="{FF2B5EF4-FFF2-40B4-BE49-F238E27FC236}">
                <a16:creationId xmlns:a16="http://schemas.microsoft.com/office/drawing/2014/main" id="{F0A4C3E6-896F-594B-B7F8-C23DD8A16420}"/>
              </a:ext>
            </a:extLst>
          </p:cNvPr>
          <p:cNvSpPr/>
          <p:nvPr/>
        </p:nvSpPr>
        <p:spPr bwMode="auto">
          <a:xfrm>
            <a:off x="7116859" y="2751029"/>
            <a:ext cx="4930978" cy="1355941"/>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Each node in a TGAG is replaced with its embedding</a:t>
            </a:r>
          </a:p>
        </p:txBody>
      </p:sp>
    </p:spTree>
    <p:extLst>
      <p:ext uri="{BB962C8B-B14F-4D97-AF65-F5344CB8AC3E}">
        <p14:creationId xmlns:p14="http://schemas.microsoft.com/office/powerpoint/2010/main" val="38691011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AEF4F-840E-F702-1D4A-33E1E62E9EA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E020D1-C3F7-1868-3AEB-8F6A23DE20FB}"/>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61</a:t>
            </a:fld>
            <a:endParaRPr lang="en-US">
              <a:solidFill>
                <a:srgbClr val="000000"/>
              </a:solidFill>
              <a:latin typeface="Segoe UI"/>
            </a:endParaRPr>
          </a:p>
        </p:txBody>
      </p:sp>
      <p:pic>
        <p:nvPicPr>
          <p:cNvPr id="2" name="Picture 1">
            <a:extLst>
              <a:ext uri="{FF2B5EF4-FFF2-40B4-BE49-F238E27FC236}">
                <a16:creationId xmlns:a16="http://schemas.microsoft.com/office/drawing/2014/main" id="{139CEC55-5132-4362-0A48-324491393BF7}"/>
              </a:ext>
            </a:extLst>
          </p:cNvPr>
          <p:cNvPicPr>
            <a:picLocks noChangeAspect="1"/>
          </p:cNvPicPr>
          <p:nvPr/>
        </p:nvPicPr>
        <p:blipFill>
          <a:blip r:embed="rId3"/>
          <a:stretch>
            <a:fillRect/>
          </a:stretch>
        </p:blipFill>
        <p:spPr>
          <a:xfrm>
            <a:off x="-2621190" y="4096"/>
            <a:ext cx="11675633" cy="13341632"/>
          </a:xfrm>
          <a:prstGeom prst="rect">
            <a:avLst/>
          </a:prstGeom>
        </p:spPr>
      </p:pic>
      <p:sp>
        <p:nvSpPr>
          <p:cNvPr id="3" name="!!text">
            <a:extLst>
              <a:ext uri="{FF2B5EF4-FFF2-40B4-BE49-F238E27FC236}">
                <a16:creationId xmlns:a16="http://schemas.microsoft.com/office/drawing/2014/main" id="{9F7E7684-9666-D3AD-7D7A-16B2DF50A9BF}"/>
              </a:ext>
            </a:extLst>
          </p:cNvPr>
          <p:cNvSpPr/>
          <p:nvPr/>
        </p:nvSpPr>
        <p:spPr bwMode="auto">
          <a:xfrm>
            <a:off x="5609335" y="2344908"/>
            <a:ext cx="5672384" cy="1084092"/>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2 rounds of message passing updates every node’s embedding</a:t>
            </a:r>
          </a:p>
        </p:txBody>
      </p:sp>
    </p:spTree>
    <p:extLst>
      <p:ext uri="{BB962C8B-B14F-4D97-AF65-F5344CB8AC3E}">
        <p14:creationId xmlns:p14="http://schemas.microsoft.com/office/powerpoint/2010/main" val="4005481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691E-508B-B2D7-D4A6-ADF009769DC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46A8E3F-DB77-FD60-8CF6-6B2BCE914FEA}"/>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62</a:t>
            </a:fld>
            <a:endParaRPr lang="en-US">
              <a:solidFill>
                <a:srgbClr val="000000"/>
              </a:solidFill>
              <a:latin typeface="Segoe UI"/>
            </a:endParaRPr>
          </a:p>
        </p:txBody>
      </p:sp>
      <p:pic>
        <p:nvPicPr>
          <p:cNvPr id="2" name="Picture 1">
            <a:extLst>
              <a:ext uri="{FF2B5EF4-FFF2-40B4-BE49-F238E27FC236}">
                <a16:creationId xmlns:a16="http://schemas.microsoft.com/office/drawing/2014/main" id="{16915E7A-4F5F-E22E-F1B1-FBF457880C3F}"/>
              </a:ext>
            </a:extLst>
          </p:cNvPr>
          <p:cNvPicPr>
            <a:picLocks noChangeAspect="1"/>
          </p:cNvPicPr>
          <p:nvPr/>
        </p:nvPicPr>
        <p:blipFill>
          <a:blip r:embed="rId3"/>
          <a:stretch>
            <a:fillRect/>
          </a:stretch>
        </p:blipFill>
        <p:spPr>
          <a:xfrm>
            <a:off x="5388563" y="4096"/>
            <a:ext cx="11675633" cy="13341632"/>
          </a:xfrm>
          <a:prstGeom prst="rect">
            <a:avLst/>
          </a:prstGeom>
        </p:spPr>
      </p:pic>
      <p:sp>
        <p:nvSpPr>
          <p:cNvPr id="5" name="sometin">
            <a:extLst>
              <a:ext uri="{FF2B5EF4-FFF2-40B4-BE49-F238E27FC236}">
                <a16:creationId xmlns:a16="http://schemas.microsoft.com/office/drawing/2014/main" id="{60ACFF2C-CA91-DC8C-26FC-6F93E711B6AE}"/>
              </a:ext>
            </a:extLst>
          </p:cNvPr>
          <p:cNvSpPr/>
          <p:nvPr/>
        </p:nvSpPr>
        <p:spPr bwMode="auto">
          <a:xfrm>
            <a:off x="386490" y="1987664"/>
            <a:ext cx="4874442" cy="1006058"/>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The input trait’s embedding is extracted separately</a:t>
            </a:r>
          </a:p>
        </p:txBody>
      </p:sp>
      <p:sp>
        <p:nvSpPr>
          <p:cNvPr id="6" name="sometin">
            <a:extLst>
              <a:ext uri="{FF2B5EF4-FFF2-40B4-BE49-F238E27FC236}">
                <a16:creationId xmlns:a16="http://schemas.microsoft.com/office/drawing/2014/main" id="{3E21C021-B15E-4ECC-6957-4BAAA7134991}"/>
              </a:ext>
            </a:extLst>
          </p:cNvPr>
          <p:cNvSpPr/>
          <p:nvPr/>
        </p:nvSpPr>
        <p:spPr bwMode="auto">
          <a:xfrm>
            <a:off x="386490" y="4795581"/>
            <a:ext cx="5350432" cy="1204386"/>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and projected down to 128-dim through a learnable projection</a:t>
            </a:r>
          </a:p>
        </p:txBody>
      </p:sp>
      <p:sp>
        <p:nvSpPr>
          <p:cNvPr id="7" name="!!6">
            <a:extLst>
              <a:ext uri="{FF2B5EF4-FFF2-40B4-BE49-F238E27FC236}">
                <a16:creationId xmlns:a16="http://schemas.microsoft.com/office/drawing/2014/main" id="{39EE4F8B-7AEC-6A52-6998-E2809EB1598D}"/>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R-GCN Pooled</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Tree>
    <p:extLst>
      <p:ext uri="{BB962C8B-B14F-4D97-AF65-F5344CB8AC3E}">
        <p14:creationId xmlns:p14="http://schemas.microsoft.com/office/powerpoint/2010/main" val="23500320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D7937-24C3-3A72-B3E8-73D73950B08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ABF8119-9E43-8128-FCA1-161775FF1340}"/>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63</a:t>
            </a:fld>
            <a:endParaRPr lang="en-US">
              <a:solidFill>
                <a:srgbClr val="000000"/>
              </a:solidFill>
              <a:latin typeface="Segoe UI"/>
            </a:endParaRPr>
          </a:p>
        </p:txBody>
      </p:sp>
      <p:pic>
        <p:nvPicPr>
          <p:cNvPr id="2" name="Picture 1">
            <a:extLst>
              <a:ext uri="{FF2B5EF4-FFF2-40B4-BE49-F238E27FC236}">
                <a16:creationId xmlns:a16="http://schemas.microsoft.com/office/drawing/2014/main" id="{989F3DA0-FF34-E69A-B400-A1E71E1FD8A1}"/>
              </a:ext>
            </a:extLst>
          </p:cNvPr>
          <p:cNvPicPr>
            <a:picLocks noChangeAspect="1"/>
          </p:cNvPicPr>
          <p:nvPr/>
        </p:nvPicPr>
        <p:blipFill>
          <a:blip r:embed="rId3"/>
          <a:stretch>
            <a:fillRect/>
          </a:stretch>
        </p:blipFill>
        <p:spPr>
          <a:xfrm>
            <a:off x="5423770" y="-6121132"/>
            <a:ext cx="11675633" cy="13341632"/>
          </a:xfrm>
          <a:prstGeom prst="rect">
            <a:avLst/>
          </a:prstGeom>
        </p:spPr>
      </p:pic>
      <p:sp>
        <p:nvSpPr>
          <p:cNvPr id="5" name="sometin">
            <a:extLst>
              <a:ext uri="{FF2B5EF4-FFF2-40B4-BE49-F238E27FC236}">
                <a16:creationId xmlns:a16="http://schemas.microsoft.com/office/drawing/2014/main" id="{C3F11D36-CC2B-E446-4523-8AE3B96848E9}"/>
              </a:ext>
            </a:extLst>
          </p:cNvPr>
          <p:cNvSpPr/>
          <p:nvPr/>
        </p:nvSpPr>
        <p:spPr bwMode="auto">
          <a:xfrm>
            <a:off x="156846" y="2078025"/>
            <a:ext cx="7028918" cy="970868"/>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Trait embedding is concatenated with graph embedding for each candidate gene</a:t>
            </a:r>
          </a:p>
        </p:txBody>
      </p:sp>
      <p:sp>
        <p:nvSpPr>
          <p:cNvPr id="6" name="sometin">
            <a:extLst>
              <a:ext uri="{FF2B5EF4-FFF2-40B4-BE49-F238E27FC236}">
                <a16:creationId xmlns:a16="http://schemas.microsoft.com/office/drawing/2014/main" id="{38141AB7-15D1-4271-EED3-5ED1023F34CD}"/>
              </a:ext>
            </a:extLst>
          </p:cNvPr>
          <p:cNvSpPr/>
          <p:nvPr/>
        </p:nvSpPr>
        <p:spPr bwMode="auto">
          <a:xfrm>
            <a:off x="156846" y="3809107"/>
            <a:ext cx="5939154" cy="1655324"/>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Scorer MLP learns associations between the trait and candidate by processing both their embeddings </a:t>
            </a:r>
          </a:p>
        </p:txBody>
      </p:sp>
      <p:sp>
        <p:nvSpPr>
          <p:cNvPr id="3" name="!!6">
            <a:extLst>
              <a:ext uri="{FF2B5EF4-FFF2-40B4-BE49-F238E27FC236}">
                <a16:creationId xmlns:a16="http://schemas.microsoft.com/office/drawing/2014/main" id="{A4802ACD-41C0-0820-0C93-694C85E70FA6}"/>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R-GCN Pooled</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Tree>
    <p:extLst>
      <p:ext uri="{BB962C8B-B14F-4D97-AF65-F5344CB8AC3E}">
        <p14:creationId xmlns:p14="http://schemas.microsoft.com/office/powerpoint/2010/main" val="9113556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B360C-D3DF-FD52-7B69-F169B3B8E3B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8D0913-5BEC-0A48-A5E0-D2366E3F00C0}"/>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64</a:t>
            </a:fld>
            <a:endParaRPr lang="en-US">
              <a:solidFill>
                <a:srgbClr val="000000"/>
              </a:solidFill>
              <a:latin typeface="Segoe UI"/>
            </a:endParaRPr>
          </a:p>
        </p:txBody>
      </p:sp>
      <p:pic>
        <p:nvPicPr>
          <p:cNvPr id="2" name="Picture 1">
            <a:extLst>
              <a:ext uri="{FF2B5EF4-FFF2-40B4-BE49-F238E27FC236}">
                <a16:creationId xmlns:a16="http://schemas.microsoft.com/office/drawing/2014/main" id="{625FA192-7755-DFCD-76C2-435D33049362}"/>
              </a:ext>
            </a:extLst>
          </p:cNvPr>
          <p:cNvPicPr>
            <a:picLocks noChangeAspect="1"/>
          </p:cNvPicPr>
          <p:nvPr/>
        </p:nvPicPr>
        <p:blipFill>
          <a:blip r:embed="rId3"/>
          <a:stretch>
            <a:fillRect/>
          </a:stretch>
        </p:blipFill>
        <p:spPr>
          <a:xfrm>
            <a:off x="4982583" y="-8388343"/>
            <a:ext cx="11675633" cy="13341632"/>
          </a:xfrm>
          <a:prstGeom prst="rect">
            <a:avLst/>
          </a:prstGeom>
        </p:spPr>
      </p:pic>
      <p:sp>
        <p:nvSpPr>
          <p:cNvPr id="6" name="sometin">
            <a:extLst>
              <a:ext uri="{FF2B5EF4-FFF2-40B4-BE49-F238E27FC236}">
                <a16:creationId xmlns:a16="http://schemas.microsoft.com/office/drawing/2014/main" id="{928DA458-BD09-2B16-9909-52693E5BF2F5}"/>
              </a:ext>
            </a:extLst>
          </p:cNvPr>
          <p:cNvSpPr/>
          <p:nvPr/>
        </p:nvSpPr>
        <p:spPr bwMode="auto">
          <a:xfrm>
            <a:off x="206950" y="3429000"/>
            <a:ext cx="4678201" cy="1050992"/>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Single floating point score output for each candidate</a:t>
            </a:r>
          </a:p>
        </p:txBody>
      </p:sp>
      <p:sp>
        <p:nvSpPr>
          <p:cNvPr id="7" name="!!6">
            <a:extLst>
              <a:ext uri="{FF2B5EF4-FFF2-40B4-BE49-F238E27FC236}">
                <a16:creationId xmlns:a16="http://schemas.microsoft.com/office/drawing/2014/main" id="{59097AEE-23AE-962C-5E70-426BE1F386EB}"/>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R-GCN Pooled</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Tree>
    <p:extLst>
      <p:ext uri="{BB962C8B-B14F-4D97-AF65-F5344CB8AC3E}">
        <p14:creationId xmlns:p14="http://schemas.microsoft.com/office/powerpoint/2010/main" val="19214412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13577-9353-B46A-1E3D-21BC5413B97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57BDEE-1156-609C-6F00-AF2C0A9AB57E}"/>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65</a:t>
            </a:fld>
            <a:endParaRPr lang="en-US">
              <a:solidFill>
                <a:srgbClr val="000000"/>
              </a:solidFill>
              <a:latin typeface="Segoe UI"/>
            </a:endParaRPr>
          </a:p>
        </p:txBody>
      </p:sp>
      <p:sp>
        <p:nvSpPr>
          <p:cNvPr id="2" name="!!6">
            <a:extLst>
              <a:ext uri="{FF2B5EF4-FFF2-40B4-BE49-F238E27FC236}">
                <a16:creationId xmlns:a16="http://schemas.microsoft.com/office/drawing/2014/main" id="{DA149261-55E6-37B0-1BD1-5357702B8546}"/>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R-GCN Pooled</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6" name="Rounded Rectangle 5">
            <a:extLst>
              <a:ext uri="{FF2B5EF4-FFF2-40B4-BE49-F238E27FC236}">
                <a16:creationId xmlns:a16="http://schemas.microsoft.com/office/drawing/2014/main" id="{4907E238-5449-F3A9-5BF2-19E1663ED356}"/>
              </a:ext>
            </a:extLst>
          </p:cNvPr>
          <p:cNvSpPr/>
          <p:nvPr/>
        </p:nvSpPr>
        <p:spPr bwMode="auto">
          <a:xfrm>
            <a:off x="580304" y="1050158"/>
            <a:ext cx="10686833" cy="2107821"/>
          </a:xfrm>
          <a:prstGeom prst="roundRect">
            <a:avLst>
              <a:gd name="adj" fmla="val 9082"/>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7" name="!!1">
            <a:extLst>
              <a:ext uri="{FF2B5EF4-FFF2-40B4-BE49-F238E27FC236}">
                <a16:creationId xmlns:a16="http://schemas.microsoft.com/office/drawing/2014/main" id="{BFDDEADC-3C83-B05F-2099-58F020EEC16A}"/>
              </a:ext>
            </a:extLst>
          </p:cNvPr>
          <p:cNvSpPr txBox="1"/>
          <p:nvPr/>
        </p:nvSpPr>
        <p:spPr>
          <a:xfrm>
            <a:off x="756923" y="1106250"/>
            <a:ext cx="10333591" cy="1785104"/>
          </a:xfrm>
          <a:prstGeom prst="rect">
            <a:avLst/>
          </a:prstGeom>
          <a:noFill/>
        </p:spPr>
        <p:txBody>
          <a:bodyPr wrap="square" lIns="0" tIns="0" rIns="0" bIns="0" rtlCol="0">
            <a:spAutoFit/>
          </a:bodyPr>
          <a:lstStyle/>
          <a:p>
            <a:r>
              <a:rPr lang="en-US" sz="3200" b="1">
                <a:solidFill>
                  <a:srgbClr val="13409F"/>
                </a:solidFill>
                <a:latin typeface="Arial" panose="020B0604020202020204" pitchFamily="34" charset="0"/>
                <a:cs typeface="Arial" panose="020B0604020202020204" pitchFamily="34" charset="0"/>
              </a:rPr>
              <a:t>MLP Architecture</a:t>
            </a:r>
          </a:p>
          <a:p>
            <a:pPr marL="342900" indent="-342900">
              <a:buFont typeface="Arial" panose="020B0604020202020204" pitchFamily="34" charset="0"/>
              <a:buChar char="•"/>
            </a:pPr>
            <a:endParaRPr lang="en-US" sz="28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Linear(256→256) → </a:t>
            </a:r>
            <a:r>
              <a:rPr lang="en-US" sz="2800" err="1">
                <a:latin typeface="Arial" panose="020B0604020202020204" pitchFamily="34" charset="0"/>
                <a:cs typeface="Arial" panose="020B0604020202020204" pitchFamily="34" charset="0"/>
              </a:rPr>
              <a:t>LayerNorm</a:t>
            </a:r>
            <a:r>
              <a:rPr lang="en-US" sz="2800">
                <a:latin typeface="Arial" panose="020B0604020202020204" pitchFamily="34" charset="0"/>
                <a:cs typeface="Arial" panose="020B0604020202020204" pitchFamily="34" charset="0"/>
              </a:rPr>
              <a:t> → </a:t>
            </a:r>
            <a:r>
              <a:rPr lang="en-US" sz="2800" err="1">
                <a:latin typeface="Arial" panose="020B0604020202020204" pitchFamily="34" charset="0"/>
                <a:cs typeface="Arial" panose="020B0604020202020204" pitchFamily="34" charset="0"/>
              </a:rPr>
              <a:t>ReLU</a:t>
            </a:r>
            <a:r>
              <a:rPr lang="en-US" sz="2800">
                <a:latin typeface="Arial" panose="020B0604020202020204" pitchFamily="34" charset="0"/>
                <a:cs typeface="Arial" panose="020B0604020202020204" pitchFamily="34" charset="0"/>
              </a:rPr>
              <a:t> → Dropout(0.2) → Linear(256→128) → </a:t>
            </a:r>
            <a:r>
              <a:rPr lang="en-US" sz="2800" err="1">
                <a:latin typeface="Arial" panose="020B0604020202020204" pitchFamily="34" charset="0"/>
                <a:cs typeface="Arial" panose="020B0604020202020204" pitchFamily="34" charset="0"/>
              </a:rPr>
              <a:t>ReLU</a:t>
            </a:r>
            <a:r>
              <a:rPr lang="en-US" sz="2800">
                <a:latin typeface="Arial" panose="020B0604020202020204" pitchFamily="34" charset="0"/>
                <a:cs typeface="Arial" panose="020B0604020202020204" pitchFamily="34" charset="0"/>
              </a:rPr>
              <a:t> → Linear(128→1)</a:t>
            </a:r>
          </a:p>
        </p:txBody>
      </p:sp>
    </p:spTree>
    <p:extLst>
      <p:ext uri="{BB962C8B-B14F-4D97-AF65-F5344CB8AC3E}">
        <p14:creationId xmlns:p14="http://schemas.microsoft.com/office/powerpoint/2010/main" val="18211962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1D30E-BECF-5146-A426-9A5F6681196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0E1920-1334-E705-78D8-31E59B461ED4}"/>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66</a:t>
            </a:fld>
            <a:endParaRPr lang="en-US">
              <a:solidFill>
                <a:srgbClr val="000000"/>
              </a:solidFill>
              <a:latin typeface="Segoe UI"/>
            </a:endParaRPr>
          </a:p>
        </p:txBody>
      </p:sp>
      <p:sp>
        <p:nvSpPr>
          <p:cNvPr id="2" name="!!6">
            <a:extLst>
              <a:ext uri="{FF2B5EF4-FFF2-40B4-BE49-F238E27FC236}">
                <a16:creationId xmlns:a16="http://schemas.microsoft.com/office/drawing/2014/main" id="{A0CABB2A-33F3-4F5B-2B24-A31F63A0336D}"/>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R-GCN Pooled</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6" name="Rounded Rectangle 5">
            <a:extLst>
              <a:ext uri="{FF2B5EF4-FFF2-40B4-BE49-F238E27FC236}">
                <a16:creationId xmlns:a16="http://schemas.microsoft.com/office/drawing/2014/main" id="{2981412C-7A80-DEB2-B314-1D1D66992F56}"/>
              </a:ext>
            </a:extLst>
          </p:cNvPr>
          <p:cNvSpPr/>
          <p:nvPr/>
        </p:nvSpPr>
        <p:spPr bwMode="auto">
          <a:xfrm>
            <a:off x="580304" y="1050158"/>
            <a:ext cx="10686833" cy="3308899"/>
          </a:xfrm>
          <a:prstGeom prst="roundRect">
            <a:avLst>
              <a:gd name="adj" fmla="val 9082"/>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7" name="!!1">
            <a:extLst>
              <a:ext uri="{FF2B5EF4-FFF2-40B4-BE49-F238E27FC236}">
                <a16:creationId xmlns:a16="http://schemas.microsoft.com/office/drawing/2014/main" id="{3C8B9A27-717B-0243-4AC7-91D8AE5627B3}"/>
              </a:ext>
            </a:extLst>
          </p:cNvPr>
          <p:cNvSpPr txBox="1"/>
          <p:nvPr/>
        </p:nvSpPr>
        <p:spPr>
          <a:xfrm>
            <a:off x="756923" y="1106250"/>
            <a:ext cx="10333591" cy="3077766"/>
          </a:xfrm>
          <a:prstGeom prst="rect">
            <a:avLst/>
          </a:prstGeom>
          <a:noFill/>
        </p:spPr>
        <p:txBody>
          <a:bodyPr wrap="square" lIns="0" tIns="0" rIns="0" bIns="0" rtlCol="0">
            <a:spAutoFit/>
          </a:bodyPr>
          <a:lstStyle/>
          <a:p>
            <a:r>
              <a:rPr lang="en-US" sz="3200" b="1">
                <a:solidFill>
                  <a:srgbClr val="13409F"/>
                </a:solidFill>
                <a:latin typeface="Arial" panose="020B0604020202020204" pitchFamily="34" charset="0"/>
                <a:cs typeface="Arial" panose="020B0604020202020204" pitchFamily="34" charset="0"/>
              </a:rPr>
              <a:t>Pairwise Ranking Loss</a:t>
            </a:r>
          </a:p>
          <a:p>
            <a:pPr marL="342900" indent="-342900">
              <a:buFont typeface="Arial" panose="020B0604020202020204" pitchFamily="34" charset="0"/>
              <a:buChar char="•"/>
            </a:pPr>
            <a:endParaRPr lang="en-US" sz="28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Enforces true gene score to be at least “m” higher than all the other gene scores. </a:t>
            </a:r>
          </a:p>
          <a:p>
            <a:pPr marL="342900" indent="-342900">
              <a:buFont typeface="Arial" panose="020B0604020202020204" pitchFamily="34" charset="0"/>
              <a:buChar char="•"/>
            </a:pPr>
            <a:endParaRPr lang="en-US" sz="28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Rationale: during training, we only know the true gene. Must enforce highest possible score only for the true causal gene.  </a:t>
            </a:r>
          </a:p>
        </p:txBody>
      </p:sp>
      <p:pic>
        <p:nvPicPr>
          <p:cNvPr id="11" name="Picture 10">
            <a:extLst>
              <a:ext uri="{FF2B5EF4-FFF2-40B4-BE49-F238E27FC236}">
                <a16:creationId xmlns:a16="http://schemas.microsoft.com/office/drawing/2014/main" id="{01B24BDF-96FF-DA50-B6ED-6C99CF416AFE}"/>
              </a:ext>
            </a:extLst>
          </p:cNvPr>
          <p:cNvPicPr>
            <a:picLocks noChangeAspect="1"/>
          </p:cNvPicPr>
          <p:nvPr/>
        </p:nvPicPr>
        <p:blipFill>
          <a:blip r:embed="rId3"/>
          <a:stretch>
            <a:fillRect/>
          </a:stretch>
        </p:blipFill>
        <p:spPr>
          <a:xfrm>
            <a:off x="1784583" y="4694132"/>
            <a:ext cx="8622834" cy="1622648"/>
          </a:xfrm>
          <a:prstGeom prst="rect">
            <a:avLst/>
          </a:prstGeom>
        </p:spPr>
      </p:pic>
    </p:spTree>
    <p:extLst>
      <p:ext uri="{BB962C8B-B14F-4D97-AF65-F5344CB8AC3E}">
        <p14:creationId xmlns:p14="http://schemas.microsoft.com/office/powerpoint/2010/main" val="23375197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94641-0FC4-B5E2-AB73-D5F52C8C3CF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D7D4459-B974-23B7-62BA-63631A54BD08}"/>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67</a:t>
            </a:fld>
            <a:endParaRPr lang="en-US">
              <a:solidFill>
                <a:srgbClr val="000000"/>
              </a:solidFill>
              <a:latin typeface="Segoe UI"/>
            </a:endParaRPr>
          </a:p>
        </p:txBody>
      </p:sp>
      <p:sp>
        <p:nvSpPr>
          <p:cNvPr id="19" name="!!6">
            <a:extLst>
              <a:ext uri="{FF2B5EF4-FFF2-40B4-BE49-F238E27FC236}">
                <a16:creationId xmlns:a16="http://schemas.microsoft.com/office/drawing/2014/main" id="{9A89E3BD-136F-0F9E-0D33-B8AC913F07A5}"/>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R-GCN Deep</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pic>
        <p:nvPicPr>
          <p:cNvPr id="3" name="Picture 2">
            <a:extLst>
              <a:ext uri="{FF2B5EF4-FFF2-40B4-BE49-F238E27FC236}">
                <a16:creationId xmlns:a16="http://schemas.microsoft.com/office/drawing/2014/main" id="{192A6EDD-2122-91EC-C900-A85034EB9B05}"/>
              </a:ext>
            </a:extLst>
          </p:cNvPr>
          <p:cNvPicPr>
            <a:picLocks noChangeAspect="1"/>
          </p:cNvPicPr>
          <p:nvPr/>
        </p:nvPicPr>
        <p:blipFill>
          <a:blip r:embed="rId3"/>
          <a:stretch>
            <a:fillRect/>
          </a:stretch>
        </p:blipFill>
        <p:spPr>
          <a:xfrm>
            <a:off x="3581381" y="450770"/>
            <a:ext cx="6708006" cy="5956460"/>
          </a:xfrm>
          <a:prstGeom prst="rect">
            <a:avLst/>
          </a:prstGeom>
        </p:spPr>
      </p:pic>
    </p:spTree>
    <p:extLst>
      <p:ext uri="{BB962C8B-B14F-4D97-AF65-F5344CB8AC3E}">
        <p14:creationId xmlns:p14="http://schemas.microsoft.com/office/powerpoint/2010/main" val="9969253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4EA62-8D8E-19E6-E5E7-5813180EFCE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09ECC5-D1D0-DA30-5445-508C0CF70050}"/>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68</a:t>
            </a:fld>
            <a:endParaRPr lang="en-US">
              <a:solidFill>
                <a:srgbClr val="000000"/>
              </a:solidFill>
              <a:latin typeface="Segoe UI"/>
            </a:endParaRPr>
          </a:p>
        </p:txBody>
      </p:sp>
      <p:pic>
        <p:nvPicPr>
          <p:cNvPr id="3" name="Picture 2">
            <a:extLst>
              <a:ext uri="{FF2B5EF4-FFF2-40B4-BE49-F238E27FC236}">
                <a16:creationId xmlns:a16="http://schemas.microsoft.com/office/drawing/2014/main" id="{06BCE4AB-1D8D-0216-B06E-B9157330947A}"/>
              </a:ext>
            </a:extLst>
          </p:cNvPr>
          <p:cNvPicPr>
            <a:picLocks noChangeAspect="1"/>
          </p:cNvPicPr>
          <p:nvPr/>
        </p:nvPicPr>
        <p:blipFill>
          <a:blip r:embed="rId3"/>
          <a:stretch>
            <a:fillRect/>
          </a:stretch>
        </p:blipFill>
        <p:spPr>
          <a:xfrm>
            <a:off x="0" y="-816401"/>
            <a:ext cx="8642705" cy="7674401"/>
          </a:xfrm>
          <a:prstGeom prst="rect">
            <a:avLst/>
          </a:prstGeom>
        </p:spPr>
      </p:pic>
      <p:sp>
        <p:nvSpPr>
          <p:cNvPr id="5" name="!!text2">
            <a:extLst>
              <a:ext uri="{FF2B5EF4-FFF2-40B4-BE49-F238E27FC236}">
                <a16:creationId xmlns:a16="http://schemas.microsoft.com/office/drawing/2014/main" id="{DE5C70C7-12D0-AC85-AD36-E95C4BEF266F}"/>
              </a:ext>
            </a:extLst>
          </p:cNvPr>
          <p:cNvSpPr/>
          <p:nvPr/>
        </p:nvSpPr>
        <p:spPr bwMode="auto">
          <a:xfrm>
            <a:off x="7445128" y="3458301"/>
            <a:ext cx="4658639" cy="2048484"/>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Input query, extract TGAG, replace node names with their embeddings</a:t>
            </a:r>
          </a:p>
        </p:txBody>
      </p:sp>
    </p:spTree>
    <p:extLst>
      <p:ext uri="{BB962C8B-B14F-4D97-AF65-F5344CB8AC3E}">
        <p14:creationId xmlns:p14="http://schemas.microsoft.com/office/powerpoint/2010/main" val="23311105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737C4-A33B-89ED-FA5D-F0ED9182F09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181A75-F426-333D-5DBE-42D91909DE0A}"/>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69</a:t>
            </a:fld>
            <a:endParaRPr lang="en-US">
              <a:solidFill>
                <a:srgbClr val="000000"/>
              </a:solidFill>
              <a:latin typeface="Segoe UI"/>
            </a:endParaRPr>
          </a:p>
        </p:txBody>
      </p:sp>
      <p:pic>
        <p:nvPicPr>
          <p:cNvPr id="3" name="Picture 2">
            <a:extLst>
              <a:ext uri="{FF2B5EF4-FFF2-40B4-BE49-F238E27FC236}">
                <a16:creationId xmlns:a16="http://schemas.microsoft.com/office/drawing/2014/main" id="{6B66167F-786D-FC98-04D4-A9ACB8D1191B}"/>
              </a:ext>
            </a:extLst>
          </p:cNvPr>
          <p:cNvPicPr>
            <a:picLocks noChangeAspect="1"/>
          </p:cNvPicPr>
          <p:nvPr/>
        </p:nvPicPr>
        <p:blipFill>
          <a:blip r:embed="rId3"/>
          <a:stretch>
            <a:fillRect/>
          </a:stretch>
        </p:blipFill>
        <p:spPr>
          <a:xfrm>
            <a:off x="534451" y="0"/>
            <a:ext cx="11123098" cy="9876898"/>
          </a:xfrm>
          <a:prstGeom prst="rect">
            <a:avLst/>
          </a:prstGeom>
        </p:spPr>
      </p:pic>
      <p:sp>
        <p:nvSpPr>
          <p:cNvPr id="5" name="!!text2">
            <a:extLst>
              <a:ext uri="{FF2B5EF4-FFF2-40B4-BE49-F238E27FC236}">
                <a16:creationId xmlns:a16="http://schemas.microsoft.com/office/drawing/2014/main" id="{E48E17B1-4F44-0023-6B56-76BD765E6935}"/>
              </a:ext>
            </a:extLst>
          </p:cNvPr>
          <p:cNvSpPr/>
          <p:nvPr/>
        </p:nvSpPr>
        <p:spPr bwMode="auto">
          <a:xfrm>
            <a:off x="4207042" y="3033774"/>
            <a:ext cx="5630779" cy="878305"/>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Four rounds of message passing</a:t>
            </a:r>
          </a:p>
        </p:txBody>
      </p:sp>
      <p:sp>
        <p:nvSpPr>
          <p:cNvPr id="7" name="sometin">
            <a:extLst>
              <a:ext uri="{FF2B5EF4-FFF2-40B4-BE49-F238E27FC236}">
                <a16:creationId xmlns:a16="http://schemas.microsoft.com/office/drawing/2014/main" id="{05B6D34C-0D0E-2C0A-414C-2A277A67F9B0}"/>
              </a:ext>
            </a:extLst>
          </p:cNvPr>
          <p:cNvSpPr/>
          <p:nvPr/>
        </p:nvSpPr>
        <p:spPr bwMode="auto">
          <a:xfrm>
            <a:off x="4207041" y="4097880"/>
            <a:ext cx="5630779" cy="878305"/>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Each node has 4-hop knowledge of surrounding biological data</a:t>
            </a:r>
            <a:endParaRPr lang="en-US" sz="2800"/>
          </a:p>
        </p:txBody>
      </p:sp>
    </p:spTree>
    <p:extLst>
      <p:ext uri="{BB962C8B-B14F-4D97-AF65-F5344CB8AC3E}">
        <p14:creationId xmlns:p14="http://schemas.microsoft.com/office/powerpoint/2010/main" val="3674686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8BCF6-6EC6-2590-789E-6DC5E56BB95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2CF4CFE-83D2-96C1-B0DA-E6679F04BB94}"/>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70</a:t>
            </a:fld>
            <a:endParaRPr lang="en-US">
              <a:solidFill>
                <a:srgbClr val="000000"/>
              </a:solidFill>
              <a:latin typeface="Segoe UI"/>
            </a:endParaRPr>
          </a:p>
        </p:txBody>
      </p:sp>
      <p:pic>
        <p:nvPicPr>
          <p:cNvPr id="3" name="Picture 2">
            <a:extLst>
              <a:ext uri="{FF2B5EF4-FFF2-40B4-BE49-F238E27FC236}">
                <a16:creationId xmlns:a16="http://schemas.microsoft.com/office/drawing/2014/main" id="{0F56F541-B80B-7ED2-CFA7-B5FFD7BF9D2E}"/>
              </a:ext>
            </a:extLst>
          </p:cNvPr>
          <p:cNvPicPr>
            <a:picLocks noChangeAspect="1"/>
          </p:cNvPicPr>
          <p:nvPr/>
        </p:nvPicPr>
        <p:blipFill>
          <a:blip r:embed="rId3"/>
          <a:stretch>
            <a:fillRect/>
          </a:stretch>
        </p:blipFill>
        <p:spPr>
          <a:xfrm>
            <a:off x="5265821" y="0"/>
            <a:ext cx="13502391" cy="11989622"/>
          </a:xfrm>
          <a:prstGeom prst="rect">
            <a:avLst/>
          </a:prstGeom>
        </p:spPr>
      </p:pic>
      <p:sp>
        <p:nvSpPr>
          <p:cNvPr id="5" name="!!text2">
            <a:extLst>
              <a:ext uri="{FF2B5EF4-FFF2-40B4-BE49-F238E27FC236}">
                <a16:creationId xmlns:a16="http://schemas.microsoft.com/office/drawing/2014/main" id="{248D6815-F994-6EB2-09FD-EF3BA04EC965}"/>
              </a:ext>
            </a:extLst>
          </p:cNvPr>
          <p:cNvSpPr/>
          <p:nvPr/>
        </p:nvSpPr>
        <p:spPr bwMode="auto">
          <a:xfrm>
            <a:off x="465221" y="2004727"/>
            <a:ext cx="5935579" cy="762535"/>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After 4 rounds of message passing</a:t>
            </a:r>
          </a:p>
        </p:txBody>
      </p:sp>
      <p:sp>
        <p:nvSpPr>
          <p:cNvPr id="7" name="sometin">
            <a:extLst>
              <a:ext uri="{FF2B5EF4-FFF2-40B4-BE49-F238E27FC236}">
                <a16:creationId xmlns:a16="http://schemas.microsoft.com/office/drawing/2014/main" id="{9EE01271-1E03-A8A9-A1CA-F095EF2EA13D}"/>
              </a:ext>
            </a:extLst>
          </p:cNvPr>
          <p:cNvSpPr/>
          <p:nvPr/>
        </p:nvSpPr>
        <p:spPr bwMode="auto">
          <a:xfrm>
            <a:off x="465221" y="4206507"/>
            <a:ext cx="5630779" cy="1756609"/>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cosine similarity between trait and candidate’s embeddings is taken as candidate’s score</a:t>
            </a:r>
            <a:endParaRPr lang="en-US" sz="2800"/>
          </a:p>
        </p:txBody>
      </p:sp>
    </p:spTree>
    <p:extLst>
      <p:ext uri="{BB962C8B-B14F-4D97-AF65-F5344CB8AC3E}">
        <p14:creationId xmlns:p14="http://schemas.microsoft.com/office/powerpoint/2010/main" val="895330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45389-D2B3-4143-D384-3E2D433730F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E836BFB-1ED5-6F00-B96B-9EDD61ACF2B1}"/>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71</a:t>
            </a:fld>
            <a:endParaRPr lang="en-US">
              <a:solidFill>
                <a:srgbClr val="000000"/>
              </a:solidFill>
              <a:latin typeface="Segoe UI"/>
            </a:endParaRPr>
          </a:p>
        </p:txBody>
      </p:sp>
      <p:pic>
        <p:nvPicPr>
          <p:cNvPr id="3" name="Picture 2">
            <a:extLst>
              <a:ext uri="{FF2B5EF4-FFF2-40B4-BE49-F238E27FC236}">
                <a16:creationId xmlns:a16="http://schemas.microsoft.com/office/drawing/2014/main" id="{A8FCD538-BAA2-7901-3FB2-A8EDF698BC09}"/>
              </a:ext>
            </a:extLst>
          </p:cNvPr>
          <p:cNvPicPr>
            <a:picLocks noChangeAspect="1"/>
          </p:cNvPicPr>
          <p:nvPr/>
        </p:nvPicPr>
        <p:blipFill>
          <a:blip r:embed="rId3"/>
          <a:stretch>
            <a:fillRect/>
          </a:stretch>
        </p:blipFill>
        <p:spPr>
          <a:xfrm>
            <a:off x="5440804" y="-5131622"/>
            <a:ext cx="13502391" cy="11989622"/>
          </a:xfrm>
          <a:prstGeom prst="rect">
            <a:avLst/>
          </a:prstGeom>
        </p:spPr>
      </p:pic>
      <p:sp>
        <p:nvSpPr>
          <p:cNvPr id="5" name="!!text2">
            <a:extLst>
              <a:ext uri="{FF2B5EF4-FFF2-40B4-BE49-F238E27FC236}">
                <a16:creationId xmlns:a16="http://schemas.microsoft.com/office/drawing/2014/main" id="{98D3501F-E703-4303-9438-8E3862974F37}"/>
              </a:ext>
            </a:extLst>
          </p:cNvPr>
          <p:cNvSpPr/>
          <p:nvPr/>
        </p:nvSpPr>
        <p:spPr bwMode="auto">
          <a:xfrm>
            <a:off x="465221" y="2004727"/>
            <a:ext cx="6031832" cy="1063326"/>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Cross-Entropy Loss for each query (has multiple candidates)</a:t>
            </a:r>
          </a:p>
        </p:txBody>
      </p:sp>
      <p:sp>
        <p:nvSpPr>
          <p:cNvPr id="7" name="sometin">
            <a:extLst>
              <a:ext uri="{FF2B5EF4-FFF2-40B4-BE49-F238E27FC236}">
                <a16:creationId xmlns:a16="http://schemas.microsoft.com/office/drawing/2014/main" id="{D8D08B8A-F588-13D8-FD08-D40D485831D5}"/>
              </a:ext>
            </a:extLst>
          </p:cNvPr>
          <p:cNvSpPr/>
          <p:nvPr/>
        </p:nvSpPr>
        <p:spPr bwMode="auto">
          <a:xfrm>
            <a:off x="465221" y="4206507"/>
            <a:ext cx="5630779" cy="1756609"/>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This loss is calculated and used for backprop after every batch (</a:t>
            </a:r>
            <a:r>
              <a:rPr lang="en-US" sz="2800" err="1">
                <a:solidFill>
                  <a:schemeClr val="tx1"/>
                </a:solidFill>
                <a:latin typeface="Arial" panose="020B0604020202020204" pitchFamily="34" charset="0"/>
                <a:cs typeface="Arial" panose="020B0604020202020204" pitchFamily="34" charset="0"/>
              </a:rPr>
              <a:t>batchsize</a:t>
            </a:r>
            <a:r>
              <a:rPr lang="en-US" sz="2800">
                <a:solidFill>
                  <a:schemeClr val="tx1"/>
                </a:solidFill>
                <a:latin typeface="Arial" panose="020B0604020202020204" pitchFamily="34" charset="0"/>
                <a:cs typeface="Arial" panose="020B0604020202020204" pitchFamily="34" charset="0"/>
              </a:rPr>
              <a:t> = 2 queries)</a:t>
            </a:r>
            <a:endParaRPr lang="en-US" sz="2800"/>
          </a:p>
        </p:txBody>
      </p:sp>
    </p:spTree>
    <p:extLst>
      <p:ext uri="{BB962C8B-B14F-4D97-AF65-F5344CB8AC3E}">
        <p14:creationId xmlns:p14="http://schemas.microsoft.com/office/powerpoint/2010/main" val="32696247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B6F28-5D0E-7F7C-D28A-D172C27B881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603660F-26A2-05A3-CC19-9D5D391F849F}"/>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72</a:t>
            </a:fld>
            <a:endParaRPr lang="en-US">
              <a:solidFill>
                <a:srgbClr val="000000"/>
              </a:solidFill>
              <a:latin typeface="Segoe UI"/>
            </a:endParaRPr>
          </a:p>
        </p:txBody>
      </p:sp>
      <p:sp>
        <p:nvSpPr>
          <p:cNvPr id="19" name="!!6">
            <a:extLst>
              <a:ext uri="{FF2B5EF4-FFF2-40B4-BE49-F238E27FC236}">
                <a16:creationId xmlns:a16="http://schemas.microsoft.com/office/drawing/2014/main" id="{09E37E07-B924-465B-940D-81DEB3E1EDEC}"/>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dirty="0">
                <a:solidFill>
                  <a:srgbClr val="1B4C9C"/>
                </a:solidFill>
                <a:latin typeface="Arial" panose="020B0604020202020204" pitchFamily="34" charset="0"/>
                <a:cs typeface="Arial" panose="020B0604020202020204" pitchFamily="34" charset="0"/>
              </a:rPr>
              <a:t>R-GCN Pooled vs. R-GCN Deep</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pic>
        <p:nvPicPr>
          <p:cNvPr id="7" name="Picture 6">
            <a:extLst>
              <a:ext uri="{FF2B5EF4-FFF2-40B4-BE49-F238E27FC236}">
                <a16:creationId xmlns:a16="http://schemas.microsoft.com/office/drawing/2014/main" id="{3A923434-24F1-28F0-2C05-3728045BBAFF}"/>
              </a:ext>
            </a:extLst>
          </p:cNvPr>
          <p:cNvPicPr>
            <a:picLocks noChangeAspect="1"/>
          </p:cNvPicPr>
          <p:nvPr/>
        </p:nvPicPr>
        <p:blipFill>
          <a:blip r:embed="rId3"/>
          <a:stretch>
            <a:fillRect/>
          </a:stretch>
        </p:blipFill>
        <p:spPr>
          <a:xfrm>
            <a:off x="82882" y="1469007"/>
            <a:ext cx="12026235" cy="4686695"/>
          </a:xfrm>
          <a:prstGeom prst="rect">
            <a:avLst/>
          </a:prstGeom>
        </p:spPr>
      </p:pic>
    </p:spTree>
    <p:extLst>
      <p:ext uri="{BB962C8B-B14F-4D97-AF65-F5344CB8AC3E}">
        <p14:creationId xmlns:p14="http://schemas.microsoft.com/office/powerpoint/2010/main" val="3821884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1EB2A-7005-1DD3-0A90-69BB2120A60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8C4112-38F9-F451-D0CD-1EDAE0E2350D}"/>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73</a:t>
            </a:fld>
            <a:endParaRPr lang="en-US">
              <a:solidFill>
                <a:srgbClr val="000000"/>
              </a:solidFill>
              <a:latin typeface="Segoe UI"/>
            </a:endParaRPr>
          </a:p>
        </p:txBody>
      </p:sp>
      <p:sp>
        <p:nvSpPr>
          <p:cNvPr id="19" name="!!6">
            <a:extLst>
              <a:ext uri="{FF2B5EF4-FFF2-40B4-BE49-F238E27FC236}">
                <a16:creationId xmlns:a16="http://schemas.microsoft.com/office/drawing/2014/main" id="{E675832B-21F4-0409-F483-59210F3A86EF}"/>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dirty="0">
                <a:solidFill>
                  <a:srgbClr val="1B4C9C"/>
                </a:solidFill>
                <a:latin typeface="Arial" panose="020B0604020202020204" pitchFamily="34" charset="0"/>
                <a:cs typeface="Arial" panose="020B0604020202020204" pitchFamily="34" charset="0"/>
              </a:rPr>
              <a:t>Hyperparameter Tuning</a:t>
            </a:r>
          </a:p>
        </p:txBody>
      </p:sp>
      <p:pic>
        <p:nvPicPr>
          <p:cNvPr id="6" name="Picture 5">
            <a:extLst>
              <a:ext uri="{FF2B5EF4-FFF2-40B4-BE49-F238E27FC236}">
                <a16:creationId xmlns:a16="http://schemas.microsoft.com/office/drawing/2014/main" id="{DCED52A9-C4C4-A9BF-B4C4-425667B37183}"/>
              </a:ext>
            </a:extLst>
          </p:cNvPr>
          <p:cNvPicPr>
            <a:picLocks noChangeAspect="1"/>
          </p:cNvPicPr>
          <p:nvPr/>
        </p:nvPicPr>
        <p:blipFill>
          <a:blip r:embed="rId3"/>
          <a:stretch>
            <a:fillRect/>
          </a:stretch>
        </p:blipFill>
        <p:spPr>
          <a:xfrm>
            <a:off x="158672" y="2234000"/>
            <a:ext cx="11874656" cy="3068730"/>
          </a:xfrm>
          <a:prstGeom prst="rect">
            <a:avLst/>
          </a:prstGeom>
        </p:spPr>
      </p:pic>
    </p:spTree>
    <p:extLst>
      <p:ext uri="{BB962C8B-B14F-4D97-AF65-F5344CB8AC3E}">
        <p14:creationId xmlns:p14="http://schemas.microsoft.com/office/powerpoint/2010/main" val="987534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9F0A4-9EC8-D024-9AA4-15D9E9C9258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2255E2-1614-EF74-0CDA-1A44C48A9529}"/>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74</a:t>
            </a:fld>
            <a:endParaRPr lang="en-US">
              <a:solidFill>
                <a:srgbClr val="000000"/>
              </a:solidFill>
              <a:latin typeface="Segoe UI"/>
            </a:endParaRPr>
          </a:p>
        </p:txBody>
      </p:sp>
      <p:sp>
        <p:nvSpPr>
          <p:cNvPr id="19" name="!!6">
            <a:extLst>
              <a:ext uri="{FF2B5EF4-FFF2-40B4-BE49-F238E27FC236}">
                <a16:creationId xmlns:a16="http://schemas.microsoft.com/office/drawing/2014/main" id="{A90B7842-A8ED-1D1A-87C3-FB279DE0922E}"/>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dirty="0">
                <a:solidFill>
                  <a:srgbClr val="1B4C9C"/>
                </a:solidFill>
                <a:latin typeface="Arial" panose="020B0604020202020204" pitchFamily="34" charset="0"/>
                <a:cs typeface="Arial" panose="020B0604020202020204" pitchFamily="34" charset="0"/>
              </a:rPr>
              <a:t>Baseline Model: Sum-of-Products</a:t>
            </a:r>
            <a:endParaRPr lang="en-US" sz="4000" b="1" spc="-67" dirty="0">
              <a:solidFill>
                <a:srgbClr val="1B4C9C"/>
              </a:solidFill>
              <a:latin typeface="Arial" panose="020B0604020202020204" pitchFamily="34" charset="0"/>
              <a:ea typeface="Segoe UI" pitchFamily="34" charset="0"/>
              <a:cs typeface="Arial" panose="020B0604020202020204" pitchFamily="34" charset="0"/>
            </a:endParaRPr>
          </a:p>
        </p:txBody>
      </p:sp>
      <p:sp>
        <p:nvSpPr>
          <p:cNvPr id="2" name="Rounded Rectangle 1">
            <a:extLst>
              <a:ext uri="{FF2B5EF4-FFF2-40B4-BE49-F238E27FC236}">
                <a16:creationId xmlns:a16="http://schemas.microsoft.com/office/drawing/2014/main" id="{70F2F3A8-2A60-22A6-8648-C079E58209EC}"/>
              </a:ext>
            </a:extLst>
          </p:cNvPr>
          <p:cNvSpPr/>
          <p:nvPr/>
        </p:nvSpPr>
        <p:spPr bwMode="auto">
          <a:xfrm>
            <a:off x="540548" y="1233250"/>
            <a:ext cx="10686833" cy="2383996"/>
          </a:xfrm>
          <a:prstGeom prst="roundRect">
            <a:avLst>
              <a:gd name="adj" fmla="val 9082"/>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7FB281E-1CF2-2B88-A1C3-6222A1E66DD3}"/>
              </a:ext>
            </a:extLst>
          </p:cNvPr>
          <p:cNvSpPr txBox="1"/>
          <p:nvPr/>
        </p:nvSpPr>
        <p:spPr>
          <a:xfrm>
            <a:off x="649758" y="1233250"/>
            <a:ext cx="10083355" cy="2246769"/>
          </a:xfrm>
          <a:prstGeom prst="rect">
            <a:avLst/>
          </a:prstGeom>
          <a:noFill/>
        </p:spPr>
        <p:txBody>
          <a:bodyPr wrap="square">
            <a:spAutoFit/>
          </a:bodyPr>
          <a:lstStyle/>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Scores every path from input trait to candidate gene</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Simple, and fails to capture any complex pattern</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Algorithm has no basis in biology whatsoever </a:t>
            </a:r>
          </a:p>
        </p:txBody>
      </p:sp>
      <p:pic>
        <p:nvPicPr>
          <p:cNvPr id="8" name="Picture 7">
            <a:extLst>
              <a:ext uri="{FF2B5EF4-FFF2-40B4-BE49-F238E27FC236}">
                <a16:creationId xmlns:a16="http://schemas.microsoft.com/office/drawing/2014/main" id="{EF80E394-C24C-02D2-EC7A-4786FF054C05}"/>
              </a:ext>
            </a:extLst>
          </p:cNvPr>
          <p:cNvPicPr>
            <a:picLocks noChangeAspect="1"/>
          </p:cNvPicPr>
          <p:nvPr/>
        </p:nvPicPr>
        <p:blipFill>
          <a:blip r:embed="rId3"/>
          <a:stretch>
            <a:fillRect/>
          </a:stretch>
        </p:blipFill>
        <p:spPr>
          <a:xfrm>
            <a:off x="2748575" y="4257031"/>
            <a:ext cx="6595495" cy="2383996"/>
          </a:xfrm>
          <a:prstGeom prst="rect">
            <a:avLst/>
          </a:prstGeom>
        </p:spPr>
      </p:pic>
    </p:spTree>
    <p:extLst>
      <p:ext uri="{BB962C8B-B14F-4D97-AF65-F5344CB8AC3E}">
        <p14:creationId xmlns:p14="http://schemas.microsoft.com/office/powerpoint/2010/main" val="3301893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32321-7201-D90D-EC4F-7A00FBA3193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341ADFB-51DB-7823-18F3-392A948B8ED6}"/>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75</a:t>
            </a:fld>
            <a:endParaRPr lang="en-US">
              <a:solidFill>
                <a:srgbClr val="000000"/>
              </a:solidFill>
              <a:latin typeface="Segoe UI"/>
            </a:endParaRPr>
          </a:p>
        </p:txBody>
      </p:sp>
      <p:sp>
        <p:nvSpPr>
          <p:cNvPr id="19" name="!!6">
            <a:extLst>
              <a:ext uri="{FF2B5EF4-FFF2-40B4-BE49-F238E27FC236}">
                <a16:creationId xmlns:a16="http://schemas.microsoft.com/office/drawing/2014/main" id="{1924F476-BC2D-B915-30E8-976CD1B6364F}"/>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dirty="0">
                <a:solidFill>
                  <a:srgbClr val="1B4C9C"/>
                </a:solidFill>
                <a:latin typeface="Arial" panose="020B0604020202020204" pitchFamily="34" charset="0"/>
                <a:cs typeface="Arial" panose="020B0604020202020204" pitchFamily="34" charset="0"/>
              </a:rPr>
              <a:t>Baseline Model: Sum-of-Products</a:t>
            </a:r>
            <a:endParaRPr lang="en-US" sz="4000" b="1" spc="-67" dirty="0">
              <a:solidFill>
                <a:srgbClr val="1B4C9C"/>
              </a:solidFill>
              <a:latin typeface="Arial" panose="020B0604020202020204" pitchFamily="34" charset="0"/>
              <a:ea typeface="Segoe UI" pitchFamily="34" charset="0"/>
              <a:cs typeface="Arial" panose="020B0604020202020204" pitchFamily="34" charset="0"/>
            </a:endParaRPr>
          </a:p>
        </p:txBody>
      </p:sp>
      <p:pic>
        <p:nvPicPr>
          <p:cNvPr id="8" name="Picture 7">
            <a:extLst>
              <a:ext uri="{FF2B5EF4-FFF2-40B4-BE49-F238E27FC236}">
                <a16:creationId xmlns:a16="http://schemas.microsoft.com/office/drawing/2014/main" id="{222E5994-7BA7-BBE0-9FCA-D83F40F6580E}"/>
              </a:ext>
            </a:extLst>
          </p:cNvPr>
          <p:cNvPicPr>
            <a:picLocks noChangeAspect="1"/>
          </p:cNvPicPr>
          <p:nvPr/>
        </p:nvPicPr>
        <p:blipFill>
          <a:blip r:embed="rId3"/>
          <a:stretch>
            <a:fillRect/>
          </a:stretch>
        </p:blipFill>
        <p:spPr>
          <a:xfrm>
            <a:off x="209125" y="1535480"/>
            <a:ext cx="11773750" cy="4255719"/>
          </a:xfrm>
          <a:prstGeom prst="rect">
            <a:avLst/>
          </a:prstGeom>
        </p:spPr>
      </p:pic>
    </p:spTree>
    <p:extLst>
      <p:ext uri="{BB962C8B-B14F-4D97-AF65-F5344CB8AC3E}">
        <p14:creationId xmlns:p14="http://schemas.microsoft.com/office/powerpoint/2010/main" val="40045751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F04B4-F41E-CD28-69D0-2DBEC4EE5E5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D7E8884-01DD-91D7-953D-18171F779BBE}"/>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76</a:t>
            </a:fld>
            <a:endParaRPr lang="en-US">
              <a:solidFill>
                <a:srgbClr val="000000"/>
              </a:solidFill>
              <a:latin typeface="Segoe UI"/>
            </a:endParaRPr>
          </a:p>
        </p:txBody>
      </p:sp>
      <p:sp>
        <p:nvSpPr>
          <p:cNvPr id="19" name="!!6">
            <a:extLst>
              <a:ext uri="{FF2B5EF4-FFF2-40B4-BE49-F238E27FC236}">
                <a16:creationId xmlns:a16="http://schemas.microsoft.com/office/drawing/2014/main" id="{CE1B4EB4-C71E-B1CC-DBF4-D955BBDC4BB2}"/>
              </a:ext>
            </a:extLst>
          </p:cNvPr>
          <p:cNvSpPr/>
          <p:nvPr/>
        </p:nvSpPr>
        <p:spPr bwMode="auto">
          <a:xfrm>
            <a:off x="273135" y="107455"/>
            <a:ext cx="9070935" cy="1049526"/>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3600" b="1" dirty="0">
                <a:solidFill>
                  <a:srgbClr val="1B4C9C"/>
                </a:solidFill>
                <a:latin typeface="Arial" panose="020B0604020202020204" pitchFamily="34" charset="0"/>
                <a:cs typeface="Arial" panose="020B0604020202020204" pitchFamily="34" charset="0"/>
              </a:rPr>
              <a:t>Baseline Model: </a:t>
            </a:r>
            <a:r>
              <a:rPr lang="en-US" sz="3600" b="1" dirty="0">
                <a:solidFill>
                  <a:srgbClr val="13409F"/>
                </a:solidFill>
                <a:latin typeface="Arial" panose="020B0604020202020204" pitchFamily="34" charset="0"/>
                <a:cs typeface="Arial" panose="020B0604020202020204" pitchFamily="34" charset="0"/>
              </a:rPr>
              <a:t>Singular Value Decomposition (SVD)</a:t>
            </a:r>
          </a:p>
        </p:txBody>
      </p:sp>
      <p:sp>
        <p:nvSpPr>
          <p:cNvPr id="2" name="Rounded Rectangle 1">
            <a:extLst>
              <a:ext uri="{FF2B5EF4-FFF2-40B4-BE49-F238E27FC236}">
                <a16:creationId xmlns:a16="http://schemas.microsoft.com/office/drawing/2014/main" id="{4C72C257-69A6-3AFA-DF45-B17D2DF5CCE8}"/>
              </a:ext>
            </a:extLst>
          </p:cNvPr>
          <p:cNvSpPr/>
          <p:nvPr/>
        </p:nvSpPr>
        <p:spPr bwMode="auto">
          <a:xfrm>
            <a:off x="540548" y="1233249"/>
            <a:ext cx="10686833" cy="5126212"/>
          </a:xfrm>
          <a:prstGeom prst="roundRect">
            <a:avLst>
              <a:gd name="adj" fmla="val 9082"/>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3" name="!!1">
            <a:extLst>
              <a:ext uri="{FF2B5EF4-FFF2-40B4-BE49-F238E27FC236}">
                <a16:creationId xmlns:a16="http://schemas.microsoft.com/office/drawing/2014/main" id="{05F19410-3096-C37F-EA24-B3DE87109BFA}"/>
              </a:ext>
            </a:extLst>
          </p:cNvPr>
          <p:cNvSpPr txBox="1"/>
          <p:nvPr/>
        </p:nvSpPr>
        <p:spPr>
          <a:xfrm>
            <a:off x="717167" y="1289341"/>
            <a:ext cx="10333591" cy="861774"/>
          </a:xfrm>
          <a:prstGeom prst="rect">
            <a:avLst/>
          </a:prstGeom>
          <a:noFill/>
        </p:spPr>
        <p:txBody>
          <a:bodyPr wrap="square" lIns="0" tIns="0" rIns="0" bIns="0" rtlCol="0">
            <a:spAutoFit/>
          </a:bodyPr>
          <a:lstStyle/>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Converts the heterogeneous graph into a weighted adjacency matrix</a:t>
            </a:r>
          </a:p>
        </p:txBody>
      </p:sp>
      <p:sp>
        <p:nvSpPr>
          <p:cNvPr id="6" name="TextBox 5">
            <a:extLst>
              <a:ext uri="{FF2B5EF4-FFF2-40B4-BE49-F238E27FC236}">
                <a16:creationId xmlns:a16="http://schemas.microsoft.com/office/drawing/2014/main" id="{1F9C18D4-E053-F86B-4DD9-93B865C1407B}"/>
              </a:ext>
            </a:extLst>
          </p:cNvPr>
          <p:cNvSpPr txBox="1"/>
          <p:nvPr/>
        </p:nvSpPr>
        <p:spPr>
          <a:xfrm>
            <a:off x="717167" y="2820031"/>
            <a:ext cx="10083355" cy="3539430"/>
          </a:xfrm>
          <a:prstGeom prst="rect">
            <a:avLst/>
          </a:prstGeom>
          <a:noFill/>
        </p:spPr>
        <p:txBody>
          <a:bodyPr wrap="square">
            <a:spAutoFit/>
          </a:bodyPr>
          <a:lstStyle/>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Learns low-dimensional embeddings capturing latent biological connectivity.</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Ranks genes by similarity between gene and trait embeddings</a:t>
            </a:r>
          </a:p>
          <a:p>
            <a:pPr marL="342900" indent="-3429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Treats every relation and every node uniformly (not biologically accurate)</a:t>
            </a:r>
          </a:p>
        </p:txBody>
      </p:sp>
    </p:spTree>
    <p:extLst>
      <p:ext uri="{BB962C8B-B14F-4D97-AF65-F5344CB8AC3E}">
        <p14:creationId xmlns:p14="http://schemas.microsoft.com/office/powerpoint/2010/main" val="14090648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fade">
                                      <p:cBhvr>
                                        <p:cTn id="20" dur="500"/>
                                        <p:tgtEl>
                                          <p:spTgt spid="6">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fade">
                                      <p:cBhvr>
                                        <p:cTn id="25"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allAtOnce"/>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DD27F-6C2B-6818-0CC3-5B7960B0240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9C23BC8-ACCB-065D-DB4E-53A6DD8BC520}"/>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77</a:t>
            </a:fld>
            <a:endParaRPr lang="en-US">
              <a:solidFill>
                <a:srgbClr val="000000"/>
              </a:solidFill>
              <a:latin typeface="Segoe UI"/>
            </a:endParaRPr>
          </a:p>
        </p:txBody>
      </p:sp>
      <p:sp>
        <p:nvSpPr>
          <p:cNvPr id="19" name="!!6">
            <a:extLst>
              <a:ext uri="{FF2B5EF4-FFF2-40B4-BE49-F238E27FC236}">
                <a16:creationId xmlns:a16="http://schemas.microsoft.com/office/drawing/2014/main" id="{30ADAB57-3897-11F4-6080-BA474CEE8800}"/>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dirty="0">
                <a:solidFill>
                  <a:srgbClr val="1B4C9C"/>
                </a:solidFill>
                <a:latin typeface="Arial" panose="020B0604020202020204" pitchFamily="34" charset="0"/>
                <a:cs typeface="Arial" panose="020B0604020202020204" pitchFamily="34" charset="0"/>
              </a:rPr>
              <a:t>Baseline Model: </a:t>
            </a:r>
            <a:r>
              <a:rPr lang="en-US" sz="4000" b="1" dirty="0">
                <a:solidFill>
                  <a:srgbClr val="13409F"/>
                </a:solidFill>
                <a:latin typeface="Arial" panose="020B0604020202020204" pitchFamily="34" charset="0"/>
                <a:cs typeface="Arial" panose="020B0604020202020204" pitchFamily="34" charset="0"/>
              </a:rPr>
              <a:t>Random Ranking</a:t>
            </a:r>
          </a:p>
        </p:txBody>
      </p:sp>
      <p:sp>
        <p:nvSpPr>
          <p:cNvPr id="2" name="Rounded Rectangle 1">
            <a:extLst>
              <a:ext uri="{FF2B5EF4-FFF2-40B4-BE49-F238E27FC236}">
                <a16:creationId xmlns:a16="http://schemas.microsoft.com/office/drawing/2014/main" id="{272DC4B0-EEF0-6C57-8EB4-18A0D09E73EC}"/>
              </a:ext>
            </a:extLst>
          </p:cNvPr>
          <p:cNvSpPr/>
          <p:nvPr/>
        </p:nvSpPr>
        <p:spPr bwMode="auto">
          <a:xfrm>
            <a:off x="540548" y="1233249"/>
            <a:ext cx="10686833" cy="2570125"/>
          </a:xfrm>
          <a:prstGeom prst="roundRect">
            <a:avLst>
              <a:gd name="adj" fmla="val 9082"/>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3" name="!!1">
            <a:extLst>
              <a:ext uri="{FF2B5EF4-FFF2-40B4-BE49-F238E27FC236}">
                <a16:creationId xmlns:a16="http://schemas.microsoft.com/office/drawing/2014/main" id="{EE125B68-2362-254E-8E80-3A898298CE07}"/>
              </a:ext>
            </a:extLst>
          </p:cNvPr>
          <p:cNvSpPr txBox="1"/>
          <p:nvPr/>
        </p:nvSpPr>
        <p:spPr>
          <a:xfrm>
            <a:off x="717167" y="1289341"/>
            <a:ext cx="10333591" cy="923330"/>
          </a:xfrm>
          <a:prstGeom prst="rect">
            <a:avLst/>
          </a:prstGeom>
          <a:noFill/>
        </p:spPr>
        <p:txBody>
          <a:bodyPr wrap="square" lIns="0" tIns="0" rIns="0" bIns="0" rtlCol="0">
            <a:spAutoFit/>
          </a:bodyPr>
          <a:lstStyle/>
          <a:p>
            <a:r>
              <a:rPr lang="en-US" sz="3200" b="1">
                <a:solidFill>
                  <a:srgbClr val="13409F"/>
                </a:solidFill>
                <a:latin typeface="Arial" panose="020B0604020202020204" pitchFamily="34" charset="0"/>
                <a:cs typeface="Arial" panose="020B0604020202020204" pitchFamily="34" charset="0"/>
              </a:rPr>
              <a:t>Random Ranking</a:t>
            </a:r>
          </a:p>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Literally just random</a:t>
            </a:r>
          </a:p>
        </p:txBody>
      </p:sp>
      <p:sp>
        <p:nvSpPr>
          <p:cNvPr id="6" name="TextBox 5">
            <a:extLst>
              <a:ext uri="{FF2B5EF4-FFF2-40B4-BE49-F238E27FC236}">
                <a16:creationId xmlns:a16="http://schemas.microsoft.com/office/drawing/2014/main" id="{03E00DDC-91A7-9EF5-FC95-F0BB90F3BA34}"/>
              </a:ext>
            </a:extLst>
          </p:cNvPr>
          <p:cNvSpPr txBox="1"/>
          <p:nvPr/>
        </p:nvSpPr>
        <p:spPr>
          <a:xfrm>
            <a:off x="717167" y="2518311"/>
            <a:ext cx="10083355" cy="954107"/>
          </a:xfrm>
          <a:prstGeom prst="rect">
            <a:avLst/>
          </a:prstGeom>
          <a:noFill/>
        </p:spPr>
        <p:txBody>
          <a:bodyPr wrap="square">
            <a:spAutoFit/>
          </a:bodyPr>
          <a:lstStyle/>
          <a:p>
            <a:pPr marL="342900" indent="-342900">
              <a:buFont typeface="Arial" panose="020B0604020202020204" pitchFamily="34" charset="0"/>
              <a:buChar char="•"/>
            </a:pPr>
            <a:r>
              <a:rPr lang="en-US" sz="2800">
                <a:latin typeface="Arial" panose="020B0604020202020204" pitchFamily="34" charset="0"/>
                <a:cs typeface="Arial" panose="020B0604020202020204" pitchFamily="34" charset="0"/>
              </a:rPr>
              <a:t>Serves as a sanity check baseline. Any useful model must perform better than a random gene selector</a:t>
            </a:r>
          </a:p>
        </p:txBody>
      </p:sp>
    </p:spTree>
    <p:extLst>
      <p:ext uri="{BB962C8B-B14F-4D97-AF65-F5344CB8AC3E}">
        <p14:creationId xmlns:p14="http://schemas.microsoft.com/office/powerpoint/2010/main" val="2967944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7B926-B02A-ACC1-BE3C-B38F1C22123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A088C8-6B04-6A45-4DF5-F67DE0EB785D}"/>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78</a:t>
            </a:fld>
            <a:endParaRPr lang="en-US">
              <a:solidFill>
                <a:srgbClr val="000000"/>
              </a:solidFill>
              <a:latin typeface="Segoe UI"/>
            </a:endParaRPr>
          </a:p>
        </p:txBody>
      </p:sp>
      <p:sp>
        <p:nvSpPr>
          <p:cNvPr id="19" name="!!6">
            <a:extLst>
              <a:ext uri="{FF2B5EF4-FFF2-40B4-BE49-F238E27FC236}">
                <a16:creationId xmlns:a16="http://schemas.microsoft.com/office/drawing/2014/main" id="{EDBF90AD-8698-4B15-18E0-B98F57BC65CF}"/>
              </a:ext>
            </a:extLst>
          </p:cNvPr>
          <p:cNvSpPr/>
          <p:nvPr/>
        </p:nvSpPr>
        <p:spPr bwMode="auto">
          <a:xfrm>
            <a:off x="273135" y="107455"/>
            <a:ext cx="943246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dirty="0">
                <a:solidFill>
                  <a:srgbClr val="1B4C9C"/>
                </a:solidFill>
                <a:latin typeface="Arial" panose="020B0604020202020204" pitchFamily="34" charset="0"/>
                <a:cs typeface="Arial" panose="020B0604020202020204" pitchFamily="34" charset="0"/>
              </a:rPr>
              <a:t>Comparison of Gene Ranking Models</a:t>
            </a:r>
            <a:endParaRPr lang="en-US" sz="4000" b="1" spc="-67" dirty="0">
              <a:solidFill>
                <a:srgbClr val="1B4C9C"/>
              </a:solidFill>
              <a:latin typeface="Arial" panose="020B0604020202020204" pitchFamily="34" charset="0"/>
              <a:ea typeface="Segoe UI" pitchFamily="34" charset="0"/>
              <a:cs typeface="Arial" panose="020B0604020202020204" pitchFamily="34" charset="0"/>
            </a:endParaRPr>
          </a:p>
        </p:txBody>
      </p:sp>
      <p:pic>
        <p:nvPicPr>
          <p:cNvPr id="7" name="Picture 6">
            <a:extLst>
              <a:ext uri="{FF2B5EF4-FFF2-40B4-BE49-F238E27FC236}">
                <a16:creationId xmlns:a16="http://schemas.microsoft.com/office/drawing/2014/main" id="{F262BB1D-AD7D-1738-2CAD-C1CD323B1392}"/>
              </a:ext>
            </a:extLst>
          </p:cNvPr>
          <p:cNvPicPr>
            <a:picLocks noChangeAspect="1"/>
          </p:cNvPicPr>
          <p:nvPr/>
        </p:nvPicPr>
        <p:blipFill>
          <a:blip r:embed="rId3"/>
          <a:stretch>
            <a:fillRect/>
          </a:stretch>
        </p:blipFill>
        <p:spPr>
          <a:xfrm>
            <a:off x="97577" y="1999325"/>
            <a:ext cx="11996846" cy="2859350"/>
          </a:xfrm>
          <a:prstGeom prst="rect">
            <a:avLst/>
          </a:prstGeom>
        </p:spPr>
      </p:pic>
    </p:spTree>
    <p:extLst>
      <p:ext uri="{BB962C8B-B14F-4D97-AF65-F5344CB8AC3E}">
        <p14:creationId xmlns:p14="http://schemas.microsoft.com/office/powerpoint/2010/main" val="3513624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36C7E-FAE3-A4A4-8660-FFA89D10BBF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62287C6-669C-5546-3907-EE70AC30E0B3}"/>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79</a:t>
            </a:fld>
            <a:endParaRPr lang="en-US">
              <a:solidFill>
                <a:srgbClr val="000000"/>
              </a:solidFill>
              <a:latin typeface="Segoe UI"/>
            </a:endParaRPr>
          </a:p>
        </p:txBody>
      </p:sp>
      <p:sp>
        <p:nvSpPr>
          <p:cNvPr id="19" name="!!6">
            <a:extLst>
              <a:ext uri="{FF2B5EF4-FFF2-40B4-BE49-F238E27FC236}">
                <a16:creationId xmlns:a16="http://schemas.microsoft.com/office/drawing/2014/main" id="{2B344D66-C9DC-BD10-DAF7-2BDCC586EE19}"/>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dirty="0">
                <a:solidFill>
                  <a:srgbClr val="1B4C9C"/>
                </a:solidFill>
                <a:latin typeface="Arial" panose="020B0604020202020204" pitchFamily="34" charset="0"/>
                <a:cs typeface="Arial" panose="020B0604020202020204" pitchFamily="34" charset="0"/>
              </a:rPr>
              <a:t>Performance Measures</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3" name="Rounded Rectangle 2">
            <a:extLst>
              <a:ext uri="{FF2B5EF4-FFF2-40B4-BE49-F238E27FC236}">
                <a16:creationId xmlns:a16="http://schemas.microsoft.com/office/drawing/2014/main" id="{853AC051-5550-3AB4-0E0F-D1B5570E5279}"/>
              </a:ext>
            </a:extLst>
          </p:cNvPr>
          <p:cNvSpPr/>
          <p:nvPr/>
        </p:nvSpPr>
        <p:spPr bwMode="auto">
          <a:xfrm>
            <a:off x="580304" y="1050158"/>
            <a:ext cx="10686833" cy="5067838"/>
          </a:xfrm>
          <a:prstGeom prst="roundRect">
            <a:avLst>
              <a:gd name="adj" fmla="val 9082"/>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5" name="!!1">
            <a:extLst>
              <a:ext uri="{FF2B5EF4-FFF2-40B4-BE49-F238E27FC236}">
                <a16:creationId xmlns:a16="http://schemas.microsoft.com/office/drawing/2014/main" id="{750BC84E-5BAF-4604-1E44-0E0B9566B59A}"/>
              </a:ext>
            </a:extLst>
          </p:cNvPr>
          <p:cNvSpPr txBox="1"/>
          <p:nvPr/>
        </p:nvSpPr>
        <p:spPr>
          <a:xfrm>
            <a:off x="756923" y="1106250"/>
            <a:ext cx="10333591" cy="4801314"/>
          </a:xfrm>
          <a:prstGeom prst="rect">
            <a:avLst/>
          </a:prstGeom>
          <a:noFill/>
        </p:spPr>
        <p:txBody>
          <a:bodyPr wrap="square" lIns="0" tIns="0" rIns="0" bIns="0" rtlCol="0">
            <a:spAutoFit/>
          </a:bodyPr>
          <a:lstStyle/>
          <a:p>
            <a:r>
              <a:rPr lang="en-US" sz="3200" b="1">
                <a:solidFill>
                  <a:srgbClr val="13409F"/>
                </a:solidFill>
                <a:latin typeface="Arial" panose="020B0604020202020204" pitchFamily="34" charset="0"/>
                <a:cs typeface="Arial" panose="020B0604020202020204" pitchFamily="34" charset="0"/>
              </a:rPr>
              <a:t>Measures for Inference &amp; Performance Comparison</a:t>
            </a:r>
          </a:p>
          <a:p>
            <a:pPr marL="342900" indent="-342900">
              <a:buFont typeface="Arial" panose="020B0604020202020204" pitchFamily="34" charset="0"/>
              <a:buChar char="•"/>
            </a:pPr>
            <a:endParaRPr lang="en-US" sz="28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b="1">
                <a:latin typeface="Arial" panose="020B0604020202020204" pitchFamily="34" charset="0"/>
                <a:cs typeface="Arial" panose="020B0604020202020204" pitchFamily="34" charset="0"/>
              </a:rPr>
              <a:t>Percentile: </a:t>
            </a:r>
            <a:r>
              <a:rPr lang="en-US" sz="2800">
                <a:latin typeface="Arial" panose="020B0604020202020204" pitchFamily="34" charset="0"/>
                <a:cs typeface="Arial" panose="020B0604020202020204" pitchFamily="34" charset="0"/>
              </a:rPr>
              <a:t>Measures the candidate gene's percentile rank within its candidate gene set after ranking all candidates. Sensitive to candidate set size, making comparisons across folders less reliable. </a:t>
            </a:r>
          </a:p>
          <a:p>
            <a:pPr marL="342900" indent="-342900">
              <a:buFont typeface="Arial" panose="020B0604020202020204" pitchFamily="34" charset="0"/>
              <a:buChar char="•"/>
            </a:pPr>
            <a:endParaRPr lang="en-US" sz="28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800" b="1">
                <a:latin typeface="Arial" panose="020B0604020202020204" pitchFamily="34" charset="0"/>
                <a:cs typeface="Arial" panose="020B0604020202020204" pitchFamily="34" charset="0"/>
              </a:rPr>
              <a:t>Raw Rank:</a:t>
            </a:r>
            <a:r>
              <a:rPr lang="en-US" sz="2800">
                <a:latin typeface="Arial" panose="020B0604020202020204" pitchFamily="34" charset="0"/>
                <a:cs typeface="Arial" panose="020B0604020202020204" pitchFamily="34" charset="0"/>
              </a:rPr>
              <a:t> Records the candidate gene's absolute rank after ranking all candidates. Assumes missing genes have already been filtered out, so it does not isolate the ranking model's performance alone.</a:t>
            </a:r>
          </a:p>
        </p:txBody>
      </p:sp>
    </p:spTree>
    <p:extLst>
      <p:ext uri="{BB962C8B-B14F-4D97-AF65-F5344CB8AC3E}">
        <p14:creationId xmlns:p14="http://schemas.microsoft.com/office/powerpoint/2010/main" val="2438994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4D966-B4BA-9632-34BC-6103EB8CC78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2B6D48-1695-00EA-A21F-D31F71CB48DA}"/>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80</a:t>
            </a:fld>
            <a:endParaRPr lang="en-US">
              <a:solidFill>
                <a:srgbClr val="000000"/>
              </a:solidFill>
              <a:latin typeface="Segoe UI"/>
            </a:endParaRPr>
          </a:p>
        </p:txBody>
      </p:sp>
      <p:sp>
        <p:nvSpPr>
          <p:cNvPr id="19" name="!!6">
            <a:extLst>
              <a:ext uri="{FF2B5EF4-FFF2-40B4-BE49-F238E27FC236}">
                <a16:creationId xmlns:a16="http://schemas.microsoft.com/office/drawing/2014/main" id="{7572C04A-5665-841E-17E7-455CA3A55DED}"/>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dirty="0">
                <a:solidFill>
                  <a:srgbClr val="1B4C9C"/>
                </a:solidFill>
                <a:latin typeface="Arial" panose="020B0604020202020204" pitchFamily="34" charset="0"/>
                <a:cs typeface="Arial" panose="020B0604020202020204" pitchFamily="34" charset="0"/>
              </a:rPr>
              <a:t>Experiment Results</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pic>
        <p:nvPicPr>
          <p:cNvPr id="12" name="Picture 11">
            <a:extLst>
              <a:ext uri="{FF2B5EF4-FFF2-40B4-BE49-F238E27FC236}">
                <a16:creationId xmlns:a16="http://schemas.microsoft.com/office/drawing/2014/main" id="{EDE4D278-B92A-4FF4-C22F-0259E7107021}"/>
              </a:ext>
            </a:extLst>
          </p:cNvPr>
          <p:cNvPicPr>
            <a:picLocks noChangeAspect="1"/>
          </p:cNvPicPr>
          <p:nvPr/>
        </p:nvPicPr>
        <p:blipFill>
          <a:blip r:embed="rId3"/>
          <a:stretch>
            <a:fillRect/>
          </a:stretch>
        </p:blipFill>
        <p:spPr>
          <a:xfrm>
            <a:off x="1644926" y="815780"/>
            <a:ext cx="8902148" cy="5934765"/>
          </a:xfrm>
          <a:prstGeom prst="rect">
            <a:avLst/>
          </a:prstGeom>
        </p:spPr>
      </p:pic>
    </p:spTree>
    <p:extLst>
      <p:ext uri="{BB962C8B-B14F-4D97-AF65-F5344CB8AC3E}">
        <p14:creationId xmlns:p14="http://schemas.microsoft.com/office/powerpoint/2010/main" val="1044752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09CFD-FDCB-8916-AC47-B3100D89147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5FC46F2-FC72-22D7-64A8-7BF1C2BF0EE3}"/>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81</a:t>
            </a:fld>
            <a:endParaRPr lang="en-US">
              <a:solidFill>
                <a:srgbClr val="000000"/>
              </a:solidFill>
              <a:latin typeface="Segoe UI"/>
            </a:endParaRPr>
          </a:p>
        </p:txBody>
      </p:sp>
      <p:sp>
        <p:nvSpPr>
          <p:cNvPr id="19" name="!!6">
            <a:extLst>
              <a:ext uri="{FF2B5EF4-FFF2-40B4-BE49-F238E27FC236}">
                <a16:creationId xmlns:a16="http://schemas.microsoft.com/office/drawing/2014/main" id="{30BD0E22-3460-5BAF-2222-17B539CDC356}"/>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dirty="0">
                <a:solidFill>
                  <a:srgbClr val="1B4C9C"/>
                </a:solidFill>
                <a:latin typeface="Arial" panose="020B0604020202020204" pitchFamily="34" charset="0"/>
                <a:cs typeface="Arial" panose="020B0604020202020204" pitchFamily="34" charset="0"/>
              </a:rPr>
              <a:t>Experiment Results</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pic>
        <p:nvPicPr>
          <p:cNvPr id="2" name="Picture 1">
            <a:extLst>
              <a:ext uri="{FF2B5EF4-FFF2-40B4-BE49-F238E27FC236}">
                <a16:creationId xmlns:a16="http://schemas.microsoft.com/office/drawing/2014/main" id="{72306F0A-9999-0FA8-FF53-3C5AEE4901FF}"/>
              </a:ext>
            </a:extLst>
          </p:cNvPr>
          <p:cNvPicPr>
            <a:picLocks noChangeAspect="1"/>
          </p:cNvPicPr>
          <p:nvPr/>
        </p:nvPicPr>
        <p:blipFill>
          <a:blip r:embed="rId3"/>
          <a:stretch>
            <a:fillRect/>
          </a:stretch>
        </p:blipFill>
        <p:spPr>
          <a:xfrm>
            <a:off x="1694621" y="806407"/>
            <a:ext cx="8802757" cy="5868505"/>
          </a:xfrm>
          <a:prstGeom prst="rect">
            <a:avLst/>
          </a:prstGeom>
        </p:spPr>
      </p:pic>
    </p:spTree>
    <p:extLst>
      <p:ext uri="{BB962C8B-B14F-4D97-AF65-F5344CB8AC3E}">
        <p14:creationId xmlns:p14="http://schemas.microsoft.com/office/powerpoint/2010/main" val="25861519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879FA-3CCE-B349-6B8D-6B7C064253F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CC985B-1D73-7491-F19E-D1FE2CE5683D}"/>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82</a:t>
            </a:fld>
            <a:endParaRPr lang="en-US">
              <a:solidFill>
                <a:srgbClr val="000000"/>
              </a:solidFill>
              <a:latin typeface="Segoe UI"/>
            </a:endParaRPr>
          </a:p>
        </p:txBody>
      </p:sp>
      <p:sp>
        <p:nvSpPr>
          <p:cNvPr id="19" name="!!6">
            <a:extLst>
              <a:ext uri="{FF2B5EF4-FFF2-40B4-BE49-F238E27FC236}">
                <a16:creationId xmlns:a16="http://schemas.microsoft.com/office/drawing/2014/main" id="{45915C50-208A-020D-B0AB-47E8F641B143}"/>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dirty="0">
                <a:solidFill>
                  <a:srgbClr val="1B4C9C"/>
                </a:solidFill>
                <a:latin typeface="Arial" panose="020B0604020202020204" pitchFamily="34" charset="0"/>
                <a:cs typeface="Arial" panose="020B0604020202020204" pitchFamily="34" charset="0"/>
              </a:rPr>
              <a:t>Experiment Results</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pic>
        <p:nvPicPr>
          <p:cNvPr id="3" name="!!binwise">
            <a:extLst>
              <a:ext uri="{FF2B5EF4-FFF2-40B4-BE49-F238E27FC236}">
                <a16:creationId xmlns:a16="http://schemas.microsoft.com/office/drawing/2014/main" id="{79F3BBDC-060D-0268-EB5B-573DB8C87577}"/>
              </a:ext>
            </a:extLst>
          </p:cNvPr>
          <p:cNvPicPr>
            <a:picLocks noChangeAspect="1"/>
          </p:cNvPicPr>
          <p:nvPr/>
        </p:nvPicPr>
        <p:blipFill>
          <a:blip r:embed="rId3"/>
          <a:stretch>
            <a:fillRect/>
          </a:stretch>
        </p:blipFill>
        <p:spPr>
          <a:xfrm>
            <a:off x="534087" y="957103"/>
            <a:ext cx="11123825" cy="5561913"/>
          </a:xfrm>
          <a:prstGeom prst="rect">
            <a:avLst/>
          </a:prstGeom>
        </p:spPr>
      </p:pic>
    </p:spTree>
    <p:extLst>
      <p:ext uri="{BB962C8B-B14F-4D97-AF65-F5344CB8AC3E}">
        <p14:creationId xmlns:p14="http://schemas.microsoft.com/office/powerpoint/2010/main" val="3097945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36674-ACDF-42F2-9328-0F09942E7B8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1EC24D-66B3-51E6-DC16-9DBA746366F3}"/>
              </a:ext>
            </a:extLst>
          </p:cNvPr>
          <p:cNvSpPr>
            <a:spLocks noGrp="1"/>
          </p:cNvSpPr>
          <p:nvPr>
            <p:ph type="sldNum" sz="quarter" idx="10"/>
          </p:nvPr>
        </p:nvSpPr>
        <p:spPr/>
        <p:txBody>
          <a:bodyPr/>
          <a:lstStyle/>
          <a:p>
            <a:pPr defTabSz="914661">
              <a:defRPr/>
            </a:pPr>
            <a:fld id="{FC2EED17-1836-6142-A4B1-ABB9C7C22E41}" type="slidenum">
              <a:rPr lang="en-US" smtClean="0">
                <a:solidFill>
                  <a:srgbClr val="000000"/>
                </a:solidFill>
                <a:latin typeface="Segoe UI"/>
              </a:rPr>
              <a:pPr defTabSz="914661">
                <a:defRPr/>
              </a:pPr>
              <a:t>83</a:t>
            </a:fld>
            <a:endParaRPr lang="en-US">
              <a:solidFill>
                <a:srgbClr val="000000"/>
              </a:solidFill>
              <a:latin typeface="Segoe UI"/>
            </a:endParaRPr>
          </a:p>
        </p:txBody>
      </p:sp>
      <p:sp>
        <p:nvSpPr>
          <p:cNvPr id="19" name="!!6">
            <a:extLst>
              <a:ext uri="{FF2B5EF4-FFF2-40B4-BE49-F238E27FC236}">
                <a16:creationId xmlns:a16="http://schemas.microsoft.com/office/drawing/2014/main" id="{E53DA88A-3EE9-3079-F379-1AB629D6A40F}"/>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dirty="0">
                <a:solidFill>
                  <a:srgbClr val="1B4C9C"/>
                </a:solidFill>
                <a:latin typeface="Arial" panose="020B0604020202020204" pitchFamily="34" charset="0"/>
                <a:cs typeface="Arial" panose="020B0604020202020204" pitchFamily="34" charset="0"/>
              </a:rPr>
              <a:t>Experiment Results</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pic>
        <p:nvPicPr>
          <p:cNvPr id="3" name="!!binwise">
            <a:extLst>
              <a:ext uri="{FF2B5EF4-FFF2-40B4-BE49-F238E27FC236}">
                <a16:creationId xmlns:a16="http://schemas.microsoft.com/office/drawing/2014/main" id="{FD4AFD9E-53C2-ED86-C043-BEB409A243D4}"/>
              </a:ext>
            </a:extLst>
          </p:cNvPr>
          <p:cNvPicPr>
            <a:picLocks noChangeAspect="1"/>
          </p:cNvPicPr>
          <p:nvPr/>
        </p:nvPicPr>
        <p:blipFill>
          <a:blip r:embed="rId3"/>
          <a:stretch>
            <a:fillRect/>
          </a:stretch>
        </p:blipFill>
        <p:spPr>
          <a:xfrm>
            <a:off x="483792" y="957103"/>
            <a:ext cx="11224416" cy="5612208"/>
          </a:xfrm>
          <a:prstGeom prst="rect">
            <a:avLst/>
          </a:prstGeom>
        </p:spPr>
      </p:pic>
    </p:spTree>
    <p:extLst>
      <p:ext uri="{BB962C8B-B14F-4D97-AF65-F5344CB8AC3E}">
        <p14:creationId xmlns:p14="http://schemas.microsoft.com/office/powerpoint/2010/main" val="2980621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F3590-2218-22B9-64E0-3D79AAF1F43D}"/>
            </a:ext>
          </a:extLst>
        </p:cNvPr>
        <p:cNvGrpSpPr/>
        <p:nvPr/>
      </p:nvGrpSpPr>
      <p:grpSpPr>
        <a:xfrm>
          <a:off x="0" y="0"/>
          <a:ext cx="0" cy="0"/>
          <a:chOff x="0" y="0"/>
          <a:chExt cx="0" cy="0"/>
        </a:xfrm>
      </p:grpSpPr>
      <p:sp>
        <p:nvSpPr>
          <p:cNvPr id="13" name="Title 2">
            <a:extLst>
              <a:ext uri="{FF2B5EF4-FFF2-40B4-BE49-F238E27FC236}">
                <a16:creationId xmlns:a16="http://schemas.microsoft.com/office/drawing/2014/main" id="{D2F7BFCA-8E72-F073-E3CB-62DC1AD921BE}"/>
              </a:ext>
            </a:extLst>
          </p:cNvPr>
          <p:cNvSpPr>
            <a:spLocks noGrp="1"/>
          </p:cNvSpPr>
          <p:nvPr>
            <p:ph type="title"/>
          </p:nvPr>
        </p:nvSpPr>
        <p:spPr>
          <a:xfrm>
            <a:off x="217117" y="69643"/>
            <a:ext cx="10571968" cy="963668"/>
          </a:xfrm>
        </p:spPr>
        <p:txBody>
          <a:bodyPr vert="horz" wrap="square" lIns="121920" tIns="60960" rIns="121920" bIns="60960" rtlCol="0" anchor="ctr" anchorCtr="0">
            <a:normAutofit/>
          </a:bodyPr>
          <a:lstStyle/>
          <a:p>
            <a:r>
              <a:rPr lang="en-US" altLang="zh-CN" sz="4000"/>
              <a:t>Outline</a:t>
            </a:r>
            <a:endParaRPr lang="en-US" sz="4000">
              <a:latin typeface="Open Sans" panose="020B0606030504020204" pitchFamily="34" charset="0"/>
            </a:endParaRPr>
          </a:p>
        </p:txBody>
      </p:sp>
      <p:sp>
        <p:nvSpPr>
          <p:cNvPr id="4" name="Slide Number Placeholder 3">
            <a:extLst>
              <a:ext uri="{FF2B5EF4-FFF2-40B4-BE49-F238E27FC236}">
                <a16:creationId xmlns:a16="http://schemas.microsoft.com/office/drawing/2014/main" id="{6AB3FC40-8E55-2638-8255-09257A4F7A46}"/>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84</a:t>
            </a:fld>
            <a:endParaRPr lang="en-US">
              <a:solidFill>
                <a:srgbClr val="000000"/>
              </a:solidFill>
              <a:latin typeface="Segoe UI"/>
            </a:endParaRPr>
          </a:p>
        </p:txBody>
      </p:sp>
      <p:sp>
        <p:nvSpPr>
          <p:cNvPr id="8" name="!!1">
            <a:extLst>
              <a:ext uri="{FF2B5EF4-FFF2-40B4-BE49-F238E27FC236}">
                <a16:creationId xmlns:a16="http://schemas.microsoft.com/office/drawing/2014/main" id="{B3E86554-064E-D6C6-41EB-32DADFA1C3D3}"/>
              </a:ext>
            </a:extLst>
          </p:cNvPr>
          <p:cNvSpPr/>
          <p:nvPr/>
        </p:nvSpPr>
        <p:spPr bwMode="auto">
          <a:xfrm>
            <a:off x="342205" y="1381773"/>
            <a:ext cx="5394344"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1. Self-Introduction</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0" name="!!3">
            <a:extLst>
              <a:ext uri="{FF2B5EF4-FFF2-40B4-BE49-F238E27FC236}">
                <a16:creationId xmlns:a16="http://schemas.microsoft.com/office/drawing/2014/main" id="{271189C5-303F-3510-DDC4-F1F9FF090A58}"/>
              </a:ext>
            </a:extLst>
          </p:cNvPr>
          <p:cNvSpPr/>
          <p:nvPr/>
        </p:nvSpPr>
        <p:spPr bwMode="auto">
          <a:xfrm>
            <a:off x="342205" y="3772184"/>
            <a:ext cx="5394356"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dirty="0">
                <a:solidFill>
                  <a:srgbClr val="1B4C9C">
                    <a:alpha val="16000"/>
                  </a:srgbClr>
                </a:solidFill>
                <a:latin typeface="Arial" panose="020B0604020202020204" pitchFamily="34" charset="0"/>
                <a:cs typeface="Arial" panose="020B0604020202020204" pitchFamily="34" charset="0"/>
              </a:rPr>
              <a:t>3. Biological Evidence Data</a:t>
            </a:r>
            <a:endParaRPr lang="en-US" sz="2800" dirty="0">
              <a:solidFill>
                <a:srgbClr val="1B4C9C">
                  <a:alpha val="16000"/>
                </a:srgbClr>
              </a:solidFill>
              <a:latin typeface="Arial" panose="020B0604020202020204" pitchFamily="34" charset="0"/>
              <a:cs typeface="Arial" panose="020B0604020202020204" pitchFamily="34" charset="0"/>
            </a:endParaRPr>
          </a:p>
        </p:txBody>
      </p:sp>
      <p:sp>
        <p:nvSpPr>
          <p:cNvPr id="11" name="!!10">
            <a:extLst>
              <a:ext uri="{FF2B5EF4-FFF2-40B4-BE49-F238E27FC236}">
                <a16:creationId xmlns:a16="http://schemas.microsoft.com/office/drawing/2014/main" id="{9D446639-1C4C-7861-9D01-F73B0EE9455D}"/>
              </a:ext>
            </a:extLst>
          </p:cNvPr>
          <p:cNvSpPr/>
          <p:nvPr/>
        </p:nvSpPr>
        <p:spPr bwMode="auto">
          <a:xfrm>
            <a:off x="342213" y="4925510"/>
            <a:ext cx="539435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4. Trait-Gene Association Graph</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CB3AE7A3-04B9-F04A-08AC-C95FED0B739F}"/>
              </a:ext>
            </a:extLst>
          </p:cNvPr>
          <p:cNvSpPr/>
          <p:nvPr/>
        </p:nvSpPr>
        <p:spPr bwMode="auto">
          <a:xfrm>
            <a:off x="6455421" y="1381773"/>
            <a:ext cx="5387997" cy="849648"/>
          </a:xfrm>
          <a:prstGeom prst="roundRect">
            <a:avLst>
              <a:gd name="adj" fmla="val 20246"/>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5. Gene Ranking Models</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5" name="Rounded Rectangle 14">
            <a:extLst>
              <a:ext uri="{FF2B5EF4-FFF2-40B4-BE49-F238E27FC236}">
                <a16:creationId xmlns:a16="http://schemas.microsoft.com/office/drawing/2014/main" id="{5CEBE03B-F04B-0F31-A103-BF894C598529}"/>
              </a:ext>
            </a:extLst>
          </p:cNvPr>
          <p:cNvSpPr/>
          <p:nvPr/>
        </p:nvSpPr>
        <p:spPr bwMode="auto">
          <a:xfrm>
            <a:off x="6461788" y="3772184"/>
            <a:ext cx="5387995"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7. Website Live Demo</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6" name="Rounded Rectangle 15">
            <a:extLst>
              <a:ext uri="{FF2B5EF4-FFF2-40B4-BE49-F238E27FC236}">
                <a16:creationId xmlns:a16="http://schemas.microsoft.com/office/drawing/2014/main" id="{D8E57CA2-21F1-FB3C-F236-AF0EDE7B5DD7}"/>
              </a:ext>
            </a:extLst>
          </p:cNvPr>
          <p:cNvSpPr/>
          <p:nvPr/>
        </p:nvSpPr>
        <p:spPr bwMode="auto">
          <a:xfrm>
            <a:off x="6455431" y="4925510"/>
            <a:ext cx="538798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8. </a:t>
            </a:r>
            <a:r>
              <a:rPr lang="en-US" altLang="zh-CN" sz="2800" dirty="0">
                <a:solidFill>
                  <a:srgbClr val="1B4C9C">
                    <a:alpha val="16000"/>
                  </a:srgbClr>
                </a:solidFill>
                <a:latin typeface="Arial" panose="020B0604020202020204" pitchFamily="34" charset="0"/>
                <a:cs typeface="Arial" panose="020B0604020202020204" pitchFamily="34" charset="0"/>
              </a:rPr>
              <a:t>Conclusions</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9" name="!!5">
            <a:extLst>
              <a:ext uri="{FF2B5EF4-FFF2-40B4-BE49-F238E27FC236}">
                <a16:creationId xmlns:a16="http://schemas.microsoft.com/office/drawing/2014/main" id="{C6A72213-A458-FEA9-CD96-ED0BF1267D37}"/>
              </a:ext>
            </a:extLst>
          </p:cNvPr>
          <p:cNvSpPr/>
          <p:nvPr/>
        </p:nvSpPr>
        <p:spPr bwMode="auto">
          <a:xfrm>
            <a:off x="6461788" y="2574074"/>
            <a:ext cx="538800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b="1">
                <a:solidFill>
                  <a:srgbClr val="1B4C9C"/>
                </a:solidFill>
                <a:latin typeface="Arial" panose="020B0604020202020204" pitchFamily="34" charset="0"/>
                <a:cs typeface="Arial" panose="020B0604020202020204" pitchFamily="34" charset="0"/>
              </a:rPr>
              <a:t>6. Trait Similarity Models</a:t>
            </a:r>
            <a:endParaRPr lang="en-US" sz="2800" b="1">
              <a:solidFill>
                <a:srgbClr val="1B4C9C"/>
              </a:solidFill>
              <a:latin typeface="Arial" panose="020B0604020202020204" pitchFamily="34" charset="0"/>
              <a:cs typeface="Arial" panose="020B0604020202020204" pitchFamily="34" charset="0"/>
            </a:endParaRPr>
          </a:p>
        </p:txBody>
      </p:sp>
      <p:cxnSp>
        <p:nvCxnSpPr>
          <p:cNvPr id="3" name="Straight Connector 2">
            <a:extLst>
              <a:ext uri="{FF2B5EF4-FFF2-40B4-BE49-F238E27FC236}">
                <a16:creationId xmlns:a16="http://schemas.microsoft.com/office/drawing/2014/main" id="{88D4D48A-0542-2ACE-DCA5-A7CEC3C3017D}"/>
              </a:ext>
            </a:extLst>
          </p:cNvPr>
          <p:cNvCxnSpPr>
            <a:cxnSpLocks/>
          </p:cNvCxnSpPr>
          <p:nvPr/>
        </p:nvCxnSpPr>
        <p:spPr>
          <a:xfrm>
            <a:off x="6096000" y="1384624"/>
            <a:ext cx="0" cy="4449931"/>
          </a:xfrm>
          <a:prstGeom prst="line">
            <a:avLst/>
          </a:prstGeom>
          <a:ln w="38100">
            <a:solidFill>
              <a:srgbClr val="E7E7E7"/>
            </a:solidFill>
          </a:ln>
        </p:spPr>
        <p:style>
          <a:lnRef idx="1">
            <a:schemeClr val="accent1"/>
          </a:lnRef>
          <a:fillRef idx="0">
            <a:schemeClr val="accent1"/>
          </a:fillRef>
          <a:effectRef idx="0">
            <a:schemeClr val="accent1"/>
          </a:effectRef>
          <a:fontRef idx="minor">
            <a:schemeClr val="tx1"/>
          </a:fontRef>
        </p:style>
      </p:cxnSp>
      <p:sp>
        <p:nvSpPr>
          <p:cNvPr id="2" name="!!2">
            <a:extLst>
              <a:ext uri="{FF2B5EF4-FFF2-40B4-BE49-F238E27FC236}">
                <a16:creationId xmlns:a16="http://schemas.microsoft.com/office/drawing/2014/main" id="{93F10087-82C6-00B0-ABED-7CF35389072A}"/>
              </a:ext>
            </a:extLst>
          </p:cNvPr>
          <p:cNvSpPr/>
          <p:nvPr/>
        </p:nvSpPr>
        <p:spPr bwMode="auto">
          <a:xfrm>
            <a:off x="342204" y="2574074"/>
            <a:ext cx="5394363"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dirty="0">
                <a:solidFill>
                  <a:srgbClr val="1B4C9C">
                    <a:alpha val="16000"/>
                  </a:srgbClr>
                </a:solidFill>
                <a:latin typeface="Arial" panose="020B0604020202020204" pitchFamily="34" charset="0"/>
                <a:cs typeface="Arial" panose="020B0604020202020204" pitchFamily="34" charset="0"/>
              </a:rPr>
              <a:t>2. </a:t>
            </a:r>
            <a:r>
              <a:rPr lang="en-US" altLang="zh-CN" sz="2800" dirty="0" err="1">
                <a:solidFill>
                  <a:srgbClr val="1B4C9C">
                    <a:alpha val="16000"/>
                  </a:srgbClr>
                </a:solidFill>
                <a:latin typeface="Arial" panose="020B0604020202020204" pitchFamily="34" charset="0"/>
                <a:cs typeface="Arial" panose="020B0604020202020204" pitchFamily="34" charset="0"/>
              </a:rPr>
              <a:t>GeneSieve</a:t>
            </a:r>
            <a:r>
              <a:rPr lang="en-US" altLang="zh-CN" sz="2800" dirty="0">
                <a:solidFill>
                  <a:srgbClr val="1B4C9C">
                    <a:alpha val="16000"/>
                  </a:srgbClr>
                </a:solidFill>
                <a:latin typeface="Arial" panose="020B0604020202020204" pitchFamily="34" charset="0"/>
                <a:cs typeface="Arial" panose="020B0604020202020204" pitchFamily="34" charset="0"/>
              </a:rPr>
              <a:t> Overview</a:t>
            </a:r>
            <a:endParaRPr lang="en-US" sz="2800" dirty="0">
              <a:solidFill>
                <a:srgbClr val="1B4C9C">
                  <a:alpha val="16000"/>
                </a:srgb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4291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0BC67-1B86-2F57-188A-97B50B8C4AE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85B18F-8078-8720-8C02-2C72858A2741}"/>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85</a:t>
            </a:fld>
            <a:endParaRPr lang="en-US">
              <a:solidFill>
                <a:srgbClr val="000000"/>
              </a:solidFill>
              <a:latin typeface="Segoe UI"/>
            </a:endParaRPr>
          </a:p>
        </p:txBody>
      </p:sp>
      <p:sp>
        <p:nvSpPr>
          <p:cNvPr id="19" name="!!5">
            <a:extLst>
              <a:ext uri="{FF2B5EF4-FFF2-40B4-BE49-F238E27FC236}">
                <a16:creationId xmlns:a16="http://schemas.microsoft.com/office/drawing/2014/main" id="{A2A9C52F-411F-DD52-0D8C-7B1E7D349820}"/>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 Similarity Models</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5" name="!!1">
            <a:extLst>
              <a:ext uri="{FF2B5EF4-FFF2-40B4-BE49-F238E27FC236}">
                <a16:creationId xmlns:a16="http://schemas.microsoft.com/office/drawing/2014/main" id="{95282537-CD15-ED71-D987-A28B1C154520}"/>
              </a:ext>
            </a:extLst>
          </p:cNvPr>
          <p:cNvSpPr/>
          <p:nvPr/>
        </p:nvSpPr>
        <p:spPr bwMode="auto">
          <a:xfrm>
            <a:off x="2484319" y="1747524"/>
            <a:ext cx="7069412" cy="1100237"/>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a:solidFill>
                  <a:srgbClr val="13409F"/>
                </a:solidFill>
                <a:latin typeface="Arial" panose="020B0604020202020204" pitchFamily="34" charset="0"/>
                <a:cs typeface="Arial" panose="020B0604020202020204" pitchFamily="34" charset="0"/>
              </a:rPr>
              <a:t>Doc2Vec</a:t>
            </a:r>
          </a:p>
        </p:txBody>
      </p:sp>
      <p:sp>
        <p:nvSpPr>
          <p:cNvPr id="7" name="!!2">
            <a:extLst>
              <a:ext uri="{FF2B5EF4-FFF2-40B4-BE49-F238E27FC236}">
                <a16:creationId xmlns:a16="http://schemas.microsoft.com/office/drawing/2014/main" id="{45E4A347-D0F4-3ACB-3625-969D8BC187DA}"/>
              </a:ext>
            </a:extLst>
          </p:cNvPr>
          <p:cNvSpPr/>
          <p:nvPr/>
        </p:nvSpPr>
        <p:spPr bwMode="auto">
          <a:xfrm>
            <a:off x="2484319" y="3578956"/>
            <a:ext cx="7069412" cy="1100237"/>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a:solidFill>
                  <a:srgbClr val="13409F"/>
                </a:solidFill>
                <a:latin typeface="Arial" panose="020B0604020202020204" pitchFamily="34" charset="0"/>
                <a:cs typeface="Arial" panose="020B0604020202020204" pitchFamily="34" charset="0"/>
              </a:rPr>
              <a:t>Fine-tuned LLM</a:t>
            </a:r>
          </a:p>
        </p:txBody>
      </p:sp>
    </p:spTree>
    <p:extLst>
      <p:ext uri="{BB962C8B-B14F-4D97-AF65-F5344CB8AC3E}">
        <p14:creationId xmlns:p14="http://schemas.microsoft.com/office/powerpoint/2010/main" val="27462091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2C4BE-DA2A-CCD7-9662-2557752D24D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257975-2915-8A3B-CC22-E65B6146F29F}"/>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86</a:t>
            </a:fld>
            <a:endParaRPr lang="en-US">
              <a:solidFill>
                <a:srgbClr val="000000"/>
              </a:solidFill>
              <a:latin typeface="Segoe UI"/>
            </a:endParaRPr>
          </a:p>
        </p:txBody>
      </p:sp>
      <p:sp>
        <p:nvSpPr>
          <p:cNvPr id="19" name="!!1">
            <a:extLst>
              <a:ext uri="{FF2B5EF4-FFF2-40B4-BE49-F238E27FC236}">
                <a16:creationId xmlns:a16="http://schemas.microsoft.com/office/drawing/2014/main" id="{77C8C377-39CE-73D0-ECF6-D07D3278F60A}"/>
              </a:ext>
            </a:extLst>
          </p:cNvPr>
          <p:cNvSpPr/>
          <p:nvPr/>
        </p:nvSpPr>
        <p:spPr bwMode="auto">
          <a:xfrm>
            <a:off x="156120" y="30920"/>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4000" b="1" spc="-67">
                <a:solidFill>
                  <a:srgbClr val="1B4C9C"/>
                </a:solidFill>
                <a:latin typeface="Arial" panose="020B0604020202020204" pitchFamily="34" charset="0"/>
                <a:ea typeface="Segoe UI" pitchFamily="34" charset="0"/>
                <a:cs typeface="Arial" panose="020B0604020202020204" pitchFamily="34" charset="0"/>
              </a:rPr>
              <a:t>Doc2Vec</a:t>
            </a:r>
          </a:p>
        </p:txBody>
      </p:sp>
      <p:sp>
        <p:nvSpPr>
          <p:cNvPr id="5" name="Rounded Rectangle 4">
            <a:extLst>
              <a:ext uri="{FF2B5EF4-FFF2-40B4-BE49-F238E27FC236}">
                <a16:creationId xmlns:a16="http://schemas.microsoft.com/office/drawing/2014/main" id="{91C5B8EB-B27F-7B49-3E58-27E2C8EA7B11}"/>
              </a:ext>
            </a:extLst>
          </p:cNvPr>
          <p:cNvSpPr/>
          <p:nvPr/>
        </p:nvSpPr>
        <p:spPr bwMode="auto">
          <a:xfrm>
            <a:off x="981433" y="1178010"/>
            <a:ext cx="6623699"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Initial Model, now treated as a baseline </a:t>
            </a:r>
          </a:p>
        </p:txBody>
      </p:sp>
      <p:sp>
        <p:nvSpPr>
          <p:cNvPr id="6" name="Rounded Rectangle 5">
            <a:extLst>
              <a:ext uri="{FF2B5EF4-FFF2-40B4-BE49-F238E27FC236}">
                <a16:creationId xmlns:a16="http://schemas.microsoft.com/office/drawing/2014/main" id="{9899F706-202A-044B-6AF2-83D63975E314}"/>
              </a:ext>
            </a:extLst>
          </p:cNvPr>
          <p:cNvSpPr/>
          <p:nvPr/>
        </p:nvSpPr>
        <p:spPr bwMode="auto">
          <a:xfrm>
            <a:off x="981433" y="2246097"/>
            <a:ext cx="7337377"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Trained on 417 plant articles from Wikipedia</a:t>
            </a:r>
          </a:p>
        </p:txBody>
      </p:sp>
      <p:sp>
        <p:nvSpPr>
          <p:cNvPr id="9" name="Rounded Rectangle 8">
            <a:extLst>
              <a:ext uri="{FF2B5EF4-FFF2-40B4-BE49-F238E27FC236}">
                <a16:creationId xmlns:a16="http://schemas.microsoft.com/office/drawing/2014/main" id="{796D3AB3-AAFE-036F-AA05-3E3631AFA58A}"/>
              </a:ext>
            </a:extLst>
          </p:cNvPr>
          <p:cNvSpPr/>
          <p:nvPr/>
        </p:nvSpPr>
        <p:spPr bwMode="auto">
          <a:xfrm>
            <a:off x="982071" y="3314184"/>
            <a:ext cx="4388462"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API fetch article data live</a:t>
            </a:r>
          </a:p>
        </p:txBody>
      </p:sp>
      <p:sp>
        <p:nvSpPr>
          <p:cNvPr id="11" name="Rounded Rectangle 10">
            <a:extLst>
              <a:ext uri="{FF2B5EF4-FFF2-40B4-BE49-F238E27FC236}">
                <a16:creationId xmlns:a16="http://schemas.microsoft.com/office/drawing/2014/main" id="{98834586-76E8-03BB-71EA-9F359B68D116}"/>
              </a:ext>
            </a:extLst>
          </p:cNvPr>
          <p:cNvSpPr/>
          <p:nvPr/>
        </p:nvSpPr>
        <p:spPr bwMode="auto">
          <a:xfrm>
            <a:off x="981433" y="5450358"/>
            <a:ext cx="6422977"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Trained model applies cosine similarity</a:t>
            </a:r>
          </a:p>
        </p:txBody>
      </p:sp>
      <p:sp>
        <p:nvSpPr>
          <p:cNvPr id="13" name="Rounded Rectangle 12">
            <a:extLst>
              <a:ext uri="{FF2B5EF4-FFF2-40B4-BE49-F238E27FC236}">
                <a16:creationId xmlns:a16="http://schemas.microsoft.com/office/drawing/2014/main" id="{4AFD676E-2C99-4331-3CD0-A587F48A7D2E}"/>
              </a:ext>
            </a:extLst>
          </p:cNvPr>
          <p:cNvSpPr/>
          <p:nvPr/>
        </p:nvSpPr>
        <p:spPr bwMode="auto">
          <a:xfrm>
            <a:off x="981433" y="4382271"/>
            <a:ext cx="6623698"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Train doc2vec weights to embed vectors</a:t>
            </a:r>
          </a:p>
        </p:txBody>
      </p:sp>
    </p:spTree>
    <p:extLst>
      <p:ext uri="{BB962C8B-B14F-4D97-AF65-F5344CB8AC3E}">
        <p14:creationId xmlns:p14="http://schemas.microsoft.com/office/powerpoint/2010/main" val="12152580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1" grpId="0" animBg="1"/>
      <p:bldP spid="13"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EE103-6FD0-7163-8973-722612301D7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BF3BF3-9758-83CE-6EBA-9C5C0AC17241}"/>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87</a:t>
            </a:fld>
            <a:endParaRPr lang="en-US">
              <a:solidFill>
                <a:srgbClr val="000000"/>
              </a:solidFill>
              <a:latin typeface="Segoe UI"/>
            </a:endParaRPr>
          </a:p>
        </p:txBody>
      </p:sp>
      <p:sp>
        <p:nvSpPr>
          <p:cNvPr id="19" name="!!5">
            <a:extLst>
              <a:ext uri="{FF2B5EF4-FFF2-40B4-BE49-F238E27FC236}">
                <a16:creationId xmlns:a16="http://schemas.microsoft.com/office/drawing/2014/main" id="{753716BE-9415-B2EB-BE83-DBE219E59651}"/>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 Similarity Models</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5" name="!!1">
            <a:extLst>
              <a:ext uri="{FF2B5EF4-FFF2-40B4-BE49-F238E27FC236}">
                <a16:creationId xmlns:a16="http://schemas.microsoft.com/office/drawing/2014/main" id="{8CFC4942-9299-7553-B02C-18296B783656}"/>
              </a:ext>
            </a:extLst>
          </p:cNvPr>
          <p:cNvSpPr/>
          <p:nvPr/>
        </p:nvSpPr>
        <p:spPr bwMode="auto">
          <a:xfrm>
            <a:off x="2484319" y="1747524"/>
            <a:ext cx="7069412" cy="1100237"/>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a:solidFill>
                  <a:srgbClr val="13409F"/>
                </a:solidFill>
                <a:latin typeface="Arial" panose="020B0604020202020204" pitchFamily="34" charset="0"/>
                <a:cs typeface="Arial" panose="020B0604020202020204" pitchFamily="34" charset="0"/>
              </a:rPr>
              <a:t>Doc2Vec</a:t>
            </a:r>
          </a:p>
        </p:txBody>
      </p:sp>
      <p:sp>
        <p:nvSpPr>
          <p:cNvPr id="7" name="!!2">
            <a:extLst>
              <a:ext uri="{FF2B5EF4-FFF2-40B4-BE49-F238E27FC236}">
                <a16:creationId xmlns:a16="http://schemas.microsoft.com/office/drawing/2014/main" id="{0FE448A3-917C-A43E-EA91-EB4EF2D3804A}"/>
              </a:ext>
            </a:extLst>
          </p:cNvPr>
          <p:cNvSpPr/>
          <p:nvPr/>
        </p:nvSpPr>
        <p:spPr bwMode="auto">
          <a:xfrm>
            <a:off x="2484319" y="3578956"/>
            <a:ext cx="7069412" cy="1100237"/>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a:solidFill>
                  <a:srgbClr val="13409F"/>
                </a:solidFill>
                <a:latin typeface="Arial" panose="020B0604020202020204" pitchFamily="34" charset="0"/>
                <a:cs typeface="Arial" panose="020B0604020202020204" pitchFamily="34" charset="0"/>
              </a:rPr>
              <a:t>Fine-tuned LLM</a:t>
            </a:r>
          </a:p>
        </p:txBody>
      </p:sp>
    </p:spTree>
    <p:extLst>
      <p:ext uri="{BB962C8B-B14F-4D97-AF65-F5344CB8AC3E}">
        <p14:creationId xmlns:p14="http://schemas.microsoft.com/office/powerpoint/2010/main" val="10730852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a:extLst>
              <a:ext uri="{FF2B5EF4-FFF2-40B4-BE49-F238E27FC236}">
                <a16:creationId xmlns:a16="http://schemas.microsoft.com/office/drawing/2014/main" id="{C695D252-9D3F-EFD7-ED3D-F03FB800A9AB}"/>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a:t>
            </a:r>
            <a:br>
              <a:rPr lang="en-US" sz="4000">
                <a:latin typeface="Arial" panose="020B0604020202020204" pitchFamily="34" charset="0"/>
                <a:cs typeface="Arial" panose="020B0604020202020204" pitchFamily="34" charset="0"/>
              </a:rPr>
            </a:br>
            <a:endParaRPr lang="en-US" sz="4000"/>
          </a:p>
        </p:txBody>
      </p:sp>
      <p:sp>
        <p:nvSpPr>
          <p:cNvPr id="4" name="Slide Number Placeholder 3">
            <a:extLst>
              <a:ext uri="{FF2B5EF4-FFF2-40B4-BE49-F238E27FC236}">
                <a16:creationId xmlns:a16="http://schemas.microsoft.com/office/drawing/2014/main" id="{556E61FA-341B-AF7C-D2D6-2A2BA56B6AAB}"/>
              </a:ext>
            </a:extLst>
          </p:cNvPr>
          <p:cNvSpPr>
            <a:spLocks noGrp="1"/>
          </p:cNvSpPr>
          <p:nvPr>
            <p:ph type="sldNum" sz="quarter" idx="10"/>
          </p:nvPr>
        </p:nvSpPr>
        <p:spPr/>
        <p:txBody>
          <a:bodyPr/>
          <a:lstStyle/>
          <a:p>
            <a:fld id="{FC2EED17-1836-6142-A4B1-ABB9C7C22E41}" type="slidenum">
              <a:rPr lang="en-US" smtClean="0"/>
              <a:pPr/>
              <a:t>88</a:t>
            </a:fld>
            <a:endParaRPr lang="en-US"/>
          </a:p>
        </p:txBody>
      </p:sp>
      <p:pic>
        <p:nvPicPr>
          <p:cNvPr id="11" name="Content Placeholder 4" descr="A screenshot of a computer&#10;&#10;Description automatically generated">
            <a:extLst>
              <a:ext uri="{FF2B5EF4-FFF2-40B4-BE49-F238E27FC236}">
                <a16:creationId xmlns:a16="http://schemas.microsoft.com/office/drawing/2014/main" id="{57E6B0E0-C6D0-6B43-42EB-D4320E0E3D9F}"/>
              </a:ext>
            </a:extLst>
          </p:cNvPr>
          <p:cNvPicPr>
            <a:picLocks noGrp="1" noChangeAspect="1"/>
          </p:cNvPicPr>
          <p:nvPr>
            <p:ph idx="1"/>
          </p:nvPr>
        </p:nvPicPr>
        <p:blipFill>
          <a:blip r:embed="rId3"/>
          <a:srcRect l="871" r="1" b="1"/>
          <a:stretch/>
        </p:blipFill>
        <p:spPr>
          <a:xfrm>
            <a:off x="905765" y="791467"/>
            <a:ext cx="10380469" cy="5837932"/>
          </a:xfrm>
          <a:prstGeom prst="rect">
            <a:avLst/>
          </a:prstGeom>
        </p:spPr>
      </p:pic>
    </p:spTree>
    <p:extLst>
      <p:ext uri="{BB962C8B-B14F-4D97-AF65-F5344CB8AC3E}">
        <p14:creationId xmlns:p14="http://schemas.microsoft.com/office/powerpoint/2010/main" val="20796761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466A7-198C-A66D-1ABF-F14E3AD56A91}"/>
            </a:ext>
          </a:extLst>
        </p:cNvPr>
        <p:cNvGrpSpPr/>
        <p:nvPr/>
      </p:nvGrpSpPr>
      <p:grpSpPr>
        <a:xfrm>
          <a:off x="0" y="0"/>
          <a:ext cx="0" cy="0"/>
          <a:chOff x="0" y="0"/>
          <a:chExt cx="0" cy="0"/>
        </a:xfrm>
      </p:grpSpPr>
      <p:sp>
        <p:nvSpPr>
          <p:cNvPr id="3" name="!!2">
            <a:extLst>
              <a:ext uri="{FF2B5EF4-FFF2-40B4-BE49-F238E27FC236}">
                <a16:creationId xmlns:a16="http://schemas.microsoft.com/office/drawing/2014/main" id="{CFE7C5B0-578F-9C8F-C9B9-7B78CE966021}"/>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a:t>
            </a:r>
            <a:br>
              <a:rPr lang="en-US" sz="4000">
                <a:latin typeface="Arial" panose="020B0604020202020204" pitchFamily="34" charset="0"/>
                <a:cs typeface="Arial" panose="020B0604020202020204" pitchFamily="34" charset="0"/>
              </a:rPr>
            </a:br>
            <a:endParaRPr lang="en-US" sz="4000"/>
          </a:p>
        </p:txBody>
      </p:sp>
      <p:sp>
        <p:nvSpPr>
          <p:cNvPr id="4" name="Slide Number Placeholder 3">
            <a:extLst>
              <a:ext uri="{FF2B5EF4-FFF2-40B4-BE49-F238E27FC236}">
                <a16:creationId xmlns:a16="http://schemas.microsoft.com/office/drawing/2014/main" id="{5F2C7911-9A50-2401-70BD-179E096D1383}"/>
              </a:ext>
            </a:extLst>
          </p:cNvPr>
          <p:cNvSpPr>
            <a:spLocks noGrp="1"/>
          </p:cNvSpPr>
          <p:nvPr>
            <p:ph type="sldNum" sz="quarter" idx="10"/>
          </p:nvPr>
        </p:nvSpPr>
        <p:spPr/>
        <p:txBody>
          <a:bodyPr/>
          <a:lstStyle/>
          <a:p>
            <a:fld id="{FC2EED17-1836-6142-A4B1-ABB9C7C22E41}" type="slidenum">
              <a:rPr lang="en-US" smtClean="0"/>
              <a:pPr/>
              <a:t>89</a:t>
            </a:fld>
            <a:endParaRPr lang="en-US"/>
          </a:p>
        </p:txBody>
      </p:sp>
      <p:pic>
        <p:nvPicPr>
          <p:cNvPr id="5" name="Content Placeholder 4" descr="A screenshot of a data sheet&#10;&#10;Description automatically generated">
            <a:extLst>
              <a:ext uri="{FF2B5EF4-FFF2-40B4-BE49-F238E27FC236}">
                <a16:creationId xmlns:a16="http://schemas.microsoft.com/office/drawing/2014/main" id="{A9CC91A7-0487-E4A6-EC79-74299B91CE4F}"/>
              </a:ext>
            </a:extLst>
          </p:cNvPr>
          <p:cNvPicPr>
            <a:picLocks noGrp="1" noChangeAspect="1"/>
          </p:cNvPicPr>
          <p:nvPr>
            <p:ph idx="1"/>
          </p:nvPr>
        </p:nvPicPr>
        <p:blipFill>
          <a:blip r:embed="rId3"/>
          <a:stretch>
            <a:fillRect/>
          </a:stretch>
        </p:blipFill>
        <p:spPr>
          <a:xfrm>
            <a:off x="835838" y="1339674"/>
            <a:ext cx="10520323" cy="5417965"/>
          </a:xfrm>
          <a:prstGeom prst="rect">
            <a:avLst/>
          </a:prstGeom>
        </p:spPr>
      </p:pic>
      <p:sp>
        <p:nvSpPr>
          <p:cNvPr id="8" name="TextBox 7">
            <a:extLst>
              <a:ext uri="{FF2B5EF4-FFF2-40B4-BE49-F238E27FC236}">
                <a16:creationId xmlns:a16="http://schemas.microsoft.com/office/drawing/2014/main" id="{950CA0C0-60CC-5466-9A7A-BFABC32A371B}"/>
              </a:ext>
            </a:extLst>
          </p:cNvPr>
          <p:cNvSpPr txBox="1"/>
          <p:nvPr/>
        </p:nvSpPr>
        <p:spPr>
          <a:xfrm>
            <a:off x="2944986" y="777644"/>
            <a:ext cx="6300439" cy="461665"/>
          </a:xfrm>
          <a:prstGeom prst="rect">
            <a:avLst/>
          </a:prstGeom>
          <a:noFill/>
        </p:spPr>
        <p:txBody>
          <a:bodyPr wrap="square">
            <a:spAutoFit/>
          </a:bodyPr>
          <a:lstStyle/>
          <a:p>
            <a:r>
              <a:rPr lang="en-US" sz="2400">
                <a:solidFill>
                  <a:schemeClr val="tx1"/>
                </a:solidFill>
                <a:latin typeface="Arial" panose="020B0604020202020204" pitchFamily="34" charset="0"/>
                <a:cs typeface="Arial" panose="020B0604020202020204" pitchFamily="34" charset="0"/>
              </a:rPr>
              <a:t>Human Expert (Dr. Justin) Annotated Dataset</a:t>
            </a:r>
          </a:p>
        </p:txBody>
      </p:sp>
    </p:spTree>
    <p:extLst>
      <p:ext uri="{BB962C8B-B14F-4D97-AF65-F5344CB8AC3E}">
        <p14:creationId xmlns:p14="http://schemas.microsoft.com/office/powerpoint/2010/main" val="2532284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70902-F24D-E7EE-D2E1-EDF875C1B601}"/>
            </a:ext>
          </a:extLst>
        </p:cNvPr>
        <p:cNvGrpSpPr/>
        <p:nvPr/>
      </p:nvGrpSpPr>
      <p:grpSpPr>
        <a:xfrm>
          <a:off x="0" y="0"/>
          <a:ext cx="0" cy="0"/>
          <a:chOff x="0" y="0"/>
          <a:chExt cx="0" cy="0"/>
        </a:xfrm>
      </p:grpSpPr>
      <p:sp>
        <p:nvSpPr>
          <p:cNvPr id="3" name="!!2">
            <a:extLst>
              <a:ext uri="{FF2B5EF4-FFF2-40B4-BE49-F238E27FC236}">
                <a16:creationId xmlns:a16="http://schemas.microsoft.com/office/drawing/2014/main" id="{25844BBA-4DC2-AFD6-E5B1-B122CB4223BF}"/>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a:t>
            </a:r>
            <a:br>
              <a:rPr lang="en-US" sz="4000">
                <a:latin typeface="Arial" panose="020B0604020202020204" pitchFamily="34" charset="0"/>
                <a:cs typeface="Arial" panose="020B0604020202020204" pitchFamily="34" charset="0"/>
              </a:rPr>
            </a:br>
            <a:endParaRPr lang="en-US" sz="4000"/>
          </a:p>
        </p:txBody>
      </p:sp>
      <p:sp>
        <p:nvSpPr>
          <p:cNvPr id="4" name="Slide Number Placeholder 3">
            <a:extLst>
              <a:ext uri="{FF2B5EF4-FFF2-40B4-BE49-F238E27FC236}">
                <a16:creationId xmlns:a16="http://schemas.microsoft.com/office/drawing/2014/main" id="{A0AEF890-5087-7EC9-AF07-32D7B13D8D0C}"/>
              </a:ext>
            </a:extLst>
          </p:cNvPr>
          <p:cNvSpPr>
            <a:spLocks noGrp="1"/>
          </p:cNvSpPr>
          <p:nvPr>
            <p:ph type="sldNum" sz="quarter" idx="10"/>
          </p:nvPr>
        </p:nvSpPr>
        <p:spPr/>
        <p:txBody>
          <a:bodyPr/>
          <a:lstStyle/>
          <a:p>
            <a:fld id="{FC2EED17-1836-6142-A4B1-ABB9C7C22E41}" type="slidenum">
              <a:rPr lang="en-US" smtClean="0"/>
              <a:pPr/>
              <a:t>90</a:t>
            </a:fld>
            <a:endParaRPr lang="en-US"/>
          </a:p>
        </p:txBody>
      </p:sp>
      <p:sp>
        <p:nvSpPr>
          <p:cNvPr id="7" name="Rounded Rectangle 6">
            <a:extLst>
              <a:ext uri="{FF2B5EF4-FFF2-40B4-BE49-F238E27FC236}">
                <a16:creationId xmlns:a16="http://schemas.microsoft.com/office/drawing/2014/main" id="{706D1E40-F922-9EE2-EA8E-D4C8AE93D8B5}"/>
              </a:ext>
            </a:extLst>
          </p:cNvPr>
          <p:cNvSpPr/>
          <p:nvPr/>
        </p:nvSpPr>
        <p:spPr bwMode="auto">
          <a:xfrm>
            <a:off x="981433" y="1178010"/>
            <a:ext cx="5709299"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Fine-tuned OpenAI GPT-4o model</a:t>
            </a:r>
          </a:p>
        </p:txBody>
      </p:sp>
      <p:sp>
        <p:nvSpPr>
          <p:cNvPr id="8" name="Rounded Rectangle 7">
            <a:extLst>
              <a:ext uri="{FF2B5EF4-FFF2-40B4-BE49-F238E27FC236}">
                <a16:creationId xmlns:a16="http://schemas.microsoft.com/office/drawing/2014/main" id="{FD622690-7E35-E422-E2FF-D56FB7389B7C}"/>
              </a:ext>
            </a:extLst>
          </p:cNvPr>
          <p:cNvSpPr/>
          <p:nvPr/>
        </p:nvSpPr>
        <p:spPr bwMode="auto">
          <a:xfrm>
            <a:off x="981434" y="2246097"/>
            <a:ext cx="9277688"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Stratified 5-Fold CV on Human Expert Annotated Dataset</a:t>
            </a:r>
          </a:p>
        </p:txBody>
      </p:sp>
      <p:sp>
        <p:nvSpPr>
          <p:cNvPr id="9" name="Rounded Rectangle 8">
            <a:extLst>
              <a:ext uri="{FF2B5EF4-FFF2-40B4-BE49-F238E27FC236}">
                <a16:creationId xmlns:a16="http://schemas.microsoft.com/office/drawing/2014/main" id="{CE7122EC-D06C-26C2-2D54-A5DDD42D5294}"/>
              </a:ext>
            </a:extLst>
          </p:cNvPr>
          <p:cNvSpPr/>
          <p:nvPr/>
        </p:nvSpPr>
        <p:spPr bwMode="auto">
          <a:xfrm>
            <a:off x="981433" y="4382271"/>
            <a:ext cx="8942514"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Fine-tuned model compared against Doc2Vec baseline </a:t>
            </a:r>
          </a:p>
        </p:txBody>
      </p:sp>
      <p:sp>
        <p:nvSpPr>
          <p:cNvPr id="11" name="Rounded Rectangle 10">
            <a:extLst>
              <a:ext uri="{FF2B5EF4-FFF2-40B4-BE49-F238E27FC236}">
                <a16:creationId xmlns:a16="http://schemas.microsoft.com/office/drawing/2014/main" id="{B93BB07F-6510-E3D4-669D-05C4CFF4E761}"/>
              </a:ext>
            </a:extLst>
          </p:cNvPr>
          <p:cNvSpPr/>
          <p:nvPr/>
        </p:nvSpPr>
        <p:spPr bwMode="auto">
          <a:xfrm>
            <a:off x="981433" y="3314184"/>
            <a:ext cx="8942514"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64-16-20 Train-Validation-Test Split</a:t>
            </a:r>
          </a:p>
        </p:txBody>
      </p:sp>
    </p:spTree>
    <p:extLst>
      <p:ext uri="{BB962C8B-B14F-4D97-AF65-F5344CB8AC3E}">
        <p14:creationId xmlns:p14="http://schemas.microsoft.com/office/powerpoint/2010/main" val="36150485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2FCCA-B5F7-111D-DE62-F921DC4312F6}"/>
            </a:ext>
          </a:extLst>
        </p:cNvPr>
        <p:cNvGrpSpPr/>
        <p:nvPr/>
      </p:nvGrpSpPr>
      <p:grpSpPr>
        <a:xfrm>
          <a:off x="0" y="0"/>
          <a:ext cx="0" cy="0"/>
          <a:chOff x="0" y="0"/>
          <a:chExt cx="0" cy="0"/>
        </a:xfrm>
      </p:grpSpPr>
      <p:sp>
        <p:nvSpPr>
          <p:cNvPr id="3" name="!!2">
            <a:extLst>
              <a:ext uri="{FF2B5EF4-FFF2-40B4-BE49-F238E27FC236}">
                <a16:creationId xmlns:a16="http://schemas.microsoft.com/office/drawing/2014/main" id="{A9746EF0-8D36-7ED6-46D0-D406DB6CB805}"/>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a:t>
            </a:r>
            <a:br>
              <a:rPr lang="en-US" sz="4000">
                <a:latin typeface="Arial" panose="020B0604020202020204" pitchFamily="34" charset="0"/>
                <a:cs typeface="Arial" panose="020B0604020202020204" pitchFamily="34" charset="0"/>
              </a:rPr>
            </a:br>
            <a:endParaRPr lang="en-US" sz="4000"/>
          </a:p>
        </p:txBody>
      </p:sp>
      <p:sp>
        <p:nvSpPr>
          <p:cNvPr id="4" name="Slide Number Placeholder 3">
            <a:extLst>
              <a:ext uri="{FF2B5EF4-FFF2-40B4-BE49-F238E27FC236}">
                <a16:creationId xmlns:a16="http://schemas.microsoft.com/office/drawing/2014/main" id="{EB305C89-ABA7-7C68-7E5B-E900E49EE88D}"/>
              </a:ext>
            </a:extLst>
          </p:cNvPr>
          <p:cNvSpPr>
            <a:spLocks noGrp="1"/>
          </p:cNvSpPr>
          <p:nvPr>
            <p:ph type="sldNum" sz="quarter" idx="10"/>
          </p:nvPr>
        </p:nvSpPr>
        <p:spPr/>
        <p:txBody>
          <a:bodyPr/>
          <a:lstStyle/>
          <a:p>
            <a:fld id="{FC2EED17-1836-6142-A4B1-ABB9C7C22E41}" type="slidenum">
              <a:rPr lang="en-US" smtClean="0"/>
              <a:pPr/>
              <a:t>91</a:t>
            </a:fld>
            <a:endParaRPr lang="en-US"/>
          </a:p>
        </p:txBody>
      </p:sp>
      <p:pic>
        <p:nvPicPr>
          <p:cNvPr id="2" name="Content Placeholder 4" descr="A screenshot of a computer&#10;&#10;Description automatically generated">
            <a:extLst>
              <a:ext uri="{FF2B5EF4-FFF2-40B4-BE49-F238E27FC236}">
                <a16:creationId xmlns:a16="http://schemas.microsoft.com/office/drawing/2014/main" id="{BE2F8145-5C11-CECC-561E-363C5FD2ED48}"/>
              </a:ext>
            </a:extLst>
          </p:cNvPr>
          <p:cNvPicPr>
            <a:picLocks noChangeAspect="1"/>
          </p:cNvPicPr>
          <p:nvPr/>
        </p:nvPicPr>
        <p:blipFill>
          <a:blip r:embed="rId3"/>
          <a:srcRect r="27676" b="2"/>
          <a:stretch/>
        </p:blipFill>
        <p:spPr>
          <a:xfrm>
            <a:off x="5213910" y="724829"/>
            <a:ext cx="6519837" cy="5904570"/>
          </a:xfrm>
          <a:prstGeom prst="rect">
            <a:avLst/>
          </a:prstGeom>
        </p:spPr>
      </p:pic>
      <p:sp>
        <p:nvSpPr>
          <p:cNvPr id="5" name="Rounded Rectangle 4">
            <a:extLst>
              <a:ext uri="{FF2B5EF4-FFF2-40B4-BE49-F238E27FC236}">
                <a16:creationId xmlns:a16="http://schemas.microsoft.com/office/drawing/2014/main" id="{D3A4955B-157B-B05D-CF76-6B7DAD0D23C4}"/>
              </a:ext>
            </a:extLst>
          </p:cNvPr>
          <p:cNvSpPr/>
          <p:nvPr/>
        </p:nvSpPr>
        <p:spPr bwMode="auto">
          <a:xfrm>
            <a:off x="313425" y="1157585"/>
            <a:ext cx="4777473" cy="3682043"/>
          </a:xfrm>
          <a:prstGeom prst="roundRect">
            <a:avLst>
              <a:gd name="adj" fmla="val 11024"/>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6" name="!!1">
            <a:extLst>
              <a:ext uri="{FF2B5EF4-FFF2-40B4-BE49-F238E27FC236}">
                <a16:creationId xmlns:a16="http://schemas.microsoft.com/office/drawing/2014/main" id="{F490B75F-83AB-AEF7-804A-3D5A47C7F76D}"/>
              </a:ext>
            </a:extLst>
          </p:cNvPr>
          <p:cNvSpPr txBox="1"/>
          <p:nvPr/>
        </p:nvSpPr>
        <p:spPr>
          <a:xfrm>
            <a:off x="477843" y="1244900"/>
            <a:ext cx="4613055" cy="4493538"/>
          </a:xfrm>
          <a:prstGeom prst="rect">
            <a:avLst/>
          </a:prstGeom>
          <a:noFill/>
        </p:spPr>
        <p:txBody>
          <a:bodyPr wrap="square" lIns="0" tIns="0" rIns="0" bIns="0" rtlCol="0">
            <a:spAutoFit/>
          </a:bodyPr>
          <a:lstStyle/>
          <a:p>
            <a:r>
              <a:rPr lang="en-US" sz="2800" b="1">
                <a:solidFill>
                  <a:srgbClr val="13409F"/>
                </a:solidFill>
                <a:latin typeface="Arial" panose="020B0604020202020204" pitchFamily="34" charset="0"/>
                <a:cs typeface="Arial" panose="020B0604020202020204" pitchFamily="34" charset="0"/>
              </a:rPr>
              <a:t>Why Stratify?</a:t>
            </a:r>
          </a:p>
          <a:p>
            <a:pPr marL="342900" indent="-342900">
              <a:buFont typeface="Arial" panose="020B0604020202020204" pitchFamily="34" charset="0"/>
              <a:buChar char="•"/>
            </a:pPr>
            <a:r>
              <a:rPr lang="en-US">
                <a:latin typeface="Arial" panose="020B0604020202020204" pitchFamily="34" charset="0"/>
                <a:cs typeface="Arial" panose="020B0604020202020204" pitchFamily="34" charset="0"/>
              </a:rPr>
              <a:t># of data points for each query differs widely</a:t>
            </a:r>
          </a:p>
          <a:p>
            <a:pPr marL="342900" indent="-342900">
              <a:buFont typeface="Arial" panose="020B0604020202020204" pitchFamily="34" charset="0"/>
              <a:buChar char="•"/>
            </a:pPr>
            <a:endParaRPr lang="en-US">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atin typeface="Arial" panose="020B0604020202020204" pitchFamily="34" charset="0"/>
                <a:cs typeface="Arial" panose="020B0604020202020204" pitchFamily="34" charset="0"/>
              </a:rPr>
              <a:t>Amylose Content – 15</a:t>
            </a:r>
          </a:p>
          <a:p>
            <a:pPr marL="342900" indent="-342900">
              <a:buFont typeface="Arial" panose="020B0604020202020204" pitchFamily="34" charset="0"/>
              <a:buChar char="•"/>
            </a:pPr>
            <a:endParaRPr lang="en-US">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atin typeface="Arial" panose="020B0604020202020204" pitchFamily="34" charset="0"/>
                <a:cs typeface="Arial" panose="020B0604020202020204" pitchFamily="34" charset="0"/>
              </a:rPr>
              <a:t>Xenobiotic Resistant – 5</a:t>
            </a:r>
          </a:p>
          <a:p>
            <a:pPr marL="342900" indent="-342900">
              <a:buFont typeface="Arial" panose="020B0604020202020204" pitchFamily="34" charset="0"/>
              <a:buChar char="•"/>
            </a:pPr>
            <a:endParaRPr lang="en-US">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atin typeface="Arial" panose="020B0604020202020204" pitchFamily="34" charset="0"/>
                <a:cs typeface="Arial" panose="020B0604020202020204" pitchFamily="34" charset="0"/>
              </a:rPr>
              <a:t>Total rows – 293</a:t>
            </a:r>
          </a:p>
          <a:p>
            <a:pPr marL="342900" indent="-342900">
              <a:buFont typeface="Arial" panose="020B0604020202020204" pitchFamily="34" charset="0"/>
              <a:buChar char="•"/>
            </a:pP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5154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4F18A-ED52-621A-0D04-355D1D73855F}"/>
            </a:ext>
          </a:extLst>
        </p:cNvPr>
        <p:cNvGrpSpPr/>
        <p:nvPr/>
      </p:nvGrpSpPr>
      <p:grpSpPr>
        <a:xfrm>
          <a:off x="0" y="0"/>
          <a:ext cx="0" cy="0"/>
          <a:chOff x="0" y="0"/>
          <a:chExt cx="0" cy="0"/>
        </a:xfrm>
      </p:grpSpPr>
      <p:sp>
        <p:nvSpPr>
          <p:cNvPr id="3" name="!!2">
            <a:extLst>
              <a:ext uri="{FF2B5EF4-FFF2-40B4-BE49-F238E27FC236}">
                <a16:creationId xmlns:a16="http://schemas.microsoft.com/office/drawing/2014/main" id="{D0C076C0-EB42-BFED-C47D-B64ACF47477E}"/>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a:t>
            </a:r>
            <a:br>
              <a:rPr lang="en-US" sz="4000">
                <a:latin typeface="Arial" panose="020B0604020202020204" pitchFamily="34" charset="0"/>
                <a:cs typeface="Arial" panose="020B0604020202020204" pitchFamily="34" charset="0"/>
              </a:rPr>
            </a:br>
            <a:endParaRPr lang="en-US" sz="4000"/>
          </a:p>
        </p:txBody>
      </p:sp>
      <p:sp>
        <p:nvSpPr>
          <p:cNvPr id="4" name="Slide Number Placeholder 3">
            <a:extLst>
              <a:ext uri="{FF2B5EF4-FFF2-40B4-BE49-F238E27FC236}">
                <a16:creationId xmlns:a16="http://schemas.microsoft.com/office/drawing/2014/main" id="{E1B8C8AF-44F4-D5F7-E057-CCBFE77C336F}"/>
              </a:ext>
            </a:extLst>
          </p:cNvPr>
          <p:cNvSpPr>
            <a:spLocks noGrp="1"/>
          </p:cNvSpPr>
          <p:nvPr>
            <p:ph type="sldNum" sz="quarter" idx="10"/>
          </p:nvPr>
        </p:nvSpPr>
        <p:spPr/>
        <p:txBody>
          <a:bodyPr/>
          <a:lstStyle/>
          <a:p>
            <a:fld id="{FC2EED17-1836-6142-A4B1-ABB9C7C22E41}" type="slidenum">
              <a:rPr lang="en-US" smtClean="0"/>
              <a:pPr/>
              <a:t>92</a:t>
            </a:fld>
            <a:endParaRPr lang="en-US"/>
          </a:p>
        </p:txBody>
      </p:sp>
      <p:pic>
        <p:nvPicPr>
          <p:cNvPr id="9" name="Picture 8">
            <a:extLst>
              <a:ext uri="{FF2B5EF4-FFF2-40B4-BE49-F238E27FC236}">
                <a16:creationId xmlns:a16="http://schemas.microsoft.com/office/drawing/2014/main" id="{40D7A837-C411-BA17-F851-8D81F6D1405E}"/>
              </a:ext>
            </a:extLst>
          </p:cNvPr>
          <p:cNvPicPr>
            <a:picLocks noChangeAspect="1"/>
          </p:cNvPicPr>
          <p:nvPr/>
        </p:nvPicPr>
        <p:blipFill>
          <a:blip r:embed="rId3"/>
          <a:stretch>
            <a:fillRect/>
          </a:stretch>
        </p:blipFill>
        <p:spPr>
          <a:xfrm>
            <a:off x="811726" y="1174278"/>
            <a:ext cx="10568547" cy="5554511"/>
          </a:xfrm>
          <a:prstGeom prst="rect">
            <a:avLst/>
          </a:prstGeom>
        </p:spPr>
      </p:pic>
      <p:sp>
        <p:nvSpPr>
          <p:cNvPr id="10" name="TextBox 9">
            <a:extLst>
              <a:ext uri="{FF2B5EF4-FFF2-40B4-BE49-F238E27FC236}">
                <a16:creationId xmlns:a16="http://schemas.microsoft.com/office/drawing/2014/main" id="{79D23327-B515-9FC4-1356-06B0F6F402BF}"/>
              </a:ext>
            </a:extLst>
          </p:cNvPr>
          <p:cNvSpPr txBox="1"/>
          <p:nvPr/>
        </p:nvSpPr>
        <p:spPr>
          <a:xfrm>
            <a:off x="4436873" y="784137"/>
            <a:ext cx="3316666" cy="461665"/>
          </a:xfrm>
          <a:prstGeom prst="rect">
            <a:avLst/>
          </a:prstGeom>
          <a:noFill/>
        </p:spPr>
        <p:txBody>
          <a:bodyPr wrap="square">
            <a:spAutoFit/>
          </a:bodyPr>
          <a:lstStyle/>
          <a:p>
            <a:r>
              <a:rPr lang="en-US" sz="2400">
                <a:solidFill>
                  <a:schemeClr val="tx1"/>
                </a:solidFill>
                <a:latin typeface="Arial" panose="020B0604020202020204" pitchFamily="34" charset="0"/>
                <a:cs typeface="Arial" panose="020B0604020202020204" pitchFamily="34" charset="0"/>
              </a:rPr>
              <a:t>Fold 1/5, train-test split</a:t>
            </a:r>
          </a:p>
        </p:txBody>
      </p:sp>
    </p:spTree>
    <p:extLst>
      <p:ext uri="{BB962C8B-B14F-4D97-AF65-F5344CB8AC3E}">
        <p14:creationId xmlns:p14="http://schemas.microsoft.com/office/powerpoint/2010/main" val="11304012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9D2DC-1F08-C15B-CF1B-0A8A988F0E88}"/>
            </a:ext>
          </a:extLst>
        </p:cNvPr>
        <p:cNvGrpSpPr/>
        <p:nvPr/>
      </p:nvGrpSpPr>
      <p:grpSpPr>
        <a:xfrm>
          <a:off x="0" y="0"/>
          <a:ext cx="0" cy="0"/>
          <a:chOff x="0" y="0"/>
          <a:chExt cx="0" cy="0"/>
        </a:xfrm>
      </p:grpSpPr>
      <p:sp>
        <p:nvSpPr>
          <p:cNvPr id="3" name="!!2">
            <a:extLst>
              <a:ext uri="{FF2B5EF4-FFF2-40B4-BE49-F238E27FC236}">
                <a16:creationId xmlns:a16="http://schemas.microsoft.com/office/drawing/2014/main" id="{AB1757A7-EA9A-ED37-6735-F54F458689FF}"/>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a:t>
            </a:r>
            <a:br>
              <a:rPr lang="en-US" sz="4000">
                <a:latin typeface="Arial" panose="020B0604020202020204" pitchFamily="34" charset="0"/>
                <a:cs typeface="Arial" panose="020B0604020202020204" pitchFamily="34" charset="0"/>
              </a:rPr>
            </a:br>
            <a:endParaRPr lang="en-US" sz="4000"/>
          </a:p>
        </p:txBody>
      </p:sp>
      <p:sp>
        <p:nvSpPr>
          <p:cNvPr id="4" name="Slide Number Placeholder 3">
            <a:extLst>
              <a:ext uri="{FF2B5EF4-FFF2-40B4-BE49-F238E27FC236}">
                <a16:creationId xmlns:a16="http://schemas.microsoft.com/office/drawing/2014/main" id="{800E5925-F2C3-4E03-F805-45DBCECC628F}"/>
              </a:ext>
            </a:extLst>
          </p:cNvPr>
          <p:cNvSpPr>
            <a:spLocks noGrp="1"/>
          </p:cNvSpPr>
          <p:nvPr>
            <p:ph type="sldNum" sz="quarter" idx="10"/>
          </p:nvPr>
        </p:nvSpPr>
        <p:spPr/>
        <p:txBody>
          <a:bodyPr/>
          <a:lstStyle/>
          <a:p>
            <a:fld id="{FC2EED17-1836-6142-A4B1-ABB9C7C22E41}" type="slidenum">
              <a:rPr lang="en-US" smtClean="0"/>
              <a:pPr/>
              <a:t>93</a:t>
            </a:fld>
            <a:endParaRPr lang="en-US"/>
          </a:p>
        </p:txBody>
      </p:sp>
      <p:pic>
        <p:nvPicPr>
          <p:cNvPr id="2" name="Picture 1" descr="A screenshot of a computer&#10;&#10;Description automatically generated">
            <a:extLst>
              <a:ext uri="{FF2B5EF4-FFF2-40B4-BE49-F238E27FC236}">
                <a16:creationId xmlns:a16="http://schemas.microsoft.com/office/drawing/2014/main" id="{E0EA07E9-5D30-F12F-EC9D-885D844C7527}"/>
              </a:ext>
            </a:extLst>
          </p:cNvPr>
          <p:cNvPicPr>
            <a:picLocks noChangeAspect="1"/>
          </p:cNvPicPr>
          <p:nvPr/>
        </p:nvPicPr>
        <p:blipFill>
          <a:blip r:embed="rId3"/>
          <a:stretch>
            <a:fillRect/>
          </a:stretch>
        </p:blipFill>
        <p:spPr>
          <a:xfrm>
            <a:off x="1596358" y="785190"/>
            <a:ext cx="8999283" cy="5844209"/>
          </a:xfrm>
          <a:prstGeom prst="rect">
            <a:avLst/>
          </a:prstGeom>
        </p:spPr>
      </p:pic>
    </p:spTree>
    <p:extLst>
      <p:ext uri="{BB962C8B-B14F-4D97-AF65-F5344CB8AC3E}">
        <p14:creationId xmlns:p14="http://schemas.microsoft.com/office/powerpoint/2010/main" val="35970382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C708D-6629-0478-873B-11016D8A73FC}"/>
            </a:ext>
          </a:extLst>
        </p:cNvPr>
        <p:cNvGrpSpPr/>
        <p:nvPr/>
      </p:nvGrpSpPr>
      <p:grpSpPr>
        <a:xfrm>
          <a:off x="0" y="0"/>
          <a:ext cx="0" cy="0"/>
          <a:chOff x="0" y="0"/>
          <a:chExt cx="0" cy="0"/>
        </a:xfrm>
      </p:grpSpPr>
      <p:sp>
        <p:nvSpPr>
          <p:cNvPr id="3" name="!!2">
            <a:extLst>
              <a:ext uri="{FF2B5EF4-FFF2-40B4-BE49-F238E27FC236}">
                <a16:creationId xmlns:a16="http://schemas.microsoft.com/office/drawing/2014/main" id="{FFA555AA-580B-88FF-BACB-38EA8A9C233E}"/>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a:t>
            </a:r>
            <a:br>
              <a:rPr lang="en-US" sz="4000">
                <a:latin typeface="Arial" panose="020B0604020202020204" pitchFamily="34" charset="0"/>
                <a:cs typeface="Arial" panose="020B0604020202020204" pitchFamily="34" charset="0"/>
              </a:rPr>
            </a:br>
            <a:endParaRPr lang="en-US" sz="4000"/>
          </a:p>
        </p:txBody>
      </p:sp>
      <p:sp>
        <p:nvSpPr>
          <p:cNvPr id="4" name="Slide Number Placeholder 3">
            <a:extLst>
              <a:ext uri="{FF2B5EF4-FFF2-40B4-BE49-F238E27FC236}">
                <a16:creationId xmlns:a16="http://schemas.microsoft.com/office/drawing/2014/main" id="{3F15F8E8-E1C2-F00A-7C0B-65187A2F1CD9}"/>
              </a:ext>
            </a:extLst>
          </p:cNvPr>
          <p:cNvSpPr>
            <a:spLocks noGrp="1"/>
          </p:cNvSpPr>
          <p:nvPr>
            <p:ph type="sldNum" sz="quarter" idx="10"/>
          </p:nvPr>
        </p:nvSpPr>
        <p:spPr/>
        <p:txBody>
          <a:bodyPr/>
          <a:lstStyle/>
          <a:p>
            <a:fld id="{FC2EED17-1836-6142-A4B1-ABB9C7C22E41}" type="slidenum">
              <a:rPr lang="en-US" smtClean="0"/>
              <a:pPr/>
              <a:t>94</a:t>
            </a:fld>
            <a:endParaRPr lang="en-US"/>
          </a:p>
        </p:txBody>
      </p:sp>
      <p:sp>
        <p:nvSpPr>
          <p:cNvPr id="8" name="Rounded Rectangle 7">
            <a:extLst>
              <a:ext uri="{FF2B5EF4-FFF2-40B4-BE49-F238E27FC236}">
                <a16:creationId xmlns:a16="http://schemas.microsoft.com/office/drawing/2014/main" id="{3800C00F-D5FE-54C9-FB79-EBC265FCE996}"/>
              </a:ext>
            </a:extLst>
          </p:cNvPr>
          <p:cNvSpPr/>
          <p:nvPr/>
        </p:nvSpPr>
        <p:spPr bwMode="auto">
          <a:xfrm>
            <a:off x="3338629" y="1248620"/>
            <a:ext cx="5513152"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Doc2vec scores are very skewed</a:t>
            </a:r>
          </a:p>
        </p:txBody>
      </p:sp>
      <p:sp>
        <p:nvSpPr>
          <p:cNvPr id="9" name="Rounded Rectangle 8">
            <a:extLst>
              <a:ext uri="{FF2B5EF4-FFF2-40B4-BE49-F238E27FC236}">
                <a16:creationId xmlns:a16="http://schemas.microsoft.com/office/drawing/2014/main" id="{0804E892-BDAF-0FC8-440E-A52B7DCECB39}"/>
              </a:ext>
            </a:extLst>
          </p:cNvPr>
          <p:cNvSpPr/>
          <p:nvPr/>
        </p:nvSpPr>
        <p:spPr bwMode="auto">
          <a:xfrm>
            <a:off x="3240556" y="2369212"/>
            <a:ext cx="5709299"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Need to make all data comparable </a:t>
            </a:r>
          </a:p>
        </p:txBody>
      </p:sp>
      <p:sp>
        <p:nvSpPr>
          <p:cNvPr id="12" name="Left Arrow 11">
            <a:extLst>
              <a:ext uri="{FF2B5EF4-FFF2-40B4-BE49-F238E27FC236}">
                <a16:creationId xmlns:a16="http://schemas.microsoft.com/office/drawing/2014/main" id="{CF229BD1-80B7-B825-D157-AB3FBA85BAE3}"/>
              </a:ext>
            </a:extLst>
          </p:cNvPr>
          <p:cNvSpPr/>
          <p:nvPr/>
        </p:nvSpPr>
        <p:spPr bwMode="auto">
          <a:xfrm rot="16200000">
            <a:off x="5625772" y="3580241"/>
            <a:ext cx="1204331" cy="369545"/>
          </a:xfrm>
          <a:prstGeom prst="leftArrow">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13" name="Rounded Rectangle 12">
            <a:extLst>
              <a:ext uri="{FF2B5EF4-FFF2-40B4-BE49-F238E27FC236}">
                <a16:creationId xmlns:a16="http://schemas.microsoft.com/office/drawing/2014/main" id="{03D86882-1CE1-F6A4-0383-D3D15873BA0F}"/>
              </a:ext>
            </a:extLst>
          </p:cNvPr>
          <p:cNvSpPr/>
          <p:nvPr/>
        </p:nvSpPr>
        <p:spPr bwMode="auto">
          <a:xfrm>
            <a:off x="9099520" y="4747198"/>
            <a:ext cx="1720880"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Doc2Vec</a:t>
            </a:r>
          </a:p>
        </p:txBody>
      </p:sp>
      <p:sp>
        <p:nvSpPr>
          <p:cNvPr id="14" name="Rounded Rectangle 13">
            <a:extLst>
              <a:ext uri="{FF2B5EF4-FFF2-40B4-BE49-F238E27FC236}">
                <a16:creationId xmlns:a16="http://schemas.microsoft.com/office/drawing/2014/main" id="{0EA834E5-8AB3-A6C9-EF4E-A64A266B462F}"/>
              </a:ext>
            </a:extLst>
          </p:cNvPr>
          <p:cNvSpPr/>
          <p:nvPr/>
        </p:nvSpPr>
        <p:spPr bwMode="auto">
          <a:xfrm>
            <a:off x="5537358" y="4747199"/>
            <a:ext cx="3308072"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Fine-tuned GPT-4o</a:t>
            </a:r>
          </a:p>
        </p:txBody>
      </p:sp>
      <p:sp>
        <p:nvSpPr>
          <p:cNvPr id="15" name="Rounded Rectangle 14">
            <a:extLst>
              <a:ext uri="{FF2B5EF4-FFF2-40B4-BE49-F238E27FC236}">
                <a16:creationId xmlns:a16="http://schemas.microsoft.com/office/drawing/2014/main" id="{8C8F0793-AB27-7649-AF50-8A16C41D2F6D}"/>
              </a:ext>
            </a:extLst>
          </p:cNvPr>
          <p:cNvSpPr/>
          <p:nvPr/>
        </p:nvSpPr>
        <p:spPr bwMode="auto">
          <a:xfrm>
            <a:off x="960437" y="4747200"/>
            <a:ext cx="4322831" cy="723775"/>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Human Expert Annotation</a:t>
            </a:r>
          </a:p>
        </p:txBody>
      </p:sp>
    </p:spTree>
    <p:extLst>
      <p:ext uri="{BB962C8B-B14F-4D97-AF65-F5344CB8AC3E}">
        <p14:creationId xmlns:p14="http://schemas.microsoft.com/office/powerpoint/2010/main" val="992889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3E479-125F-714E-893F-183DE6DA6A54}"/>
            </a:ext>
          </a:extLst>
        </p:cNvPr>
        <p:cNvGrpSpPr/>
        <p:nvPr/>
      </p:nvGrpSpPr>
      <p:grpSpPr>
        <a:xfrm>
          <a:off x="0" y="0"/>
          <a:ext cx="0" cy="0"/>
          <a:chOff x="0" y="0"/>
          <a:chExt cx="0" cy="0"/>
        </a:xfrm>
      </p:grpSpPr>
      <p:sp>
        <p:nvSpPr>
          <p:cNvPr id="3" name="!!2">
            <a:extLst>
              <a:ext uri="{FF2B5EF4-FFF2-40B4-BE49-F238E27FC236}">
                <a16:creationId xmlns:a16="http://schemas.microsoft.com/office/drawing/2014/main" id="{7D1049D3-9BF8-EA93-05F0-47EE1F2235E4}"/>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a:t>
            </a:r>
            <a:br>
              <a:rPr lang="en-US" sz="4000">
                <a:latin typeface="Arial" panose="020B0604020202020204" pitchFamily="34" charset="0"/>
                <a:cs typeface="Arial" panose="020B0604020202020204" pitchFamily="34" charset="0"/>
              </a:rPr>
            </a:br>
            <a:endParaRPr lang="en-US" sz="4000"/>
          </a:p>
        </p:txBody>
      </p:sp>
      <p:sp>
        <p:nvSpPr>
          <p:cNvPr id="4" name="Slide Number Placeholder 3">
            <a:extLst>
              <a:ext uri="{FF2B5EF4-FFF2-40B4-BE49-F238E27FC236}">
                <a16:creationId xmlns:a16="http://schemas.microsoft.com/office/drawing/2014/main" id="{4D19D10C-DADD-6121-22FB-9A95369D0BDD}"/>
              </a:ext>
            </a:extLst>
          </p:cNvPr>
          <p:cNvSpPr>
            <a:spLocks noGrp="1"/>
          </p:cNvSpPr>
          <p:nvPr>
            <p:ph type="sldNum" sz="quarter" idx="10"/>
          </p:nvPr>
        </p:nvSpPr>
        <p:spPr/>
        <p:txBody>
          <a:bodyPr/>
          <a:lstStyle/>
          <a:p>
            <a:fld id="{FC2EED17-1836-6142-A4B1-ABB9C7C22E41}" type="slidenum">
              <a:rPr lang="en-US" smtClean="0"/>
              <a:pPr/>
              <a:t>95</a:t>
            </a:fld>
            <a:endParaRPr lang="en-US"/>
          </a:p>
        </p:txBody>
      </p:sp>
      <p:pic>
        <p:nvPicPr>
          <p:cNvPr id="2" name="Picture 1">
            <a:extLst>
              <a:ext uri="{FF2B5EF4-FFF2-40B4-BE49-F238E27FC236}">
                <a16:creationId xmlns:a16="http://schemas.microsoft.com/office/drawing/2014/main" id="{1925AB09-8391-9F81-FEE9-AFDB30537851}"/>
              </a:ext>
            </a:extLst>
          </p:cNvPr>
          <p:cNvPicPr>
            <a:picLocks noChangeAspect="1"/>
          </p:cNvPicPr>
          <p:nvPr/>
        </p:nvPicPr>
        <p:blipFill>
          <a:blip r:embed="rId3"/>
          <a:stretch>
            <a:fillRect/>
          </a:stretch>
        </p:blipFill>
        <p:spPr>
          <a:xfrm>
            <a:off x="104192" y="1526793"/>
            <a:ext cx="11982028" cy="3804414"/>
          </a:xfrm>
          <a:prstGeom prst="rect">
            <a:avLst/>
          </a:prstGeom>
        </p:spPr>
      </p:pic>
    </p:spTree>
    <p:extLst>
      <p:ext uri="{BB962C8B-B14F-4D97-AF65-F5344CB8AC3E}">
        <p14:creationId xmlns:p14="http://schemas.microsoft.com/office/powerpoint/2010/main" val="21759715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B6D31-F37B-4A33-3407-88E3F9262B65}"/>
            </a:ext>
          </a:extLst>
        </p:cNvPr>
        <p:cNvGrpSpPr/>
        <p:nvPr/>
      </p:nvGrpSpPr>
      <p:grpSpPr>
        <a:xfrm>
          <a:off x="0" y="0"/>
          <a:ext cx="0" cy="0"/>
          <a:chOff x="0" y="0"/>
          <a:chExt cx="0" cy="0"/>
        </a:xfrm>
      </p:grpSpPr>
      <p:sp>
        <p:nvSpPr>
          <p:cNvPr id="3" name="!!2">
            <a:extLst>
              <a:ext uri="{FF2B5EF4-FFF2-40B4-BE49-F238E27FC236}">
                <a16:creationId xmlns:a16="http://schemas.microsoft.com/office/drawing/2014/main" id="{6FAFD286-CF98-64F6-176A-21B39685A57D}"/>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a:t>
            </a:r>
            <a:br>
              <a:rPr lang="en-US" sz="4000">
                <a:latin typeface="Arial" panose="020B0604020202020204" pitchFamily="34" charset="0"/>
                <a:cs typeface="Arial" panose="020B0604020202020204" pitchFamily="34" charset="0"/>
              </a:rPr>
            </a:br>
            <a:endParaRPr lang="en-US" sz="4000"/>
          </a:p>
        </p:txBody>
      </p:sp>
      <p:sp>
        <p:nvSpPr>
          <p:cNvPr id="4" name="Slide Number Placeholder 3">
            <a:extLst>
              <a:ext uri="{FF2B5EF4-FFF2-40B4-BE49-F238E27FC236}">
                <a16:creationId xmlns:a16="http://schemas.microsoft.com/office/drawing/2014/main" id="{AACB232B-9B10-0AC4-9782-28B6E98B56E0}"/>
              </a:ext>
            </a:extLst>
          </p:cNvPr>
          <p:cNvSpPr>
            <a:spLocks noGrp="1"/>
          </p:cNvSpPr>
          <p:nvPr>
            <p:ph type="sldNum" sz="quarter" idx="10"/>
          </p:nvPr>
        </p:nvSpPr>
        <p:spPr/>
        <p:txBody>
          <a:bodyPr/>
          <a:lstStyle/>
          <a:p>
            <a:fld id="{FC2EED17-1836-6142-A4B1-ABB9C7C22E41}" type="slidenum">
              <a:rPr lang="en-US" smtClean="0"/>
              <a:pPr/>
              <a:t>96</a:t>
            </a:fld>
            <a:endParaRPr lang="en-US"/>
          </a:p>
        </p:txBody>
      </p:sp>
      <p:sp>
        <p:nvSpPr>
          <p:cNvPr id="2" name="Rounded Rectangle 1">
            <a:extLst>
              <a:ext uri="{FF2B5EF4-FFF2-40B4-BE49-F238E27FC236}">
                <a16:creationId xmlns:a16="http://schemas.microsoft.com/office/drawing/2014/main" id="{035E9B23-490A-DC91-DA99-6286C37BB6C0}"/>
              </a:ext>
            </a:extLst>
          </p:cNvPr>
          <p:cNvSpPr/>
          <p:nvPr/>
        </p:nvSpPr>
        <p:spPr bwMode="auto">
          <a:xfrm>
            <a:off x="417130" y="1508848"/>
            <a:ext cx="11357740" cy="1920152"/>
          </a:xfrm>
          <a:prstGeom prst="roundRect">
            <a:avLst>
              <a:gd name="adj" fmla="val 11024"/>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5" name="!!1">
            <a:extLst>
              <a:ext uri="{FF2B5EF4-FFF2-40B4-BE49-F238E27FC236}">
                <a16:creationId xmlns:a16="http://schemas.microsoft.com/office/drawing/2014/main" id="{BF640D52-0E9B-7A55-750F-839F4B41996A}"/>
              </a:ext>
            </a:extLst>
          </p:cNvPr>
          <p:cNvSpPr txBox="1"/>
          <p:nvPr/>
        </p:nvSpPr>
        <p:spPr>
          <a:xfrm>
            <a:off x="581548" y="1596162"/>
            <a:ext cx="11193322" cy="3385542"/>
          </a:xfrm>
          <a:prstGeom prst="rect">
            <a:avLst/>
          </a:prstGeom>
          <a:noFill/>
        </p:spPr>
        <p:txBody>
          <a:bodyPr wrap="square" lIns="0" tIns="0" rIns="0" bIns="0" rtlCol="0">
            <a:spAutoFit/>
          </a:bodyPr>
          <a:lstStyle/>
          <a:p>
            <a:r>
              <a:rPr lang="en-US" sz="2800" b="1">
                <a:solidFill>
                  <a:srgbClr val="13409F"/>
                </a:solidFill>
                <a:latin typeface="Arial" panose="020B0604020202020204" pitchFamily="34" charset="0"/>
                <a:cs typeface="Arial" panose="020B0604020202020204" pitchFamily="34" charset="0"/>
              </a:rPr>
              <a:t>Solution</a:t>
            </a:r>
          </a:p>
          <a:p>
            <a:pPr marL="342900" indent="-342900">
              <a:buFont typeface="Arial" panose="020B0604020202020204" pitchFamily="34" charset="0"/>
              <a:buChar char="•"/>
            </a:pPr>
            <a:r>
              <a:rPr lang="en-US">
                <a:latin typeface="Arial" panose="020B0604020202020204" pitchFamily="34" charset="0"/>
                <a:cs typeface="Arial" panose="020B0604020202020204" pitchFamily="34" charset="0"/>
              </a:rPr>
              <a:t>Make all 3 datasets fall into the same distribution</a:t>
            </a:r>
          </a:p>
          <a:p>
            <a:pPr marL="342900" indent="-342900">
              <a:buFont typeface="Arial" panose="020B0604020202020204" pitchFamily="34" charset="0"/>
              <a:buChar char="•"/>
            </a:pPr>
            <a:endParaRPr lang="en-US">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atin typeface="Arial" panose="020B0604020202020204" pitchFamily="34" charset="0"/>
                <a:cs typeface="Arial" panose="020B0604020202020204" pitchFamily="34" charset="0"/>
              </a:rPr>
              <a:t>We have two measures for this – </a:t>
            </a:r>
            <a:r>
              <a:rPr lang="en-US" b="1">
                <a:solidFill>
                  <a:srgbClr val="13409F"/>
                </a:solidFill>
                <a:latin typeface="Arial" panose="020B0604020202020204" pitchFamily="34" charset="0"/>
                <a:cs typeface="Arial" panose="020B0604020202020204" pitchFamily="34" charset="0"/>
              </a:rPr>
              <a:t>Percentile</a:t>
            </a:r>
            <a:r>
              <a:rPr lang="en-US">
                <a:solidFill>
                  <a:srgbClr val="13409F"/>
                </a:solidFill>
                <a:latin typeface="Arial" panose="020B0604020202020204" pitchFamily="34" charset="0"/>
                <a:cs typeface="Arial" panose="020B0604020202020204" pitchFamily="34" charset="0"/>
              </a:rPr>
              <a:t> </a:t>
            </a:r>
            <a:r>
              <a:rPr lang="en-US">
                <a:latin typeface="Arial" panose="020B0604020202020204" pitchFamily="34" charset="0"/>
                <a:cs typeface="Arial" panose="020B0604020202020204" pitchFamily="34" charset="0"/>
              </a:rPr>
              <a:t>and</a:t>
            </a:r>
            <a:r>
              <a:rPr lang="en-US">
                <a:solidFill>
                  <a:srgbClr val="13409F"/>
                </a:solidFill>
                <a:latin typeface="Arial" panose="020B0604020202020204" pitchFamily="34" charset="0"/>
                <a:cs typeface="Arial" panose="020B0604020202020204" pitchFamily="34" charset="0"/>
              </a:rPr>
              <a:t> </a:t>
            </a:r>
            <a:r>
              <a:rPr lang="en-US" b="1">
                <a:solidFill>
                  <a:srgbClr val="13409F"/>
                </a:solidFill>
                <a:latin typeface="Arial" panose="020B0604020202020204" pitchFamily="34" charset="0"/>
                <a:cs typeface="Arial" panose="020B0604020202020204" pitchFamily="34" charset="0"/>
              </a:rPr>
              <a:t>Normalize</a:t>
            </a:r>
            <a:endParaRPr lang="en-US">
              <a:solidFill>
                <a:srgbClr val="13409F"/>
              </a:solidFill>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
        <p:nvSpPr>
          <p:cNvPr id="11" name="Rounded Rectangle 10">
            <a:extLst>
              <a:ext uri="{FF2B5EF4-FFF2-40B4-BE49-F238E27FC236}">
                <a16:creationId xmlns:a16="http://schemas.microsoft.com/office/drawing/2014/main" id="{3DCE2E20-AC61-51C4-26DF-C1BA6B43705C}"/>
              </a:ext>
            </a:extLst>
          </p:cNvPr>
          <p:cNvSpPr/>
          <p:nvPr/>
        </p:nvSpPr>
        <p:spPr bwMode="auto">
          <a:xfrm>
            <a:off x="417130" y="3791131"/>
            <a:ext cx="11357740" cy="1190573"/>
          </a:xfrm>
          <a:prstGeom prst="roundRect">
            <a:avLst>
              <a:gd name="adj" fmla="val 11024"/>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16" name="!!1">
            <a:extLst>
              <a:ext uri="{FF2B5EF4-FFF2-40B4-BE49-F238E27FC236}">
                <a16:creationId xmlns:a16="http://schemas.microsoft.com/office/drawing/2014/main" id="{83F0D409-2279-D2CC-DC4C-05E6E8B9DC19}"/>
              </a:ext>
            </a:extLst>
          </p:cNvPr>
          <p:cNvSpPr txBox="1"/>
          <p:nvPr/>
        </p:nvSpPr>
        <p:spPr>
          <a:xfrm>
            <a:off x="581548" y="3878445"/>
            <a:ext cx="11193322" cy="2646878"/>
          </a:xfrm>
          <a:prstGeom prst="rect">
            <a:avLst/>
          </a:prstGeom>
          <a:noFill/>
        </p:spPr>
        <p:txBody>
          <a:bodyPr wrap="square" lIns="0" tIns="0" rIns="0" bIns="0" rtlCol="0">
            <a:spAutoFit/>
          </a:bodyPr>
          <a:lstStyle/>
          <a:p>
            <a:r>
              <a:rPr lang="en-US" sz="2800" b="1">
                <a:solidFill>
                  <a:srgbClr val="13409F"/>
                </a:solidFill>
                <a:latin typeface="Arial" panose="020B0604020202020204" pitchFamily="34" charset="0"/>
                <a:cs typeface="Arial" panose="020B0604020202020204" pitchFamily="34" charset="0"/>
              </a:rPr>
              <a:t>Evaluation</a:t>
            </a:r>
          </a:p>
          <a:p>
            <a:pPr marL="342900" indent="-342900">
              <a:buFont typeface="Arial" panose="020B0604020202020204" pitchFamily="34" charset="0"/>
              <a:buChar char="•"/>
            </a:pPr>
            <a:r>
              <a:rPr lang="en-US">
                <a:latin typeface="Arial" panose="020B0604020202020204" pitchFamily="34" charset="0"/>
                <a:cs typeface="Arial" panose="020B0604020202020204" pitchFamily="34" charset="0"/>
              </a:rPr>
              <a:t>Minimize distance from Human Expert Annotation (</a:t>
            </a:r>
            <a:r>
              <a:rPr lang="en-US" b="1">
                <a:solidFill>
                  <a:srgbClr val="13409F"/>
                </a:solidFill>
                <a:latin typeface="Arial" panose="020B0604020202020204" pitchFamily="34" charset="0"/>
                <a:cs typeface="Arial" panose="020B0604020202020204" pitchFamily="34" charset="0"/>
              </a:rPr>
              <a:t>Error</a:t>
            </a:r>
            <a:r>
              <a:rPr lang="en-US">
                <a:latin typeface="Arial" panose="020B0604020202020204" pitchFamily="34" charset="0"/>
                <a:cs typeface="Arial" panose="020B0604020202020204" pitchFamily="34" charset="0"/>
              </a:rPr>
              <a:t>)</a:t>
            </a:r>
          </a:p>
          <a:p>
            <a:endParaRPr lang="en-US">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pic>
        <p:nvPicPr>
          <p:cNvPr id="19" name="Picture 18">
            <a:extLst>
              <a:ext uri="{FF2B5EF4-FFF2-40B4-BE49-F238E27FC236}">
                <a16:creationId xmlns:a16="http://schemas.microsoft.com/office/drawing/2014/main" id="{210D85EE-54EF-0B07-2B6D-F1640797A90C}"/>
              </a:ext>
            </a:extLst>
          </p:cNvPr>
          <p:cNvPicPr>
            <a:picLocks noChangeAspect="1"/>
          </p:cNvPicPr>
          <p:nvPr/>
        </p:nvPicPr>
        <p:blipFill>
          <a:blip r:embed="rId3"/>
          <a:stretch>
            <a:fillRect/>
          </a:stretch>
        </p:blipFill>
        <p:spPr>
          <a:xfrm>
            <a:off x="2209006" y="5201884"/>
            <a:ext cx="7772400" cy="812041"/>
          </a:xfrm>
          <a:prstGeom prst="rect">
            <a:avLst/>
          </a:prstGeom>
        </p:spPr>
      </p:pic>
    </p:spTree>
    <p:extLst>
      <p:ext uri="{BB962C8B-B14F-4D97-AF65-F5344CB8AC3E}">
        <p14:creationId xmlns:p14="http://schemas.microsoft.com/office/powerpoint/2010/main" val="3698638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CA0B0-9855-2F01-58B0-C247B717A5C0}"/>
            </a:ext>
          </a:extLst>
        </p:cNvPr>
        <p:cNvGrpSpPr/>
        <p:nvPr/>
      </p:nvGrpSpPr>
      <p:grpSpPr>
        <a:xfrm>
          <a:off x="0" y="0"/>
          <a:ext cx="0" cy="0"/>
          <a:chOff x="0" y="0"/>
          <a:chExt cx="0" cy="0"/>
        </a:xfrm>
      </p:grpSpPr>
      <p:sp>
        <p:nvSpPr>
          <p:cNvPr id="3" name="!!2">
            <a:extLst>
              <a:ext uri="{FF2B5EF4-FFF2-40B4-BE49-F238E27FC236}">
                <a16:creationId xmlns:a16="http://schemas.microsoft.com/office/drawing/2014/main" id="{B209A52D-74F5-B5C2-16AF-91FD95E7AF78}"/>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a:t>
            </a:r>
            <a:br>
              <a:rPr lang="en-US" sz="4000">
                <a:latin typeface="Arial" panose="020B0604020202020204" pitchFamily="34" charset="0"/>
                <a:cs typeface="Arial" panose="020B0604020202020204" pitchFamily="34" charset="0"/>
              </a:rPr>
            </a:br>
            <a:endParaRPr lang="en-US" sz="4000"/>
          </a:p>
        </p:txBody>
      </p:sp>
      <p:sp>
        <p:nvSpPr>
          <p:cNvPr id="4" name="Slide Number Placeholder 3">
            <a:extLst>
              <a:ext uri="{FF2B5EF4-FFF2-40B4-BE49-F238E27FC236}">
                <a16:creationId xmlns:a16="http://schemas.microsoft.com/office/drawing/2014/main" id="{F4D06CB8-9137-7990-763E-80C07679D712}"/>
              </a:ext>
            </a:extLst>
          </p:cNvPr>
          <p:cNvSpPr>
            <a:spLocks noGrp="1"/>
          </p:cNvSpPr>
          <p:nvPr>
            <p:ph type="sldNum" sz="quarter" idx="10"/>
          </p:nvPr>
        </p:nvSpPr>
        <p:spPr/>
        <p:txBody>
          <a:bodyPr/>
          <a:lstStyle/>
          <a:p>
            <a:fld id="{FC2EED17-1836-6142-A4B1-ABB9C7C22E41}" type="slidenum">
              <a:rPr lang="en-US" smtClean="0"/>
              <a:pPr/>
              <a:t>97</a:t>
            </a:fld>
            <a:endParaRPr lang="en-US"/>
          </a:p>
        </p:txBody>
      </p:sp>
      <p:sp>
        <p:nvSpPr>
          <p:cNvPr id="2" name="Rounded Rectangle 1">
            <a:extLst>
              <a:ext uri="{FF2B5EF4-FFF2-40B4-BE49-F238E27FC236}">
                <a16:creationId xmlns:a16="http://schemas.microsoft.com/office/drawing/2014/main" id="{D2BC22F0-88E5-AD81-4CD0-122378CE406B}"/>
              </a:ext>
            </a:extLst>
          </p:cNvPr>
          <p:cNvSpPr/>
          <p:nvPr/>
        </p:nvSpPr>
        <p:spPr bwMode="auto">
          <a:xfrm>
            <a:off x="417130" y="1508848"/>
            <a:ext cx="11357740" cy="1920152"/>
          </a:xfrm>
          <a:prstGeom prst="roundRect">
            <a:avLst>
              <a:gd name="adj" fmla="val 11024"/>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5" name="!!1">
            <a:extLst>
              <a:ext uri="{FF2B5EF4-FFF2-40B4-BE49-F238E27FC236}">
                <a16:creationId xmlns:a16="http://schemas.microsoft.com/office/drawing/2014/main" id="{0281B818-572D-E506-8712-6EA34AAF0743}"/>
              </a:ext>
            </a:extLst>
          </p:cNvPr>
          <p:cNvSpPr txBox="1"/>
          <p:nvPr/>
        </p:nvSpPr>
        <p:spPr>
          <a:xfrm>
            <a:off x="581548" y="1596162"/>
            <a:ext cx="11193322" cy="3385542"/>
          </a:xfrm>
          <a:prstGeom prst="rect">
            <a:avLst/>
          </a:prstGeom>
          <a:noFill/>
        </p:spPr>
        <p:txBody>
          <a:bodyPr wrap="square" lIns="0" tIns="0" rIns="0" bIns="0" rtlCol="0">
            <a:spAutoFit/>
          </a:bodyPr>
          <a:lstStyle/>
          <a:p>
            <a:r>
              <a:rPr lang="en-US" sz="2800" b="1">
                <a:solidFill>
                  <a:srgbClr val="13409F"/>
                </a:solidFill>
                <a:latin typeface="Arial" panose="020B0604020202020204" pitchFamily="34" charset="0"/>
                <a:cs typeface="Arial" panose="020B0604020202020204" pitchFamily="34" charset="0"/>
              </a:rPr>
              <a:t>Measure 1: Percentile</a:t>
            </a:r>
          </a:p>
          <a:p>
            <a:pPr marL="342900" indent="-342900">
              <a:buFont typeface="Arial" panose="020B0604020202020204" pitchFamily="34" charset="0"/>
              <a:buChar char="•"/>
            </a:pPr>
            <a:r>
              <a:rPr lang="en-US">
                <a:latin typeface="Arial" panose="020B0604020202020204" pitchFamily="34" charset="0"/>
                <a:cs typeface="Arial" panose="020B0604020202020204" pitchFamily="34" charset="0"/>
              </a:rPr>
              <a:t>For all datasets, convert scores to their respective percentiles</a:t>
            </a:r>
          </a:p>
          <a:p>
            <a:pPr marL="342900" indent="-342900">
              <a:buFont typeface="Arial" panose="020B0604020202020204" pitchFamily="34" charset="0"/>
              <a:buChar char="•"/>
            </a:pPr>
            <a:endParaRPr lang="en-US">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atin typeface="Arial" panose="020B0604020202020204" pitchFamily="34" charset="0"/>
                <a:cs typeface="Arial" panose="020B0604020202020204" pitchFamily="34" charset="0"/>
              </a:rPr>
              <a:t>Add small random perturbation to the initial scores </a:t>
            </a:r>
            <a:r>
              <a:rPr lang="en-US">
                <a:latin typeface="Arial" panose="020B0604020202020204" pitchFamily="34" charset="0"/>
                <a:cs typeface="Arial" panose="020B0604020202020204" pitchFamily="34" charset="0"/>
                <a:sym typeface="Wingdings" pitchFamily="2" charset="2"/>
              </a:rPr>
              <a:t></a:t>
            </a:r>
            <a:r>
              <a:rPr lang="en-US">
                <a:latin typeface="Arial" panose="020B0604020202020204" pitchFamily="34" charset="0"/>
                <a:cs typeface="Arial" panose="020B0604020202020204" pitchFamily="34" charset="0"/>
              </a:rPr>
              <a:t> break ties in percentiles</a:t>
            </a:r>
          </a:p>
          <a:p>
            <a:endParaRPr lang="en-US">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
        <p:nvSpPr>
          <p:cNvPr id="6" name="Rounded Rectangle 5">
            <a:extLst>
              <a:ext uri="{FF2B5EF4-FFF2-40B4-BE49-F238E27FC236}">
                <a16:creationId xmlns:a16="http://schemas.microsoft.com/office/drawing/2014/main" id="{317BABAD-5AF4-0184-D931-A34F5ABD0C8F}"/>
              </a:ext>
            </a:extLst>
          </p:cNvPr>
          <p:cNvSpPr/>
          <p:nvPr/>
        </p:nvSpPr>
        <p:spPr bwMode="auto">
          <a:xfrm>
            <a:off x="416336" y="3979041"/>
            <a:ext cx="11357740" cy="1920152"/>
          </a:xfrm>
          <a:prstGeom prst="roundRect">
            <a:avLst>
              <a:gd name="adj" fmla="val 11024"/>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endParaRPr lang="en-US" sz="3200">
              <a:solidFill>
                <a:schemeClr val="tx1"/>
              </a:solidFill>
              <a:latin typeface="Arial" panose="020B0604020202020204" pitchFamily="34" charset="0"/>
              <a:cs typeface="Arial" panose="020B0604020202020204" pitchFamily="34" charset="0"/>
            </a:endParaRPr>
          </a:p>
        </p:txBody>
      </p:sp>
      <p:sp>
        <p:nvSpPr>
          <p:cNvPr id="7" name="!!1">
            <a:extLst>
              <a:ext uri="{FF2B5EF4-FFF2-40B4-BE49-F238E27FC236}">
                <a16:creationId xmlns:a16="http://schemas.microsoft.com/office/drawing/2014/main" id="{40A7A871-A91C-2725-C457-F356CB7E5951}"/>
              </a:ext>
            </a:extLst>
          </p:cNvPr>
          <p:cNvSpPr txBox="1"/>
          <p:nvPr/>
        </p:nvSpPr>
        <p:spPr>
          <a:xfrm>
            <a:off x="580754" y="4043992"/>
            <a:ext cx="11193322" cy="3385542"/>
          </a:xfrm>
          <a:prstGeom prst="rect">
            <a:avLst/>
          </a:prstGeom>
          <a:noFill/>
        </p:spPr>
        <p:txBody>
          <a:bodyPr wrap="square" lIns="0" tIns="0" rIns="0" bIns="0" rtlCol="0">
            <a:spAutoFit/>
          </a:bodyPr>
          <a:lstStyle/>
          <a:p>
            <a:r>
              <a:rPr lang="en-US" sz="2800" b="1">
                <a:solidFill>
                  <a:srgbClr val="13409F"/>
                </a:solidFill>
                <a:latin typeface="Arial" panose="020B0604020202020204" pitchFamily="34" charset="0"/>
                <a:cs typeface="Arial" panose="020B0604020202020204" pitchFamily="34" charset="0"/>
              </a:rPr>
              <a:t>Measure 2: Normalize</a:t>
            </a:r>
          </a:p>
          <a:p>
            <a:pPr marL="342900" indent="-342900">
              <a:buFont typeface="Arial" panose="020B0604020202020204" pitchFamily="34" charset="0"/>
              <a:buChar char="•"/>
            </a:pPr>
            <a:r>
              <a:rPr lang="en-US">
                <a:latin typeface="Arial" panose="020B0604020202020204" pitchFamily="34" charset="0"/>
                <a:cs typeface="Arial" panose="020B0604020202020204" pitchFamily="34" charset="0"/>
              </a:rPr>
              <a:t>Doc2Vec scores are stretched to a scale of 0-1. </a:t>
            </a:r>
          </a:p>
          <a:p>
            <a:pPr marL="342900" indent="-342900">
              <a:buFont typeface="Arial" panose="020B0604020202020204" pitchFamily="34" charset="0"/>
              <a:buChar char="•"/>
            </a:pPr>
            <a:endParaRPr lang="en-US">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atin typeface="Arial" panose="020B0604020202020204" pitchFamily="34" charset="0"/>
                <a:cs typeface="Arial" panose="020B0604020202020204" pitchFamily="34" charset="0"/>
              </a:rPr>
              <a:t>All other scores are considered as is. </a:t>
            </a:r>
          </a:p>
          <a:p>
            <a:endParaRPr lang="en-US">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0268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6" grpId="0" animBg="1"/>
      <p:bldP spid="7"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B2B87-E864-0317-63DE-09D1D95CBD8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5AF1FB8-092C-F275-4CDF-F2579899FFF0}"/>
              </a:ext>
            </a:extLst>
          </p:cNvPr>
          <p:cNvSpPr>
            <a:spLocks noGrp="1"/>
          </p:cNvSpPr>
          <p:nvPr>
            <p:ph type="sldNum" idx="12"/>
          </p:nvPr>
        </p:nvSpPr>
        <p:spPr>
          <a:xfrm>
            <a:off x="9448800" y="6629400"/>
            <a:ext cx="2743200" cy="227960"/>
          </a:xfrm>
        </p:spPr>
        <p:txBody>
          <a:bodyPr wrap="square" anchor="ctr">
            <a:noAutofit/>
          </a:bodyPr>
          <a:lstStyle/>
          <a:p>
            <a:pPr>
              <a:lnSpc>
                <a:spcPct val="90000"/>
              </a:lnSpc>
              <a:spcAft>
                <a:spcPts val="600"/>
              </a:spcAft>
            </a:pPr>
            <a:fld id="{FC2EED17-1836-6142-A4B1-ABB9C7C22E41}" type="slidenum">
              <a:rPr lang="en-US" sz="2150" smtClean="0"/>
              <a:pPr>
                <a:lnSpc>
                  <a:spcPct val="90000"/>
                </a:lnSpc>
                <a:spcAft>
                  <a:spcPts val="600"/>
                </a:spcAft>
              </a:pPr>
              <a:t>98</a:t>
            </a:fld>
            <a:endParaRPr lang="en-US" sz="2150"/>
          </a:p>
        </p:txBody>
      </p:sp>
      <p:pic>
        <p:nvPicPr>
          <p:cNvPr id="6" name="Picture 5" descr="A graph with a line&#10;&#10;Description automatically generated">
            <a:extLst>
              <a:ext uri="{FF2B5EF4-FFF2-40B4-BE49-F238E27FC236}">
                <a16:creationId xmlns:a16="http://schemas.microsoft.com/office/drawing/2014/main" id="{9C732B09-D541-ABA7-DCEE-08B99E08A04C}"/>
              </a:ext>
            </a:extLst>
          </p:cNvPr>
          <p:cNvPicPr>
            <a:picLocks noChangeAspect="1"/>
          </p:cNvPicPr>
          <p:nvPr/>
        </p:nvPicPr>
        <p:blipFill>
          <a:blip r:embed="rId3"/>
          <a:srcRect l="1776" r="164" b="-3"/>
          <a:stretch>
            <a:fillRect/>
          </a:stretch>
        </p:blipFill>
        <p:spPr>
          <a:xfrm>
            <a:off x="519248" y="1231631"/>
            <a:ext cx="5385458" cy="4352544"/>
          </a:xfrm>
          <a:prstGeom prst="rect">
            <a:avLst/>
          </a:prstGeom>
          <a:noFill/>
          <a:ln>
            <a:noFill/>
          </a:ln>
        </p:spPr>
      </p:pic>
      <p:pic>
        <p:nvPicPr>
          <p:cNvPr id="2" name="Picture 1" descr="A graph with blue lines&#10;&#10;Description automatically generated">
            <a:extLst>
              <a:ext uri="{FF2B5EF4-FFF2-40B4-BE49-F238E27FC236}">
                <a16:creationId xmlns:a16="http://schemas.microsoft.com/office/drawing/2014/main" id="{5269B44B-DFF5-E986-DD5B-91E53D15A0F7}"/>
              </a:ext>
            </a:extLst>
          </p:cNvPr>
          <p:cNvPicPr>
            <a:picLocks noChangeAspect="1"/>
          </p:cNvPicPr>
          <p:nvPr/>
        </p:nvPicPr>
        <p:blipFill>
          <a:blip r:embed="rId4"/>
          <a:srcRect l="1459" r="1722" b="1"/>
          <a:stretch>
            <a:fillRect/>
          </a:stretch>
        </p:blipFill>
        <p:spPr>
          <a:xfrm>
            <a:off x="6285706" y="1231631"/>
            <a:ext cx="5385458" cy="4352544"/>
          </a:xfrm>
          <a:prstGeom prst="rect">
            <a:avLst/>
          </a:prstGeom>
          <a:noFill/>
          <a:ln>
            <a:noFill/>
          </a:ln>
        </p:spPr>
      </p:pic>
      <p:sp>
        <p:nvSpPr>
          <p:cNvPr id="9" name="!!2">
            <a:extLst>
              <a:ext uri="{FF2B5EF4-FFF2-40B4-BE49-F238E27FC236}">
                <a16:creationId xmlns:a16="http://schemas.microsoft.com/office/drawing/2014/main" id="{5267E437-5E35-9D11-6F56-DEB878D9FA64}"/>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a:t>
            </a:r>
            <a:br>
              <a:rPr lang="en-US" sz="4000">
                <a:latin typeface="Arial" panose="020B0604020202020204" pitchFamily="34" charset="0"/>
                <a:cs typeface="Arial" panose="020B0604020202020204" pitchFamily="34" charset="0"/>
              </a:rPr>
            </a:br>
            <a:endParaRPr lang="en-US" sz="4000"/>
          </a:p>
        </p:txBody>
      </p:sp>
    </p:spTree>
    <p:extLst>
      <p:ext uri="{BB962C8B-B14F-4D97-AF65-F5344CB8AC3E}">
        <p14:creationId xmlns:p14="http://schemas.microsoft.com/office/powerpoint/2010/main" val="2681445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98EE9-FBE2-8A87-E651-D5B088BE46F5}"/>
            </a:ext>
          </a:extLst>
        </p:cNvPr>
        <p:cNvGrpSpPr/>
        <p:nvPr/>
      </p:nvGrpSpPr>
      <p:grpSpPr>
        <a:xfrm>
          <a:off x="0" y="0"/>
          <a:ext cx="0" cy="0"/>
          <a:chOff x="0" y="0"/>
          <a:chExt cx="0" cy="0"/>
        </a:xfrm>
      </p:grpSpPr>
      <p:sp>
        <p:nvSpPr>
          <p:cNvPr id="3" name="!!2">
            <a:extLst>
              <a:ext uri="{FF2B5EF4-FFF2-40B4-BE49-F238E27FC236}">
                <a16:creationId xmlns:a16="http://schemas.microsoft.com/office/drawing/2014/main" id="{10072571-8D45-92D2-4605-2E14A634CDE7}"/>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a:t>
            </a:r>
            <a:br>
              <a:rPr lang="en-US" sz="4000">
                <a:latin typeface="Arial" panose="020B0604020202020204" pitchFamily="34" charset="0"/>
                <a:cs typeface="Arial" panose="020B0604020202020204" pitchFamily="34" charset="0"/>
              </a:rPr>
            </a:br>
            <a:endParaRPr lang="en-US" sz="4000"/>
          </a:p>
        </p:txBody>
      </p:sp>
      <p:sp>
        <p:nvSpPr>
          <p:cNvPr id="4" name="Slide Number Placeholder 3">
            <a:extLst>
              <a:ext uri="{FF2B5EF4-FFF2-40B4-BE49-F238E27FC236}">
                <a16:creationId xmlns:a16="http://schemas.microsoft.com/office/drawing/2014/main" id="{38304371-9E58-F8F3-BFD2-C2EB6F5763E8}"/>
              </a:ext>
            </a:extLst>
          </p:cNvPr>
          <p:cNvSpPr>
            <a:spLocks noGrp="1"/>
          </p:cNvSpPr>
          <p:nvPr>
            <p:ph type="sldNum" sz="quarter" idx="10"/>
          </p:nvPr>
        </p:nvSpPr>
        <p:spPr/>
        <p:txBody>
          <a:bodyPr/>
          <a:lstStyle/>
          <a:p>
            <a:fld id="{FC2EED17-1836-6142-A4B1-ABB9C7C22E41}" type="slidenum">
              <a:rPr lang="en-US" smtClean="0"/>
              <a:pPr/>
              <a:t>99</a:t>
            </a:fld>
            <a:endParaRPr lang="en-US"/>
          </a:p>
        </p:txBody>
      </p:sp>
      <p:pic>
        <p:nvPicPr>
          <p:cNvPr id="5" name="Picture 4" descr="A graph with blue lines&#10;&#10;Description automatically generated">
            <a:extLst>
              <a:ext uri="{FF2B5EF4-FFF2-40B4-BE49-F238E27FC236}">
                <a16:creationId xmlns:a16="http://schemas.microsoft.com/office/drawing/2014/main" id="{4718427C-B405-7D57-EF1D-61F3DAA5C8A2}"/>
              </a:ext>
            </a:extLst>
          </p:cNvPr>
          <p:cNvPicPr>
            <a:picLocks noChangeAspect="1"/>
          </p:cNvPicPr>
          <p:nvPr/>
        </p:nvPicPr>
        <p:blipFill>
          <a:blip r:embed="rId3"/>
          <a:stretch>
            <a:fillRect/>
          </a:stretch>
        </p:blipFill>
        <p:spPr>
          <a:xfrm>
            <a:off x="2482332" y="957186"/>
            <a:ext cx="7225748" cy="5672213"/>
          </a:xfrm>
          <a:prstGeom prst="rect">
            <a:avLst/>
          </a:prstGeom>
        </p:spPr>
      </p:pic>
    </p:spTree>
    <p:extLst>
      <p:ext uri="{BB962C8B-B14F-4D97-AF65-F5344CB8AC3E}">
        <p14:creationId xmlns:p14="http://schemas.microsoft.com/office/powerpoint/2010/main" val="51716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1B14A-0555-9A19-5025-861F8960D4C7}"/>
            </a:ext>
          </a:extLst>
        </p:cNvPr>
        <p:cNvGrpSpPr/>
        <p:nvPr/>
      </p:nvGrpSpPr>
      <p:grpSpPr>
        <a:xfrm>
          <a:off x="0" y="0"/>
          <a:ext cx="0" cy="0"/>
          <a:chOff x="0" y="0"/>
          <a:chExt cx="0" cy="0"/>
        </a:xfrm>
      </p:grpSpPr>
      <p:sp>
        <p:nvSpPr>
          <p:cNvPr id="3" name="!!2">
            <a:extLst>
              <a:ext uri="{FF2B5EF4-FFF2-40B4-BE49-F238E27FC236}">
                <a16:creationId xmlns:a16="http://schemas.microsoft.com/office/drawing/2014/main" id="{E31F964B-FB3E-F955-0D1E-7D2C994BE9BC}"/>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 – Evaluation</a:t>
            </a:r>
            <a:br>
              <a:rPr lang="en-US" sz="4000">
                <a:latin typeface="Arial" panose="020B0604020202020204" pitchFamily="34" charset="0"/>
                <a:cs typeface="Arial" panose="020B0604020202020204" pitchFamily="34" charset="0"/>
              </a:rPr>
            </a:br>
            <a:endParaRPr lang="en-US" sz="4000"/>
          </a:p>
        </p:txBody>
      </p:sp>
      <p:sp>
        <p:nvSpPr>
          <p:cNvPr id="4" name="Slide Number Placeholder 3">
            <a:extLst>
              <a:ext uri="{FF2B5EF4-FFF2-40B4-BE49-F238E27FC236}">
                <a16:creationId xmlns:a16="http://schemas.microsoft.com/office/drawing/2014/main" id="{C9312EBE-F13A-1BF9-8250-0B5B82444035}"/>
              </a:ext>
            </a:extLst>
          </p:cNvPr>
          <p:cNvSpPr>
            <a:spLocks noGrp="1"/>
          </p:cNvSpPr>
          <p:nvPr>
            <p:ph type="sldNum" sz="quarter" idx="10"/>
          </p:nvPr>
        </p:nvSpPr>
        <p:spPr/>
        <p:txBody>
          <a:bodyPr/>
          <a:lstStyle/>
          <a:p>
            <a:fld id="{FC2EED17-1836-6142-A4B1-ABB9C7C22E41}" type="slidenum">
              <a:rPr lang="en-US" smtClean="0"/>
              <a:pPr/>
              <a:t>100</a:t>
            </a:fld>
            <a:endParaRPr lang="en-US"/>
          </a:p>
        </p:txBody>
      </p:sp>
      <p:pic>
        <p:nvPicPr>
          <p:cNvPr id="5" name="Picture 4">
            <a:extLst>
              <a:ext uri="{FF2B5EF4-FFF2-40B4-BE49-F238E27FC236}">
                <a16:creationId xmlns:a16="http://schemas.microsoft.com/office/drawing/2014/main" id="{EE64212E-FCDD-6F29-5623-E69F146B2EC1}"/>
              </a:ext>
            </a:extLst>
          </p:cNvPr>
          <p:cNvPicPr>
            <a:picLocks noChangeAspect="1"/>
          </p:cNvPicPr>
          <p:nvPr/>
        </p:nvPicPr>
        <p:blipFill>
          <a:blip r:embed="rId3"/>
          <a:stretch>
            <a:fillRect/>
          </a:stretch>
        </p:blipFill>
        <p:spPr>
          <a:xfrm>
            <a:off x="277817" y="1622245"/>
            <a:ext cx="11636366" cy="4394242"/>
          </a:xfrm>
          <a:prstGeom prst="rect">
            <a:avLst/>
          </a:prstGeom>
        </p:spPr>
      </p:pic>
    </p:spTree>
    <p:extLst>
      <p:ext uri="{BB962C8B-B14F-4D97-AF65-F5344CB8AC3E}">
        <p14:creationId xmlns:p14="http://schemas.microsoft.com/office/powerpoint/2010/main" val="3494286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259EF-CBD1-80E5-A542-9B1085BDE4BA}"/>
            </a:ext>
          </a:extLst>
        </p:cNvPr>
        <p:cNvGrpSpPr/>
        <p:nvPr/>
      </p:nvGrpSpPr>
      <p:grpSpPr>
        <a:xfrm>
          <a:off x="0" y="0"/>
          <a:ext cx="0" cy="0"/>
          <a:chOff x="0" y="0"/>
          <a:chExt cx="0" cy="0"/>
        </a:xfrm>
      </p:grpSpPr>
      <p:sp>
        <p:nvSpPr>
          <p:cNvPr id="3" name="!!2">
            <a:extLst>
              <a:ext uri="{FF2B5EF4-FFF2-40B4-BE49-F238E27FC236}">
                <a16:creationId xmlns:a16="http://schemas.microsoft.com/office/drawing/2014/main" id="{FDE4D4D8-F42C-2C96-E554-66EE23193957}"/>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a:t>
            </a:r>
            <a:br>
              <a:rPr lang="en-US" sz="4000">
                <a:latin typeface="Arial" panose="020B0604020202020204" pitchFamily="34" charset="0"/>
                <a:cs typeface="Arial" panose="020B0604020202020204" pitchFamily="34" charset="0"/>
              </a:rPr>
            </a:br>
            <a:endParaRPr lang="en-US" sz="4000"/>
          </a:p>
        </p:txBody>
      </p:sp>
      <p:sp>
        <p:nvSpPr>
          <p:cNvPr id="4" name="Slide Number Placeholder 3">
            <a:extLst>
              <a:ext uri="{FF2B5EF4-FFF2-40B4-BE49-F238E27FC236}">
                <a16:creationId xmlns:a16="http://schemas.microsoft.com/office/drawing/2014/main" id="{B364D16E-7CF2-3751-DB15-26E81FAD4C62}"/>
              </a:ext>
            </a:extLst>
          </p:cNvPr>
          <p:cNvSpPr>
            <a:spLocks noGrp="1"/>
          </p:cNvSpPr>
          <p:nvPr>
            <p:ph type="sldNum" sz="quarter" idx="10"/>
          </p:nvPr>
        </p:nvSpPr>
        <p:spPr/>
        <p:txBody>
          <a:bodyPr/>
          <a:lstStyle/>
          <a:p>
            <a:fld id="{FC2EED17-1836-6142-A4B1-ABB9C7C22E41}" type="slidenum">
              <a:rPr lang="en-US" smtClean="0"/>
              <a:pPr/>
              <a:t>101</a:t>
            </a:fld>
            <a:endParaRPr lang="en-US"/>
          </a:p>
        </p:txBody>
      </p:sp>
      <p:graphicFrame>
        <p:nvGraphicFramePr>
          <p:cNvPr id="8" name="Table 7">
            <a:extLst>
              <a:ext uri="{FF2B5EF4-FFF2-40B4-BE49-F238E27FC236}">
                <a16:creationId xmlns:a16="http://schemas.microsoft.com/office/drawing/2014/main" id="{38565424-85FB-DBB9-8435-853D504FB799}"/>
              </a:ext>
            </a:extLst>
          </p:cNvPr>
          <p:cNvGraphicFramePr>
            <a:graphicFrameLocks noGrp="1"/>
          </p:cNvGraphicFramePr>
          <p:nvPr>
            <p:extLst>
              <p:ext uri="{D42A27DB-BD31-4B8C-83A1-F6EECF244321}">
                <p14:modId xmlns:p14="http://schemas.microsoft.com/office/powerpoint/2010/main" val="4141988291"/>
              </p:ext>
            </p:extLst>
          </p:nvPr>
        </p:nvGraphicFramePr>
        <p:xfrm>
          <a:off x="340792" y="1626220"/>
          <a:ext cx="11508827" cy="3788664"/>
        </p:xfrm>
        <a:graphic>
          <a:graphicData uri="http://schemas.openxmlformats.org/drawingml/2006/table">
            <a:tbl>
              <a:tblPr firstRow="1" bandRow="1"/>
              <a:tblGrid>
                <a:gridCol w="5540375">
                  <a:extLst>
                    <a:ext uri="{9D8B030D-6E8A-4147-A177-3AD203B41FA5}">
                      <a16:colId xmlns:a16="http://schemas.microsoft.com/office/drawing/2014/main" val="1151795051"/>
                    </a:ext>
                  </a:extLst>
                </a:gridCol>
                <a:gridCol w="2984226">
                  <a:extLst>
                    <a:ext uri="{9D8B030D-6E8A-4147-A177-3AD203B41FA5}">
                      <a16:colId xmlns:a16="http://schemas.microsoft.com/office/drawing/2014/main" val="866266067"/>
                    </a:ext>
                  </a:extLst>
                </a:gridCol>
                <a:gridCol w="2984226">
                  <a:extLst>
                    <a:ext uri="{9D8B030D-6E8A-4147-A177-3AD203B41FA5}">
                      <a16:colId xmlns:a16="http://schemas.microsoft.com/office/drawing/2014/main" val="907139783"/>
                    </a:ext>
                  </a:extLst>
                </a:gridCol>
              </a:tblGrid>
              <a:tr h="569976">
                <a:tc>
                  <a:txBody>
                    <a:bodyPr/>
                    <a:lstStyle/>
                    <a:p>
                      <a:endParaRPr lang="en-US" sz="3300">
                        <a:solidFill>
                          <a:srgbClr val="003366"/>
                        </a:solidFill>
                        <a:effectLst/>
                        <a:latin typeface="Helvetica" pitchFamily="2" charset="0"/>
                      </a:endParaRPr>
                    </a:p>
                  </a:txBody>
                  <a:tcPr marL="87313" marR="87313"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7620" cap="flat" cmpd="sng" algn="ctr">
                      <a:solidFill>
                        <a:srgbClr val="008080"/>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r>
                        <a:rPr lang="en-US" sz="3300" b="1">
                          <a:solidFill>
                            <a:srgbClr val="003366"/>
                          </a:solidFill>
                          <a:effectLst/>
                          <a:latin typeface="Helvetica" pitchFamily="2" charset="0"/>
                        </a:rPr>
                        <a:t>Percentile</a:t>
                      </a:r>
                      <a:endParaRPr lang="en-US" sz="3300">
                        <a:solidFill>
                          <a:srgbClr val="003366"/>
                        </a:solidFill>
                        <a:effectLst/>
                        <a:latin typeface="Helvetica" pitchFamily="2" charset="0"/>
                      </a:endParaRPr>
                    </a:p>
                  </a:txBody>
                  <a:tcPr marL="87313" marR="87313"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7620" cap="flat" cmpd="sng" algn="ctr">
                      <a:solidFill>
                        <a:srgbClr val="008080"/>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r>
                        <a:rPr lang="en-US" sz="3300" b="1">
                          <a:solidFill>
                            <a:srgbClr val="003366"/>
                          </a:solidFill>
                          <a:effectLst/>
                          <a:latin typeface="Helvetica" pitchFamily="2" charset="0"/>
                        </a:rPr>
                        <a:t>Stretch</a:t>
                      </a:r>
                    </a:p>
                  </a:txBody>
                  <a:tcPr marL="87313" marR="87313"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7620" cap="flat" cmpd="sng" algn="ctr">
                      <a:solidFill>
                        <a:srgbClr val="008080"/>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0156692"/>
                  </a:ext>
                </a:extLst>
              </a:tr>
              <a:tr h="1072896">
                <a:tc>
                  <a:txBody>
                    <a:bodyPr/>
                    <a:lstStyle/>
                    <a:p>
                      <a:r>
                        <a:rPr lang="en-US" sz="3300">
                          <a:solidFill>
                            <a:srgbClr val="003366"/>
                          </a:solidFill>
                          <a:effectLst/>
                          <a:latin typeface="Helvetica" pitchFamily="2" charset="0"/>
                        </a:rPr>
                        <a:t>Mean cum. doc2vec Error</a:t>
                      </a:r>
                    </a:p>
                  </a:txBody>
                  <a:tcPr marL="87313" marR="87313"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CCFFFF"/>
                    </a:solidFill>
                  </a:tcPr>
                </a:tc>
                <a:tc>
                  <a:txBody>
                    <a:bodyPr/>
                    <a:lstStyle/>
                    <a:p>
                      <a:pPr algn="r"/>
                      <a:r>
                        <a:rPr lang="en-US" sz="3300">
                          <a:solidFill>
                            <a:srgbClr val="003366"/>
                          </a:solidFill>
                          <a:effectLst/>
                          <a:latin typeface="Helvetica" pitchFamily="2" charset="0"/>
                        </a:rPr>
                        <a:t>1.14</a:t>
                      </a:r>
                    </a:p>
                  </a:txBody>
                  <a:tcPr marL="87313" marR="87313"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CCFFFF"/>
                    </a:solidFill>
                  </a:tcPr>
                </a:tc>
                <a:tc>
                  <a:txBody>
                    <a:bodyPr/>
                    <a:lstStyle/>
                    <a:p>
                      <a:pPr algn="r"/>
                      <a:r>
                        <a:rPr lang="en-US" sz="3300">
                          <a:solidFill>
                            <a:srgbClr val="003366"/>
                          </a:solidFill>
                          <a:effectLst/>
                          <a:latin typeface="Helvetica" pitchFamily="2" charset="0"/>
                        </a:rPr>
                        <a:t>1.0</a:t>
                      </a:r>
                    </a:p>
                  </a:txBody>
                  <a:tcPr marL="87313" marR="87313"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CCFFFF"/>
                    </a:solidFill>
                  </a:tcPr>
                </a:tc>
                <a:extLst>
                  <a:ext uri="{0D108BD9-81ED-4DB2-BD59-A6C34878D82A}">
                    <a16:rowId xmlns:a16="http://schemas.microsoft.com/office/drawing/2014/main" val="708890883"/>
                  </a:ext>
                </a:extLst>
              </a:tr>
              <a:tr h="1072896">
                <a:tc>
                  <a:txBody>
                    <a:bodyPr/>
                    <a:lstStyle/>
                    <a:p>
                      <a:r>
                        <a:rPr lang="en-US" sz="3300">
                          <a:solidFill>
                            <a:srgbClr val="003366"/>
                          </a:solidFill>
                          <a:effectLst/>
                          <a:latin typeface="Helvetica" pitchFamily="2" charset="0"/>
                        </a:rPr>
                        <a:t>Mean cum. Fine-tuned GPT-4o Error</a:t>
                      </a:r>
                    </a:p>
                  </a:txBody>
                  <a:tcPr marL="87313" marR="87313"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r"/>
                      <a:r>
                        <a:rPr lang="en-US" sz="3300">
                          <a:solidFill>
                            <a:srgbClr val="003366"/>
                          </a:solidFill>
                          <a:effectLst/>
                          <a:latin typeface="Helvetica" pitchFamily="2" charset="0"/>
                        </a:rPr>
                        <a:t>0.78</a:t>
                      </a:r>
                    </a:p>
                  </a:txBody>
                  <a:tcPr marL="87313" marR="87313"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r"/>
                      <a:r>
                        <a:rPr lang="en-US" sz="3300">
                          <a:solidFill>
                            <a:srgbClr val="003366"/>
                          </a:solidFill>
                          <a:effectLst/>
                          <a:latin typeface="Helvetica" pitchFamily="2" charset="0"/>
                        </a:rPr>
                        <a:t>0.46</a:t>
                      </a:r>
                    </a:p>
                  </a:txBody>
                  <a:tcPr marL="87313" marR="87313"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253716846"/>
                  </a:ext>
                </a:extLst>
              </a:tr>
              <a:tr h="1072896">
                <a:tc>
                  <a:txBody>
                    <a:bodyPr/>
                    <a:lstStyle/>
                    <a:p>
                      <a:r>
                        <a:rPr lang="en-US" sz="3300">
                          <a:solidFill>
                            <a:srgbClr val="003366"/>
                          </a:solidFill>
                          <a:effectLst/>
                          <a:latin typeface="Helvetica" pitchFamily="2" charset="0"/>
                        </a:rPr>
                        <a:t>Drop in Error for finetuned model</a:t>
                      </a:r>
                    </a:p>
                  </a:txBody>
                  <a:tcPr marL="87313" marR="87313"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7620" cap="flat" cmpd="sng" algn="ctr">
                      <a:solidFill>
                        <a:srgbClr val="008080"/>
                      </a:solidFill>
                      <a:prstDash val="solid"/>
                      <a:round/>
                      <a:headEnd type="none" w="med" len="med"/>
                      <a:tailEnd type="none" w="med" len="med"/>
                    </a:lnB>
                    <a:solidFill>
                      <a:srgbClr val="CCFFFF"/>
                    </a:solidFill>
                  </a:tcPr>
                </a:tc>
                <a:tc>
                  <a:txBody>
                    <a:bodyPr/>
                    <a:lstStyle/>
                    <a:p>
                      <a:pPr algn="r"/>
                      <a:r>
                        <a:rPr lang="en-US" sz="3300">
                          <a:solidFill>
                            <a:srgbClr val="003366"/>
                          </a:solidFill>
                          <a:effectLst/>
                          <a:latin typeface="Helvetica" pitchFamily="2" charset="0"/>
                        </a:rPr>
                        <a:t>31.78%</a:t>
                      </a:r>
                    </a:p>
                  </a:txBody>
                  <a:tcPr marL="87313" marR="87313"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7620" cap="flat" cmpd="sng" algn="ctr">
                      <a:solidFill>
                        <a:srgbClr val="008080"/>
                      </a:solidFill>
                      <a:prstDash val="solid"/>
                      <a:round/>
                      <a:headEnd type="none" w="med" len="med"/>
                      <a:tailEnd type="none" w="med" len="med"/>
                    </a:lnB>
                    <a:solidFill>
                      <a:srgbClr val="CCFFFF"/>
                    </a:solidFill>
                  </a:tcPr>
                </a:tc>
                <a:tc>
                  <a:txBody>
                    <a:bodyPr/>
                    <a:lstStyle/>
                    <a:p>
                      <a:pPr algn="r"/>
                      <a:r>
                        <a:rPr lang="en-US" sz="3300">
                          <a:solidFill>
                            <a:srgbClr val="003366"/>
                          </a:solidFill>
                          <a:effectLst/>
                          <a:latin typeface="Helvetica" pitchFamily="2" charset="0"/>
                        </a:rPr>
                        <a:t>54.22%</a:t>
                      </a:r>
                    </a:p>
                  </a:txBody>
                  <a:tcPr marL="87313" marR="87313" marT="0" marB="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7620" cap="flat" cmpd="sng" algn="ctr">
                      <a:solidFill>
                        <a:srgbClr val="008080"/>
                      </a:solidFill>
                      <a:prstDash val="solid"/>
                      <a:round/>
                      <a:headEnd type="none" w="med" len="med"/>
                      <a:tailEnd type="none" w="med" len="med"/>
                    </a:lnB>
                    <a:solidFill>
                      <a:srgbClr val="CCFFFF"/>
                    </a:solidFill>
                  </a:tcPr>
                </a:tc>
                <a:extLst>
                  <a:ext uri="{0D108BD9-81ED-4DB2-BD59-A6C34878D82A}">
                    <a16:rowId xmlns:a16="http://schemas.microsoft.com/office/drawing/2014/main" val="2067031146"/>
                  </a:ext>
                </a:extLst>
              </a:tr>
            </a:tbl>
          </a:graphicData>
        </a:graphic>
      </p:graphicFrame>
    </p:spTree>
    <p:extLst>
      <p:ext uri="{BB962C8B-B14F-4D97-AF65-F5344CB8AC3E}">
        <p14:creationId xmlns:p14="http://schemas.microsoft.com/office/powerpoint/2010/main" val="20734247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B039C-96E1-9A44-065F-1465494B81E1}"/>
            </a:ext>
          </a:extLst>
        </p:cNvPr>
        <p:cNvGrpSpPr/>
        <p:nvPr/>
      </p:nvGrpSpPr>
      <p:grpSpPr>
        <a:xfrm>
          <a:off x="0" y="0"/>
          <a:ext cx="0" cy="0"/>
          <a:chOff x="0" y="0"/>
          <a:chExt cx="0" cy="0"/>
        </a:xfrm>
      </p:grpSpPr>
      <p:sp>
        <p:nvSpPr>
          <p:cNvPr id="3" name="!!2">
            <a:extLst>
              <a:ext uri="{FF2B5EF4-FFF2-40B4-BE49-F238E27FC236}">
                <a16:creationId xmlns:a16="http://schemas.microsoft.com/office/drawing/2014/main" id="{7BA1FDB7-E99B-EF27-7749-811D2AD3F03D}"/>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a:t>
            </a:r>
            <a:br>
              <a:rPr lang="en-US" sz="4000">
                <a:latin typeface="Arial" panose="020B0604020202020204" pitchFamily="34" charset="0"/>
                <a:cs typeface="Arial" panose="020B0604020202020204" pitchFamily="34" charset="0"/>
              </a:rPr>
            </a:br>
            <a:endParaRPr lang="en-US" sz="4000"/>
          </a:p>
        </p:txBody>
      </p:sp>
      <p:sp>
        <p:nvSpPr>
          <p:cNvPr id="4" name="Slide Number Placeholder 3">
            <a:extLst>
              <a:ext uri="{FF2B5EF4-FFF2-40B4-BE49-F238E27FC236}">
                <a16:creationId xmlns:a16="http://schemas.microsoft.com/office/drawing/2014/main" id="{4EB74251-5A53-10F0-7700-1213D93673B0}"/>
              </a:ext>
            </a:extLst>
          </p:cNvPr>
          <p:cNvSpPr>
            <a:spLocks noGrp="1"/>
          </p:cNvSpPr>
          <p:nvPr>
            <p:ph type="sldNum" sz="quarter" idx="10"/>
          </p:nvPr>
        </p:nvSpPr>
        <p:spPr/>
        <p:txBody>
          <a:bodyPr/>
          <a:lstStyle/>
          <a:p>
            <a:fld id="{FC2EED17-1836-6142-A4B1-ABB9C7C22E41}" type="slidenum">
              <a:rPr lang="en-US" smtClean="0"/>
              <a:pPr/>
              <a:t>102</a:t>
            </a:fld>
            <a:endParaRPr lang="en-US"/>
          </a:p>
        </p:txBody>
      </p:sp>
      <p:pic>
        <p:nvPicPr>
          <p:cNvPr id="6" name="Picture 5" descr="A diagram of blue dots&#10;&#10;Description automatically generated">
            <a:extLst>
              <a:ext uri="{FF2B5EF4-FFF2-40B4-BE49-F238E27FC236}">
                <a16:creationId xmlns:a16="http://schemas.microsoft.com/office/drawing/2014/main" id="{79885EE8-FEED-5653-36FF-E6A3442CCE2F}"/>
              </a:ext>
            </a:extLst>
          </p:cNvPr>
          <p:cNvPicPr>
            <a:picLocks noChangeAspect="1"/>
          </p:cNvPicPr>
          <p:nvPr/>
        </p:nvPicPr>
        <p:blipFill>
          <a:blip r:embed="rId3"/>
          <a:stretch>
            <a:fillRect/>
          </a:stretch>
        </p:blipFill>
        <p:spPr>
          <a:xfrm>
            <a:off x="6194213" y="1340134"/>
            <a:ext cx="5884131" cy="4177732"/>
          </a:xfrm>
          <a:prstGeom prst="rect">
            <a:avLst/>
          </a:prstGeom>
        </p:spPr>
      </p:pic>
      <p:pic>
        <p:nvPicPr>
          <p:cNvPr id="2" name="Content Placeholder 3" descr="A graph with blue dots&#10;&#10;Description automatically generated">
            <a:extLst>
              <a:ext uri="{FF2B5EF4-FFF2-40B4-BE49-F238E27FC236}">
                <a16:creationId xmlns:a16="http://schemas.microsoft.com/office/drawing/2014/main" id="{57CF4DD4-1C37-0C45-135F-F881F99AB827}"/>
              </a:ext>
            </a:extLst>
          </p:cNvPr>
          <p:cNvPicPr>
            <a:picLocks noGrp="1" noChangeAspect="1"/>
          </p:cNvPicPr>
          <p:nvPr>
            <p:ph idx="1"/>
          </p:nvPr>
        </p:nvPicPr>
        <p:blipFill>
          <a:blip r:embed="rId4"/>
          <a:stretch>
            <a:fillRect/>
          </a:stretch>
        </p:blipFill>
        <p:spPr>
          <a:xfrm>
            <a:off x="89403" y="1327353"/>
            <a:ext cx="5908386" cy="4165411"/>
          </a:xfrm>
          <a:prstGeom prst="rect">
            <a:avLst/>
          </a:prstGeom>
        </p:spPr>
      </p:pic>
    </p:spTree>
    <p:extLst>
      <p:ext uri="{BB962C8B-B14F-4D97-AF65-F5344CB8AC3E}">
        <p14:creationId xmlns:p14="http://schemas.microsoft.com/office/powerpoint/2010/main" val="24065547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400D9-A553-45A5-F61E-57D9BD6D536B}"/>
            </a:ext>
          </a:extLst>
        </p:cNvPr>
        <p:cNvGrpSpPr/>
        <p:nvPr/>
      </p:nvGrpSpPr>
      <p:grpSpPr>
        <a:xfrm>
          <a:off x="0" y="0"/>
          <a:ext cx="0" cy="0"/>
          <a:chOff x="0" y="0"/>
          <a:chExt cx="0" cy="0"/>
        </a:xfrm>
      </p:grpSpPr>
      <p:sp>
        <p:nvSpPr>
          <p:cNvPr id="3" name="!!2">
            <a:extLst>
              <a:ext uri="{FF2B5EF4-FFF2-40B4-BE49-F238E27FC236}">
                <a16:creationId xmlns:a16="http://schemas.microsoft.com/office/drawing/2014/main" id="{1E87ECC6-1194-5A9C-742F-CACE4A4ACA0E}"/>
              </a:ext>
            </a:extLst>
          </p:cNvPr>
          <p:cNvSpPr>
            <a:spLocks noGrp="1"/>
          </p:cNvSpPr>
          <p:nvPr>
            <p:ph type="title"/>
          </p:nvPr>
        </p:nvSpPr>
        <p:spPr>
          <a:xfrm>
            <a:off x="519248" y="228601"/>
            <a:ext cx="11151917" cy="1111073"/>
          </a:xfrm>
        </p:spPr>
        <p:txBody>
          <a:bodyPr/>
          <a:lstStyle/>
          <a:p>
            <a:r>
              <a:rPr lang="en-US" sz="4000">
                <a:latin typeface="Arial" panose="020B0604020202020204" pitchFamily="34" charset="0"/>
                <a:cs typeface="Arial" panose="020B0604020202020204" pitchFamily="34" charset="0"/>
              </a:rPr>
              <a:t>Fine-tuned LLM</a:t>
            </a:r>
            <a:br>
              <a:rPr lang="en-US" sz="4000">
                <a:latin typeface="Arial" panose="020B0604020202020204" pitchFamily="34" charset="0"/>
                <a:cs typeface="Arial" panose="020B0604020202020204" pitchFamily="34" charset="0"/>
              </a:rPr>
            </a:br>
            <a:endParaRPr lang="en-US" sz="4000"/>
          </a:p>
        </p:txBody>
      </p:sp>
      <p:sp>
        <p:nvSpPr>
          <p:cNvPr id="4" name="Slide Number Placeholder 3">
            <a:extLst>
              <a:ext uri="{FF2B5EF4-FFF2-40B4-BE49-F238E27FC236}">
                <a16:creationId xmlns:a16="http://schemas.microsoft.com/office/drawing/2014/main" id="{624F4BA8-71CB-0889-B6B0-BB976622E9BB}"/>
              </a:ext>
            </a:extLst>
          </p:cNvPr>
          <p:cNvSpPr>
            <a:spLocks noGrp="1"/>
          </p:cNvSpPr>
          <p:nvPr>
            <p:ph type="sldNum" sz="quarter" idx="10"/>
          </p:nvPr>
        </p:nvSpPr>
        <p:spPr/>
        <p:txBody>
          <a:bodyPr/>
          <a:lstStyle/>
          <a:p>
            <a:fld id="{FC2EED17-1836-6142-A4B1-ABB9C7C22E41}" type="slidenum">
              <a:rPr lang="en-US" smtClean="0"/>
              <a:pPr/>
              <a:t>103</a:t>
            </a:fld>
            <a:endParaRPr lang="en-US"/>
          </a:p>
        </p:txBody>
      </p:sp>
      <p:pic>
        <p:nvPicPr>
          <p:cNvPr id="9" name="Picture 8">
            <a:extLst>
              <a:ext uri="{FF2B5EF4-FFF2-40B4-BE49-F238E27FC236}">
                <a16:creationId xmlns:a16="http://schemas.microsoft.com/office/drawing/2014/main" id="{82E80316-A135-39BE-C038-088BC7E574CF}"/>
              </a:ext>
            </a:extLst>
          </p:cNvPr>
          <p:cNvPicPr>
            <a:picLocks noChangeAspect="1"/>
          </p:cNvPicPr>
          <p:nvPr/>
        </p:nvPicPr>
        <p:blipFill>
          <a:blip r:embed="rId3"/>
          <a:stretch>
            <a:fillRect/>
          </a:stretch>
        </p:blipFill>
        <p:spPr>
          <a:xfrm>
            <a:off x="2209006" y="892933"/>
            <a:ext cx="7772400" cy="5724682"/>
          </a:xfrm>
          <a:prstGeom prst="rect">
            <a:avLst/>
          </a:prstGeom>
        </p:spPr>
      </p:pic>
    </p:spTree>
    <p:extLst>
      <p:ext uri="{BB962C8B-B14F-4D97-AF65-F5344CB8AC3E}">
        <p14:creationId xmlns:p14="http://schemas.microsoft.com/office/powerpoint/2010/main" val="9938840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09130-CF40-35F3-A510-2C730AB7006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D41FC0-4D7E-9B32-179E-D6E848ACD505}"/>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104</a:t>
            </a:fld>
            <a:endParaRPr lang="en-US">
              <a:solidFill>
                <a:srgbClr val="000000"/>
              </a:solidFill>
              <a:latin typeface="Segoe UI"/>
            </a:endParaRPr>
          </a:p>
        </p:txBody>
      </p:sp>
      <p:sp>
        <p:nvSpPr>
          <p:cNvPr id="19" name="!!5">
            <a:extLst>
              <a:ext uri="{FF2B5EF4-FFF2-40B4-BE49-F238E27FC236}">
                <a16:creationId xmlns:a16="http://schemas.microsoft.com/office/drawing/2014/main" id="{1856F6CB-9B44-FD04-0514-A4087F9F1191}"/>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 Similarity Models</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5" name="!!1">
            <a:extLst>
              <a:ext uri="{FF2B5EF4-FFF2-40B4-BE49-F238E27FC236}">
                <a16:creationId xmlns:a16="http://schemas.microsoft.com/office/drawing/2014/main" id="{B14CCE45-905D-66B5-B470-8A50E7DB6EFD}"/>
              </a:ext>
            </a:extLst>
          </p:cNvPr>
          <p:cNvSpPr/>
          <p:nvPr/>
        </p:nvSpPr>
        <p:spPr bwMode="auto">
          <a:xfrm>
            <a:off x="2484319" y="1747524"/>
            <a:ext cx="7069412" cy="1100237"/>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a:solidFill>
                  <a:srgbClr val="13409F"/>
                </a:solidFill>
                <a:latin typeface="Arial" panose="020B0604020202020204" pitchFamily="34" charset="0"/>
                <a:cs typeface="Arial" panose="020B0604020202020204" pitchFamily="34" charset="0"/>
              </a:rPr>
              <a:t>Doc2Vec</a:t>
            </a:r>
          </a:p>
        </p:txBody>
      </p:sp>
      <p:sp>
        <p:nvSpPr>
          <p:cNvPr id="7" name="!!2">
            <a:extLst>
              <a:ext uri="{FF2B5EF4-FFF2-40B4-BE49-F238E27FC236}">
                <a16:creationId xmlns:a16="http://schemas.microsoft.com/office/drawing/2014/main" id="{D966FF1C-4862-6248-CC69-1C374FADA641}"/>
              </a:ext>
            </a:extLst>
          </p:cNvPr>
          <p:cNvSpPr/>
          <p:nvPr/>
        </p:nvSpPr>
        <p:spPr bwMode="auto">
          <a:xfrm>
            <a:off x="2484319" y="3578956"/>
            <a:ext cx="7069412" cy="1100237"/>
          </a:xfrm>
          <a:prstGeom prst="roundRect">
            <a:avLst>
              <a:gd name="adj" fmla="val 17420"/>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b="1">
                <a:solidFill>
                  <a:srgbClr val="13409F"/>
                </a:solidFill>
                <a:latin typeface="Arial" panose="020B0604020202020204" pitchFamily="34" charset="0"/>
                <a:cs typeface="Arial" panose="020B0604020202020204" pitchFamily="34" charset="0"/>
              </a:rPr>
              <a:t>Fine-tuned LLM</a:t>
            </a:r>
          </a:p>
        </p:txBody>
      </p:sp>
    </p:spTree>
    <p:extLst>
      <p:ext uri="{BB962C8B-B14F-4D97-AF65-F5344CB8AC3E}">
        <p14:creationId xmlns:p14="http://schemas.microsoft.com/office/powerpoint/2010/main" val="4215327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C8D64-B38E-FA27-A753-578C3E6C237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C6002D-F815-7D33-847D-0D36C9F6445D}"/>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105</a:t>
            </a:fld>
            <a:endParaRPr lang="en-US">
              <a:solidFill>
                <a:srgbClr val="000000"/>
              </a:solidFill>
              <a:latin typeface="Segoe UI"/>
            </a:endParaRPr>
          </a:p>
        </p:txBody>
      </p:sp>
      <p:sp>
        <p:nvSpPr>
          <p:cNvPr id="19" name="!!5">
            <a:extLst>
              <a:ext uri="{FF2B5EF4-FFF2-40B4-BE49-F238E27FC236}">
                <a16:creationId xmlns:a16="http://schemas.microsoft.com/office/drawing/2014/main" id="{3AC6740B-E07E-4D5A-C2B7-32C60BD78EB9}"/>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4000" b="1">
                <a:solidFill>
                  <a:srgbClr val="1B4C9C"/>
                </a:solidFill>
                <a:latin typeface="Arial" panose="020B0604020202020204" pitchFamily="34" charset="0"/>
                <a:cs typeface="Arial" panose="020B0604020202020204" pitchFamily="34" charset="0"/>
              </a:rPr>
              <a:t>Trait Similarity Models</a:t>
            </a:r>
            <a:endParaRPr lang="en-US" sz="4000" b="1" spc="-67">
              <a:solidFill>
                <a:srgbClr val="1B4C9C"/>
              </a:solidFill>
              <a:latin typeface="Arial" panose="020B0604020202020204" pitchFamily="34" charset="0"/>
              <a:ea typeface="Segoe UI" pitchFamily="34" charset="0"/>
              <a:cs typeface="Arial" panose="020B0604020202020204" pitchFamily="34" charset="0"/>
            </a:endParaRPr>
          </a:p>
        </p:txBody>
      </p:sp>
      <p:sp>
        <p:nvSpPr>
          <p:cNvPr id="2" name="Rounded Rectangle 1">
            <a:extLst>
              <a:ext uri="{FF2B5EF4-FFF2-40B4-BE49-F238E27FC236}">
                <a16:creationId xmlns:a16="http://schemas.microsoft.com/office/drawing/2014/main" id="{7EC87A5F-B0F0-9513-30A7-5FFB8A650279}"/>
              </a:ext>
            </a:extLst>
          </p:cNvPr>
          <p:cNvSpPr/>
          <p:nvPr/>
        </p:nvSpPr>
        <p:spPr bwMode="auto">
          <a:xfrm>
            <a:off x="1448836" y="3359426"/>
            <a:ext cx="9179407" cy="673821"/>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Display superior semantic understanding than Doc2Vec</a:t>
            </a:r>
          </a:p>
        </p:txBody>
      </p:sp>
      <p:sp>
        <p:nvSpPr>
          <p:cNvPr id="11" name="Rounded Rectangle 10">
            <a:extLst>
              <a:ext uri="{FF2B5EF4-FFF2-40B4-BE49-F238E27FC236}">
                <a16:creationId xmlns:a16="http://schemas.microsoft.com/office/drawing/2014/main" id="{C0CFBA49-C638-4E5D-380E-EC921B17AE74}"/>
              </a:ext>
            </a:extLst>
          </p:cNvPr>
          <p:cNvSpPr/>
          <p:nvPr/>
        </p:nvSpPr>
        <p:spPr bwMode="auto">
          <a:xfrm>
            <a:off x="1448836" y="2345709"/>
            <a:ext cx="6607036" cy="673821"/>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Learn the annotators' scoring behavior</a:t>
            </a:r>
          </a:p>
        </p:txBody>
      </p:sp>
      <p:sp>
        <p:nvSpPr>
          <p:cNvPr id="3" name="Rounded Rectangle 2">
            <a:extLst>
              <a:ext uri="{FF2B5EF4-FFF2-40B4-BE49-F238E27FC236}">
                <a16:creationId xmlns:a16="http://schemas.microsoft.com/office/drawing/2014/main" id="{EBCA499B-3106-AF99-F206-EC5E5795AB16}"/>
              </a:ext>
            </a:extLst>
          </p:cNvPr>
          <p:cNvSpPr/>
          <p:nvPr/>
        </p:nvSpPr>
        <p:spPr bwMode="auto">
          <a:xfrm>
            <a:off x="832610" y="1175307"/>
            <a:ext cx="3919744" cy="673821"/>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a:solidFill>
                  <a:schemeClr val="tx1"/>
                </a:solidFill>
                <a:latin typeface="Arial" panose="020B0604020202020204" pitchFamily="34" charset="0"/>
                <a:cs typeface="Arial" panose="020B0604020202020204" pitchFamily="34" charset="0"/>
              </a:rPr>
              <a:t>Fine-tuned LLMs can:</a:t>
            </a:r>
          </a:p>
        </p:txBody>
      </p:sp>
    </p:spTree>
    <p:extLst>
      <p:ext uri="{BB962C8B-B14F-4D97-AF65-F5344CB8AC3E}">
        <p14:creationId xmlns:p14="http://schemas.microsoft.com/office/powerpoint/2010/main" val="31155129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2D5EE-1663-85F5-1EA8-52F2BF2871BC}"/>
            </a:ext>
          </a:extLst>
        </p:cNvPr>
        <p:cNvGrpSpPr/>
        <p:nvPr/>
      </p:nvGrpSpPr>
      <p:grpSpPr>
        <a:xfrm>
          <a:off x="0" y="0"/>
          <a:ext cx="0" cy="0"/>
          <a:chOff x="0" y="0"/>
          <a:chExt cx="0" cy="0"/>
        </a:xfrm>
      </p:grpSpPr>
      <p:sp>
        <p:nvSpPr>
          <p:cNvPr id="13" name="Title 2">
            <a:extLst>
              <a:ext uri="{FF2B5EF4-FFF2-40B4-BE49-F238E27FC236}">
                <a16:creationId xmlns:a16="http://schemas.microsoft.com/office/drawing/2014/main" id="{98E2CFE1-213D-6443-B65B-277497A1DF79}"/>
              </a:ext>
            </a:extLst>
          </p:cNvPr>
          <p:cNvSpPr>
            <a:spLocks noGrp="1"/>
          </p:cNvSpPr>
          <p:nvPr>
            <p:ph type="title"/>
          </p:nvPr>
        </p:nvSpPr>
        <p:spPr>
          <a:xfrm>
            <a:off x="217117" y="69643"/>
            <a:ext cx="10571968" cy="963668"/>
          </a:xfrm>
        </p:spPr>
        <p:txBody>
          <a:bodyPr vert="horz" wrap="square" lIns="121920" tIns="60960" rIns="121920" bIns="60960" rtlCol="0" anchor="ctr" anchorCtr="0">
            <a:normAutofit/>
          </a:bodyPr>
          <a:lstStyle/>
          <a:p>
            <a:r>
              <a:rPr lang="en-US" altLang="zh-CN" sz="4000"/>
              <a:t>Outline</a:t>
            </a:r>
            <a:endParaRPr lang="en-US" sz="4000">
              <a:latin typeface="Open Sans" panose="020B0606030504020204" pitchFamily="34" charset="0"/>
            </a:endParaRPr>
          </a:p>
        </p:txBody>
      </p:sp>
      <p:sp>
        <p:nvSpPr>
          <p:cNvPr id="4" name="Slide Number Placeholder 3">
            <a:extLst>
              <a:ext uri="{FF2B5EF4-FFF2-40B4-BE49-F238E27FC236}">
                <a16:creationId xmlns:a16="http://schemas.microsoft.com/office/drawing/2014/main" id="{EF5106B9-DCF6-915C-BEF9-EACEEC9172C1}"/>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106</a:t>
            </a:fld>
            <a:endParaRPr lang="en-US">
              <a:solidFill>
                <a:srgbClr val="000000"/>
              </a:solidFill>
              <a:latin typeface="Segoe UI"/>
            </a:endParaRPr>
          </a:p>
        </p:txBody>
      </p:sp>
      <p:sp>
        <p:nvSpPr>
          <p:cNvPr id="8" name="!!1">
            <a:extLst>
              <a:ext uri="{FF2B5EF4-FFF2-40B4-BE49-F238E27FC236}">
                <a16:creationId xmlns:a16="http://schemas.microsoft.com/office/drawing/2014/main" id="{4C874FBB-F1CF-FE0B-FE71-E69037010856}"/>
              </a:ext>
            </a:extLst>
          </p:cNvPr>
          <p:cNvSpPr/>
          <p:nvPr/>
        </p:nvSpPr>
        <p:spPr bwMode="auto">
          <a:xfrm>
            <a:off x="342205" y="1381773"/>
            <a:ext cx="5394344"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1. Self-Introduction</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0" name="Rounded Rectangle 9">
            <a:extLst>
              <a:ext uri="{FF2B5EF4-FFF2-40B4-BE49-F238E27FC236}">
                <a16:creationId xmlns:a16="http://schemas.microsoft.com/office/drawing/2014/main" id="{B4745EF8-0328-C48E-0A52-0F21DFE9CBA8}"/>
              </a:ext>
            </a:extLst>
          </p:cNvPr>
          <p:cNvSpPr/>
          <p:nvPr/>
        </p:nvSpPr>
        <p:spPr bwMode="auto">
          <a:xfrm>
            <a:off x="342205" y="3772184"/>
            <a:ext cx="5394356"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dirty="0">
                <a:solidFill>
                  <a:srgbClr val="1B4C9C">
                    <a:alpha val="16000"/>
                  </a:srgbClr>
                </a:solidFill>
                <a:latin typeface="Arial" panose="020B0604020202020204" pitchFamily="34" charset="0"/>
                <a:cs typeface="Arial" panose="020B0604020202020204" pitchFamily="34" charset="0"/>
              </a:rPr>
              <a:t>3. Biological Evidence Data</a:t>
            </a:r>
            <a:endParaRPr lang="en-US" sz="2800" dirty="0">
              <a:solidFill>
                <a:srgbClr val="1B4C9C">
                  <a:alpha val="16000"/>
                </a:srgbClr>
              </a:solidFill>
              <a:latin typeface="Arial" panose="020B0604020202020204" pitchFamily="34" charset="0"/>
              <a:cs typeface="Arial" panose="020B0604020202020204" pitchFamily="34" charset="0"/>
            </a:endParaRPr>
          </a:p>
        </p:txBody>
      </p:sp>
      <p:sp>
        <p:nvSpPr>
          <p:cNvPr id="11" name="Rounded Rectangle 10">
            <a:extLst>
              <a:ext uri="{FF2B5EF4-FFF2-40B4-BE49-F238E27FC236}">
                <a16:creationId xmlns:a16="http://schemas.microsoft.com/office/drawing/2014/main" id="{7DE3E955-9D42-214E-9CA2-0C68F45A0727}"/>
              </a:ext>
            </a:extLst>
          </p:cNvPr>
          <p:cNvSpPr/>
          <p:nvPr/>
        </p:nvSpPr>
        <p:spPr bwMode="auto">
          <a:xfrm>
            <a:off x="342213" y="4925510"/>
            <a:ext cx="539435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4. Trait-Gene Association Graph</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7294B9F7-1E8C-1789-DF4D-7C315BAFDCF5}"/>
              </a:ext>
            </a:extLst>
          </p:cNvPr>
          <p:cNvSpPr/>
          <p:nvPr/>
        </p:nvSpPr>
        <p:spPr bwMode="auto">
          <a:xfrm>
            <a:off x="6455421" y="1388487"/>
            <a:ext cx="5387997" cy="849648"/>
          </a:xfrm>
          <a:prstGeom prst="roundRect">
            <a:avLst>
              <a:gd name="adj" fmla="val 20246"/>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5. Gene Ranking Models</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5" name="!!7">
            <a:extLst>
              <a:ext uri="{FF2B5EF4-FFF2-40B4-BE49-F238E27FC236}">
                <a16:creationId xmlns:a16="http://schemas.microsoft.com/office/drawing/2014/main" id="{EFBAA7A8-0533-B856-BBAB-47C928EEFAF4}"/>
              </a:ext>
            </a:extLst>
          </p:cNvPr>
          <p:cNvSpPr/>
          <p:nvPr/>
        </p:nvSpPr>
        <p:spPr bwMode="auto">
          <a:xfrm>
            <a:off x="6461788" y="3772184"/>
            <a:ext cx="5387995"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b="1">
                <a:solidFill>
                  <a:srgbClr val="1B4C9C"/>
                </a:solidFill>
                <a:latin typeface="Arial" panose="020B0604020202020204" pitchFamily="34" charset="0"/>
                <a:cs typeface="Arial" panose="020B0604020202020204" pitchFamily="34" charset="0"/>
              </a:rPr>
              <a:t>7. Website Live Demo</a:t>
            </a:r>
            <a:endParaRPr lang="en-US" sz="2800" b="1">
              <a:solidFill>
                <a:srgbClr val="1B4C9C"/>
              </a:solidFill>
              <a:latin typeface="Arial" panose="020B0604020202020204" pitchFamily="34" charset="0"/>
              <a:cs typeface="Arial" panose="020B0604020202020204" pitchFamily="34" charset="0"/>
            </a:endParaRPr>
          </a:p>
        </p:txBody>
      </p:sp>
      <p:sp>
        <p:nvSpPr>
          <p:cNvPr id="16" name="Rounded Rectangle 15">
            <a:extLst>
              <a:ext uri="{FF2B5EF4-FFF2-40B4-BE49-F238E27FC236}">
                <a16:creationId xmlns:a16="http://schemas.microsoft.com/office/drawing/2014/main" id="{4A98F6A6-C2EB-1386-22BC-F2EB1C00C8A8}"/>
              </a:ext>
            </a:extLst>
          </p:cNvPr>
          <p:cNvSpPr/>
          <p:nvPr/>
        </p:nvSpPr>
        <p:spPr bwMode="auto">
          <a:xfrm>
            <a:off x="6455431" y="4925510"/>
            <a:ext cx="538798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8. </a:t>
            </a:r>
            <a:r>
              <a:rPr lang="en-US" altLang="zh-CN" sz="2800" dirty="0">
                <a:solidFill>
                  <a:srgbClr val="1B4C9C">
                    <a:alpha val="16000"/>
                  </a:srgbClr>
                </a:solidFill>
                <a:latin typeface="Arial" panose="020B0604020202020204" pitchFamily="34" charset="0"/>
                <a:cs typeface="Arial" panose="020B0604020202020204" pitchFamily="34" charset="0"/>
              </a:rPr>
              <a:t>Conclusions</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9" name="!!5">
            <a:extLst>
              <a:ext uri="{FF2B5EF4-FFF2-40B4-BE49-F238E27FC236}">
                <a16:creationId xmlns:a16="http://schemas.microsoft.com/office/drawing/2014/main" id="{C0F09B7F-0484-24B4-CFC9-19F1C3E19362}"/>
              </a:ext>
            </a:extLst>
          </p:cNvPr>
          <p:cNvSpPr/>
          <p:nvPr/>
        </p:nvSpPr>
        <p:spPr bwMode="auto">
          <a:xfrm>
            <a:off x="6461788" y="2574074"/>
            <a:ext cx="538800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6. Trait Similarity Models</a:t>
            </a:r>
            <a:endParaRPr lang="en-US" sz="2800">
              <a:solidFill>
                <a:srgbClr val="1B4C9C">
                  <a:alpha val="16000"/>
                </a:srgbClr>
              </a:solidFill>
              <a:latin typeface="Arial" panose="020B0604020202020204" pitchFamily="34" charset="0"/>
              <a:cs typeface="Arial" panose="020B0604020202020204" pitchFamily="34" charset="0"/>
            </a:endParaRPr>
          </a:p>
        </p:txBody>
      </p:sp>
      <p:cxnSp>
        <p:nvCxnSpPr>
          <p:cNvPr id="3" name="Straight Connector 2">
            <a:extLst>
              <a:ext uri="{FF2B5EF4-FFF2-40B4-BE49-F238E27FC236}">
                <a16:creationId xmlns:a16="http://schemas.microsoft.com/office/drawing/2014/main" id="{007CF488-0A0B-50F0-5F29-0F3A2A2D0583}"/>
              </a:ext>
            </a:extLst>
          </p:cNvPr>
          <p:cNvCxnSpPr>
            <a:cxnSpLocks/>
          </p:cNvCxnSpPr>
          <p:nvPr/>
        </p:nvCxnSpPr>
        <p:spPr>
          <a:xfrm>
            <a:off x="6096000" y="1384624"/>
            <a:ext cx="0" cy="4449931"/>
          </a:xfrm>
          <a:prstGeom prst="line">
            <a:avLst/>
          </a:prstGeom>
          <a:ln w="38100">
            <a:solidFill>
              <a:srgbClr val="E7E7E7"/>
            </a:solidFill>
          </a:ln>
        </p:spPr>
        <p:style>
          <a:lnRef idx="1">
            <a:schemeClr val="accent1"/>
          </a:lnRef>
          <a:fillRef idx="0">
            <a:schemeClr val="accent1"/>
          </a:fillRef>
          <a:effectRef idx="0">
            <a:schemeClr val="accent1"/>
          </a:effectRef>
          <a:fontRef idx="minor">
            <a:schemeClr val="tx1"/>
          </a:fontRef>
        </p:style>
      </p:cxnSp>
      <p:sp>
        <p:nvSpPr>
          <p:cNvPr id="2" name="Rounded Rectangle 1">
            <a:extLst>
              <a:ext uri="{FF2B5EF4-FFF2-40B4-BE49-F238E27FC236}">
                <a16:creationId xmlns:a16="http://schemas.microsoft.com/office/drawing/2014/main" id="{8FABC7FE-1359-BEF4-EBD2-C50DD5CCC642}"/>
              </a:ext>
            </a:extLst>
          </p:cNvPr>
          <p:cNvSpPr/>
          <p:nvPr/>
        </p:nvSpPr>
        <p:spPr bwMode="auto">
          <a:xfrm>
            <a:off x="342204" y="2574074"/>
            <a:ext cx="5394363"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dirty="0">
                <a:solidFill>
                  <a:srgbClr val="1B4C9C">
                    <a:alpha val="16000"/>
                  </a:srgbClr>
                </a:solidFill>
                <a:latin typeface="Arial" panose="020B0604020202020204" pitchFamily="34" charset="0"/>
                <a:cs typeface="Arial" panose="020B0604020202020204" pitchFamily="34" charset="0"/>
              </a:rPr>
              <a:t>2. </a:t>
            </a:r>
            <a:r>
              <a:rPr lang="en-US" altLang="zh-CN" sz="2800" dirty="0" err="1">
                <a:solidFill>
                  <a:srgbClr val="1B4C9C">
                    <a:alpha val="16000"/>
                  </a:srgbClr>
                </a:solidFill>
                <a:latin typeface="Arial" panose="020B0604020202020204" pitchFamily="34" charset="0"/>
                <a:cs typeface="Arial" panose="020B0604020202020204" pitchFamily="34" charset="0"/>
              </a:rPr>
              <a:t>GeneSieve</a:t>
            </a:r>
            <a:r>
              <a:rPr lang="en-US" altLang="zh-CN" sz="2800" dirty="0">
                <a:solidFill>
                  <a:srgbClr val="1B4C9C">
                    <a:alpha val="16000"/>
                  </a:srgbClr>
                </a:solidFill>
                <a:latin typeface="Arial" panose="020B0604020202020204" pitchFamily="34" charset="0"/>
                <a:cs typeface="Arial" panose="020B0604020202020204" pitchFamily="34" charset="0"/>
              </a:rPr>
              <a:t> Overview</a:t>
            </a:r>
            <a:endParaRPr lang="en-US" sz="2800" spc="-67" dirty="0">
              <a:solidFill>
                <a:srgbClr val="1B4C9C">
                  <a:alpha val="16000"/>
                </a:srgbClr>
              </a:solidFill>
              <a:latin typeface="Arial" panose="020B0604020202020204" pitchFamily="34" charset="0"/>
              <a:ea typeface="Segoe UI" pitchFamily="34" charset="0"/>
              <a:cs typeface="Arial" panose="020B0604020202020204" pitchFamily="34" charset="0"/>
            </a:endParaRPr>
          </a:p>
        </p:txBody>
      </p:sp>
    </p:spTree>
    <p:extLst>
      <p:ext uri="{BB962C8B-B14F-4D97-AF65-F5344CB8AC3E}">
        <p14:creationId xmlns:p14="http://schemas.microsoft.com/office/powerpoint/2010/main" val="1787217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83A22-72E1-6E2D-AD2B-222BA49FD51E}"/>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529DA12-A03A-CCEC-F9A5-7B80CCF009CA}"/>
              </a:ext>
            </a:extLst>
          </p:cNvPr>
          <p:cNvPicPr>
            <a:picLocks noChangeAspect="1"/>
          </p:cNvPicPr>
          <p:nvPr/>
        </p:nvPicPr>
        <p:blipFill>
          <a:blip r:embed="rId3"/>
          <a:stretch>
            <a:fillRect/>
          </a:stretch>
        </p:blipFill>
        <p:spPr>
          <a:xfrm>
            <a:off x="1323734" y="-187276"/>
            <a:ext cx="8895174" cy="6679097"/>
          </a:xfrm>
          <a:prstGeom prst="rect">
            <a:avLst/>
          </a:prstGeom>
        </p:spPr>
      </p:pic>
      <p:sp>
        <p:nvSpPr>
          <p:cNvPr id="10" name="Rectangle 9">
            <a:extLst>
              <a:ext uri="{FF2B5EF4-FFF2-40B4-BE49-F238E27FC236}">
                <a16:creationId xmlns:a16="http://schemas.microsoft.com/office/drawing/2014/main" id="{2479EF9D-16E7-8EB9-C41B-7C63779091CA}"/>
              </a:ext>
            </a:extLst>
          </p:cNvPr>
          <p:cNvSpPr/>
          <p:nvPr/>
        </p:nvSpPr>
        <p:spPr bwMode="auto">
          <a:xfrm>
            <a:off x="1323735" y="-1095050"/>
            <a:ext cx="8895173" cy="8136833"/>
          </a:xfrm>
          <a:prstGeom prst="rect">
            <a:avLst/>
          </a:prstGeom>
          <a:solidFill>
            <a:srgbClr val="FBFBFB">
              <a:alpha val="90196"/>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algn="ctr" defTabSz="914099" fontAlgn="base">
              <a:spcBef>
                <a:spcPct val="0"/>
              </a:spcBef>
              <a:spcAft>
                <a:spcPct val="0"/>
              </a:spcAft>
            </a:pPr>
            <a:endParaRPr lang="en-US" spc="-50" err="1">
              <a:gradFill>
                <a:gsLst>
                  <a:gs pos="0">
                    <a:srgbClr val="FFFFFF"/>
                  </a:gs>
                  <a:gs pos="100000">
                    <a:srgbClr val="FFFFFF"/>
                  </a:gs>
                </a:gsLst>
                <a:lin ang="5400000" scaled="0"/>
              </a:gradFill>
              <a:latin typeface="Segoe UI" pitchFamily="34" charset="0"/>
              <a:ea typeface="Segoe UI" pitchFamily="34" charset="0"/>
              <a:cs typeface="Segoe UI" pitchFamily="34" charset="0"/>
            </a:endParaRPr>
          </a:p>
        </p:txBody>
      </p:sp>
      <p:sp>
        <p:nvSpPr>
          <p:cNvPr id="4" name="Slide Number Placeholder 3">
            <a:extLst>
              <a:ext uri="{FF2B5EF4-FFF2-40B4-BE49-F238E27FC236}">
                <a16:creationId xmlns:a16="http://schemas.microsoft.com/office/drawing/2014/main" id="{4FE7A380-9F84-CA79-6394-EE07C97F37E2}"/>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107</a:t>
            </a:fld>
            <a:endParaRPr lang="en-US">
              <a:solidFill>
                <a:srgbClr val="000000"/>
              </a:solidFill>
              <a:latin typeface="Segoe UI"/>
            </a:endParaRPr>
          </a:p>
        </p:txBody>
      </p:sp>
      <p:sp>
        <p:nvSpPr>
          <p:cNvPr id="19" name="!!7">
            <a:extLst>
              <a:ext uri="{FF2B5EF4-FFF2-40B4-BE49-F238E27FC236}">
                <a16:creationId xmlns:a16="http://schemas.microsoft.com/office/drawing/2014/main" id="{B0457760-41A6-1974-8738-E5F9BC144F3C}"/>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4000" b="1" spc="-67">
                <a:solidFill>
                  <a:srgbClr val="1B4C9C"/>
                </a:solidFill>
                <a:latin typeface="Arial" panose="020B0604020202020204" pitchFamily="34" charset="0"/>
                <a:ea typeface="Segoe UI" pitchFamily="34" charset="0"/>
                <a:cs typeface="Arial" panose="020B0604020202020204" pitchFamily="34" charset="0"/>
              </a:rPr>
              <a:t>Website Live Demo</a:t>
            </a:r>
          </a:p>
        </p:txBody>
      </p:sp>
      <p:sp>
        <p:nvSpPr>
          <p:cNvPr id="7" name="TextBox 6">
            <a:extLst>
              <a:ext uri="{FF2B5EF4-FFF2-40B4-BE49-F238E27FC236}">
                <a16:creationId xmlns:a16="http://schemas.microsoft.com/office/drawing/2014/main" id="{C48401CF-D4E7-4CEE-212D-CF46A412ACE3}"/>
              </a:ext>
            </a:extLst>
          </p:cNvPr>
          <p:cNvSpPr txBox="1"/>
          <p:nvPr/>
        </p:nvSpPr>
        <p:spPr>
          <a:xfrm>
            <a:off x="2445026" y="3029946"/>
            <a:ext cx="7003774" cy="646331"/>
          </a:xfrm>
          <a:prstGeom prst="rect">
            <a:avLst/>
          </a:prstGeom>
          <a:noFill/>
        </p:spPr>
        <p:txBody>
          <a:bodyPr wrap="square">
            <a:spAutoFit/>
          </a:bodyPr>
          <a:lstStyle/>
          <a:p>
            <a:pPr algn="ctr"/>
            <a:r>
              <a:rPr lang="en-US" sz="3600" b="1">
                <a:solidFill>
                  <a:srgbClr val="13409F"/>
                </a:solidFill>
                <a:latin typeface="Arial" panose="020B0604020202020204" pitchFamily="34" charset="0"/>
                <a:cs typeface="Arial" panose="020B0604020202020204" pitchFamily="34" charset="0"/>
                <a:hlinkClick r:id="rId4"/>
              </a:rPr>
              <a:t>http://idir.uta.edu/genesieve</a:t>
            </a:r>
            <a:endParaRPr lang="en-US" sz="3600" b="1">
              <a:solidFill>
                <a:srgbClr val="13409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46930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07288-990C-4E66-EA21-FCCCF7415389}"/>
            </a:ext>
          </a:extLst>
        </p:cNvPr>
        <p:cNvGrpSpPr/>
        <p:nvPr/>
      </p:nvGrpSpPr>
      <p:grpSpPr>
        <a:xfrm>
          <a:off x="0" y="0"/>
          <a:ext cx="0" cy="0"/>
          <a:chOff x="0" y="0"/>
          <a:chExt cx="0" cy="0"/>
        </a:xfrm>
      </p:grpSpPr>
      <p:sp>
        <p:nvSpPr>
          <p:cNvPr id="13" name="Title 2">
            <a:extLst>
              <a:ext uri="{FF2B5EF4-FFF2-40B4-BE49-F238E27FC236}">
                <a16:creationId xmlns:a16="http://schemas.microsoft.com/office/drawing/2014/main" id="{7837B7BF-7404-9138-66DC-B209FCD488EE}"/>
              </a:ext>
            </a:extLst>
          </p:cNvPr>
          <p:cNvSpPr>
            <a:spLocks noGrp="1"/>
          </p:cNvSpPr>
          <p:nvPr>
            <p:ph type="title"/>
          </p:nvPr>
        </p:nvSpPr>
        <p:spPr>
          <a:xfrm>
            <a:off x="217117" y="69643"/>
            <a:ext cx="10571968" cy="963668"/>
          </a:xfrm>
        </p:spPr>
        <p:txBody>
          <a:bodyPr vert="horz" wrap="square" lIns="121920" tIns="60960" rIns="121920" bIns="60960" rtlCol="0" anchor="ctr" anchorCtr="0">
            <a:normAutofit/>
          </a:bodyPr>
          <a:lstStyle/>
          <a:p>
            <a:r>
              <a:rPr lang="en-US" altLang="zh-CN" sz="4000"/>
              <a:t>Outline</a:t>
            </a:r>
            <a:endParaRPr lang="en-US" sz="4000">
              <a:latin typeface="Open Sans" panose="020B0606030504020204" pitchFamily="34" charset="0"/>
            </a:endParaRPr>
          </a:p>
        </p:txBody>
      </p:sp>
      <p:sp>
        <p:nvSpPr>
          <p:cNvPr id="4" name="Slide Number Placeholder 3">
            <a:extLst>
              <a:ext uri="{FF2B5EF4-FFF2-40B4-BE49-F238E27FC236}">
                <a16:creationId xmlns:a16="http://schemas.microsoft.com/office/drawing/2014/main" id="{B82D0BDF-A106-E658-612F-E25ED227E88F}"/>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108</a:t>
            </a:fld>
            <a:endParaRPr lang="en-US">
              <a:solidFill>
                <a:srgbClr val="000000"/>
              </a:solidFill>
              <a:latin typeface="Segoe UI"/>
            </a:endParaRPr>
          </a:p>
        </p:txBody>
      </p:sp>
      <p:sp>
        <p:nvSpPr>
          <p:cNvPr id="8" name="!!1">
            <a:extLst>
              <a:ext uri="{FF2B5EF4-FFF2-40B4-BE49-F238E27FC236}">
                <a16:creationId xmlns:a16="http://schemas.microsoft.com/office/drawing/2014/main" id="{BBC0CF58-25F2-67C0-54AF-BAB26149CC1D}"/>
              </a:ext>
            </a:extLst>
          </p:cNvPr>
          <p:cNvSpPr/>
          <p:nvPr/>
        </p:nvSpPr>
        <p:spPr bwMode="auto">
          <a:xfrm>
            <a:off x="342205" y="1381773"/>
            <a:ext cx="5394344"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1. Self-Introduction</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0" name="Rounded Rectangle 9">
            <a:extLst>
              <a:ext uri="{FF2B5EF4-FFF2-40B4-BE49-F238E27FC236}">
                <a16:creationId xmlns:a16="http://schemas.microsoft.com/office/drawing/2014/main" id="{4BD090CF-CBF5-5E05-43FB-42A7EA161771}"/>
              </a:ext>
            </a:extLst>
          </p:cNvPr>
          <p:cNvSpPr/>
          <p:nvPr/>
        </p:nvSpPr>
        <p:spPr bwMode="auto">
          <a:xfrm>
            <a:off x="342205" y="3772184"/>
            <a:ext cx="5394356"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dirty="0">
                <a:solidFill>
                  <a:srgbClr val="1B4C9C">
                    <a:alpha val="16000"/>
                  </a:srgbClr>
                </a:solidFill>
                <a:latin typeface="Arial" panose="020B0604020202020204" pitchFamily="34" charset="0"/>
                <a:cs typeface="Arial" panose="020B0604020202020204" pitchFamily="34" charset="0"/>
              </a:rPr>
              <a:t>3. Biological Evidence Data</a:t>
            </a:r>
            <a:endParaRPr lang="en-US" sz="2800" dirty="0">
              <a:solidFill>
                <a:srgbClr val="1B4C9C">
                  <a:alpha val="16000"/>
                </a:srgbClr>
              </a:solidFill>
              <a:latin typeface="Arial" panose="020B0604020202020204" pitchFamily="34" charset="0"/>
              <a:cs typeface="Arial" panose="020B0604020202020204" pitchFamily="34" charset="0"/>
            </a:endParaRPr>
          </a:p>
        </p:txBody>
      </p:sp>
      <p:sp>
        <p:nvSpPr>
          <p:cNvPr id="11" name="Rounded Rectangle 10">
            <a:extLst>
              <a:ext uri="{FF2B5EF4-FFF2-40B4-BE49-F238E27FC236}">
                <a16:creationId xmlns:a16="http://schemas.microsoft.com/office/drawing/2014/main" id="{FE7CD7FB-CA40-DCCD-ECD1-E0B623CC4FEA}"/>
              </a:ext>
            </a:extLst>
          </p:cNvPr>
          <p:cNvSpPr/>
          <p:nvPr/>
        </p:nvSpPr>
        <p:spPr bwMode="auto">
          <a:xfrm>
            <a:off x="342213" y="4925510"/>
            <a:ext cx="539435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dirty="0">
                <a:solidFill>
                  <a:srgbClr val="1B4C9C">
                    <a:alpha val="16000"/>
                  </a:srgbClr>
                </a:solidFill>
                <a:latin typeface="Arial" panose="020B0604020202020204" pitchFamily="34" charset="0"/>
                <a:cs typeface="Arial" panose="020B0604020202020204" pitchFamily="34" charset="0"/>
              </a:rPr>
              <a:t>4. Trait-Gene Association Graph</a:t>
            </a:r>
            <a:endParaRPr lang="en-US" sz="2800" dirty="0">
              <a:solidFill>
                <a:srgbClr val="1B4C9C">
                  <a:alpha val="16000"/>
                </a:srgbClr>
              </a:solidFill>
              <a:latin typeface="Arial" panose="020B0604020202020204" pitchFamily="34" charset="0"/>
              <a:cs typeface="Arial" panose="020B0604020202020204" pitchFamily="34" charset="0"/>
            </a:endParaRPr>
          </a:p>
        </p:txBody>
      </p:sp>
      <p:sp>
        <p:nvSpPr>
          <p:cNvPr id="14" name="Rounded Rectangle 13">
            <a:extLst>
              <a:ext uri="{FF2B5EF4-FFF2-40B4-BE49-F238E27FC236}">
                <a16:creationId xmlns:a16="http://schemas.microsoft.com/office/drawing/2014/main" id="{2D40F1BF-060D-6743-C693-ED55964E646A}"/>
              </a:ext>
            </a:extLst>
          </p:cNvPr>
          <p:cNvSpPr/>
          <p:nvPr/>
        </p:nvSpPr>
        <p:spPr bwMode="auto">
          <a:xfrm>
            <a:off x="6455421" y="1388487"/>
            <a:ext cx="5387997" cy="849648"/>
          </a:xfrm>
          <a:prstGeom prst="roundRect">
            <a:avLst>
              <a:gd name="adj" fmla="val 20246"/>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5. Gene Ranking Models</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5" name="!!7">
            <a:extLst>
              <a:ext uri="{FF2B5EF4-FFF2-40B4-BE49-F238E27FC236}">
                <a16:creationId xmlns:a16="http://schemas.microsoft.com/office/drawing/2014/main" id="{C617D469-EB5D-02E4-CB71-124AE59ACF04}"/>
              </a:ext>
            </a:extLst>
          </p:cNvPr>
          <p:cNvSpPr/>
          <p:nvPr/>
        </p:nvSpPr>
        <p:spPr bwMode="auto">
          <a:xfrm>
            <a:off x="6461788" y="3772184"/>
            <a:ext cx="5387995"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7. Website Live Demo</a:t>
            </a:r>
            <a:endParaRPr lang="en-US" sz="2800">
              <a:solidFill>
                <a:srgbClr val="1B4C9C">
                  <a:alpha val="16000"/>
                </a:srgbClr>
              </a:solidFill>
              <a:latin typeface="Arial" panose="020B0604020202020204" pitchFamily="34" charset="0"/>
              <a:cs typeface="Arial" panose="020B0604020202020204" pitchFamily="34" charset="0"/>
            </a:endParaRPr>
          </a:p>
        </p:txBody>
      </p:sp>
      <p:sp>
        <p:nvSpPr>
          <p:cNvPr id="16" name="!!8">
            <a:extLst>
              <a:ext uri="{FF2B5EF4-FFF2-40B4-BE49-F238E27FC236}">
                <a16:creationId xmlns:a16="http://schemas.microsoft.com/office/drawing/2014/main" id="{B10B4E49-4019-17AF-C6DA-0B8F09402BE4}"/>
              </a:ext>
            </a:extLst>
          </p:cNvPr>
          <p:cNvSpPr/>
          <p:nvPr/>
        </p:nvSpPr>
        <p:spPr bwMode="auto">
          <a:xfrm>
            <a:off x="6455431" y="4925510"/>
            <a:ext cx="538798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b="1">
                <a:solidFill>
                  <a:srgbClr val="1B4C9C"/>
                </a:solidFill>
                <a:latin typeface="Arial" panose="020B0604020202020204" pitchFamily="34" charset="0"/>
                <a:cs typeface="Arial" panose="020B0604020202020204" pitchFamily="34" charset="0"/>
              </a:rPr>
              <a:t>8. </a:t>
            </a:r>
            <a:r>
              <a:rPr lang="en-US" altLang="zh-CN" sz="2800" b="1" dirty="0">
                <a:solidFill>
                  <a:srgbClr val="1B4C9C"/>
                </a:solidFill>
                <a:latin typeface="Arial" panose="020B0604020202020204" pitchFamily="34" charset="0"/>
                <a:cs typeface="Arial" panose="020B0604020202020204" pitchFamily="34" charset="0"/>
              </a:rPr>
              <a:t>Conclusions</a:t>
            </a:r>
            <a:endParaRPr lang="en-US" sz="2800" b="1">
              <a:solidFill>
                <a:srgbClr val="1B4C9C"/>
              </a:solidFill>
              <a:latin typeface="Arial" panose="020B0604020202020204" pitchFamily="34" charset="0"/>
              <a:cs typeface="Arial" panose="020B0604020202020204" pitchFamily="34" charset="0"/>
            </a:endParaRPr>
          </a:p>
        </p:txBody>
      </p:sp>
      <p:sp>
        <p:nvSpPr>
          <p:cNvPr id="19" name="Rounded Rectangle 18">
            <a:extLst>
              <a:ext uri="{FF2B5EF4-FFF2-40B4-BE49-F238E27FC236}">
                <a16:creationId xmlns:a16="http://schemas.microsoft.com/office/drawing/2014/main" id="{D58CD0F8-E7AB-2B82-9ED5-BE0EF6BD8156}"/>
              </a:ext>
            </a:extLst>
          </p:cNvPr>
          <p:cNvSpPr/>
          <p:nvPr/>
        </p:nvSpPr>
        <p:spPr bwMode="auto">
          <a:xfrm>
            <a:off x="6461788" y="2574074"/>
            <a:ext cx="5388007"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a:solidFill>
                  <a:srgbClr val="1B4C9C">
                    <a:alpha val="16000"/>
                  </a:srgbClr>
                </a:solidFill>
                <a:latin typeface="Arial" panose="020B0604020202020204" pitchFamily="34" charset="0"/>
                <a:cs typeface="Arial" panose="020B0604020202020204" pitchFamily="34" charset="0"/>
              </a:rPr>
              <a:t>6. Trait Similarity Models</a:t>
            </a:r>
            <a:endParaRPr lang="en-US" sz="2800">
              <a:solidFill>
                <a:srgbClr val="1B4C9C">
                  <a:alpha val="16000"/>
                </a:srgbClr>
              </a:solidFill>
              <a:latin typeface="Arial" panose="020B0604020202020204" pitchFamily="34" charset="0"/>
              <a:cs typeface="Arial" panose="020B0604020202020204" pitchFamily="34" charset="0"/>
            </a:endParaRPr>
          </a:p>
        </p:txBody>
      </p:sp>
      <p:cxnSp>
        <p:nvCxnSpPr>
          <p:cNvPr id="3" name="Straight Connector 2">
            <a:extLst>
              <a:ext uri="{FF2B5EF4-FFF2-40B4-BE49-F238E27FC236}">
                <a16:creationId xmlns:a16="http://schemas.microsoft.com/office/drawing/2014/main" id="{331DD9B0-29E0-60F4-88D1-7782C0F2F143}"/>
              </a:ext>
            </a:extLst>
          </p:cNvPr>
          <p:cNvCxnSpPr>
            <a:cxnSpLocks/>
          </p:cNvCxnSpPr>
          <p:nvPr/>
        </p:nvCxnSpPr>
        <p:spPr>
          <a:xfrm>
            <a:off x="6096000" y="1384624"/>
            <a:ext cx="0" cy="4449931"/>
          </a:xfrm>
          <a:prstGeom prst="line">
            <a:avLst/>
          </a:prstGeom>
          <a:ln w="38100">
            <a:solidFill>
              <a:srgbClr val="E7E7E7"/>
            </a:solidFill>
          </a:ln>
        </p:spPr>
        <p:style>
          <a:lnRef idx="1">
            <a:schemeClr val="accent1"/>
          </a:lnRef>
          <a:fillRef idx="0">
            <a:schemeClr val="accent1"/>
          </a:fillRef>
          <a:effectRef idx="0">
            <a:schemeClr val="accent1"/>
          </a:effectRef>
          <a:fontRef idx="minor">
            <a:schemeClr val="tx1"/>
          </a:fontRef>
        </p:style>
      </p:cxnSp>
      <p:sp>
        <p:nvSpPr>
          <p:cNvPr id="2" name="Rounded Rectangle 1">
            <a:extLst>
              <a:ext uri="{FF2B5EF4-FFF2-40B4-BE49-F238E27FC236}">
                <a16:creationId xmlns:a16="http://schemas.microsoft.com/office/drawing/2014/main" id="{BBE57295-59CC-5E71-36A0-BF75E7908379}"/>
              </a:ext>
            </a:extLst>
          </p:cNvPr>
          <p:cNvSpPr/>
          <p:nvPr/>
        </p:nvSpPr>
        <p:spPr bwMode="auto">
          <a:xfrm>
            <a:off x="342204" y="2574074"/>
            <a:ext cx="5394363" cy="849648"/>
          </a:xfrm>
          <a:prstGeom prst="round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altLang="zh-CN" sz="2800" dirty="0">
                <a:solidFill>
                  <a:srgbClr val="1B4C9C">
                    <a:alpha val="16000"/>
                  </a:srgbClr>
                </a:solidFill>
                <a:latin typeface="Arial" panose="020B0604020202020204" pitchFamily="34" charset="0"/>
                <a:cs typeface="Arial" panose="020B0604020202020204" pitchFamily="34" charset="0"/>
              </a:rPr>
              <a:t>2. </a:t>
            </a:r>
            <a:r>
              <a:rPr lang="en-US" altLang="zh-CN" sz="2800" dirty="0" err="1">
                <a:solidFill>
                  <a:srgbClr val="1B4C9C">
                    <a:alpha val="16000"/>
                  </a:srgbClr>
                </a:solidFill>
                <a:latin typeface="Arial" panose="020B0604020202020204" pitchFamily="34" charset="0"/>
                <a:cs typeface="Arial" panose="020B0604020202020204" pitchFamily="34" charset="0"/>
              </a:rPr>
              <a:t>GeneSieve</a:t>
            </a:r>
            <a:r>
              <a:rPr lang="en-US" altLang="zh-CN" sz="2800" dirty="0">
                <a:solidFill>
                  <a:srgbClr val="1B4C9C">
                    <a:alpha val="16000"/>
                  </a:srgbClr>
                </a:solidFill>
                <a:latin typeface="Arial" panose="020B0604020202020204" pitchFamily="34" charset="0"/>
                <a:cs typeface="Arial" panose="020B0604020202020204" pitchFamily="34" charset="0"/>
              </a:rPr>
              <a:t> Overview</a:t>
            </a:r>
            <a:endParaRPr lang="en-US" sz="2800" spc="-67" dirty="0">
              <a:solidFill>
                <a:srgbClr val="1B4C9C">
                  <a:alpha val="16000"/>
                </a:srgbClr>
              </a:solidFill>
              <a:latin typeface="Arial" panose="020B0604020202020204" pitchFamily="34" charset="0"/>
              <a:ea typeface="Segoe UI" pitchFamily="34" charset="0"/>
              <a:cs typeface="Arial" panose="020B0604020202020204" pitchFamily="34" charset="0"/>
            </a:endParaRPr>
          </a:p>
        </p:txBody>
      </p:sp>
    </p:spTree>
    <p:extLst>
      <p:ext uri="{BB962C8B-B14F-4D97-AF65-F5344CB8AC3E}">
        <p14:creationId xmlns:p14="http://schemas.microsoft.com/office/powerpoint/2010/main" val="1049247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77240-D6EB-1E99-57D6-80E4A54D283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C3AF28-D4D6-A077-9962-D47E6D3F277A}"/>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109</a:t>
            </a:fld>
            <a:endParaRPr lang="en-US">
              <a:solidFill>
                <a:srgbClr val="000000"/>
              </a:solidFill>
              <a:latin typeface="Segoe UI"/>
            </a:endParaRPr>
          </a:p>
        </p:txBody>
      </p:sp>
      <p:sp>
        <p:nvSpPr>
          <p:cNvPr id="19" name="!!8">
            <a:extLst>
              <a:ext uri="{FF2B5EF4-FFF2-40B4-BE49-F238E27FC236}">
                <a16:creationId xmlns:a16="http://schemas.microsoft.com/office/drawing/2014/main" id="{8AC6E3E5-66EC-A0E8-5E53-D6A34DFC0989}"/>
              </a:ext>
            </a:extLst>
          </p:cNvPr>
          <p:cNvSpPr/>
          <p:nvPr/>
        </p:nvSpPr>
        <p:spPr bwMode="auto">
          <a:xfrm>
            <a:off x="273135" y="107455"/>
            <a:ext cx="9070935" cy="84964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pPr defTabSz="1218708" fontAlgn="base">
              <a:spcBef>
                <a:spcPct val="0"/>
              </a:spcBef>
              <a:spcAft>
                <a:spcPct val="0"/>
              </a:spcAft>
            </a:pPr>
            <a:r>
              <a:rPr lang="en-US" sz="4000" b="1" spc="-67">
                <a:solidFill>
                  <a:srgbClr val="1B4C9C"/>
                </a:solidFill>
                <a:latin typeface="Arial" panose="020B0604020202020204" pitchFamily="34" charset="0"/>
                <a:ea typeface="Segoe UI" pitchFamily="34" charset="0"/>
                <a:cs typeface="Arial" panose="020B0604020202020204" pitchFamily="34" charset="0"/>
              </a:rPr>
              <a:t>Conclusion</a:t>
            </a:r>
          </a:p>
        </p:txBody>
      </p:sp>
      <p:sp>
        <p:nvSpPr>
          <p:cNvPr id="2" name="Rounded Rectangle 1">
            <a:extLst>
              <a:ext uri="{FF2B5EF4-FFF2-40B4-BE49-F238E27FC236}">
                <a16:creationId xmlns:a16="http://schemas.microsoft.com/office/drawing/2014/main" id="{091AEA50-D29A-6ADF-0A2B-06DAF0BC0A48}"/>
              </a:ext>
            </a:extLst>
          </p:cNvPr>
          <p:cNvSpPr/>
          <p:nvPr/>
        </p:nvSpPr>
        <p:spPr bwMode="auto">
          <a:xfrm>
            <a:off x="700407" y="957103"/>
            <a:ext cx="10635950" cy="2893648"/>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The novelty of </a:t>
            </a:r>
            <a:r>
              <a:rPr lang="en-US" sz="2800" dirty="0" err="1">
                <a:solidFill>
                  <a:schemeClr val="tx1"/>
                </a:solidFill>
                <a:latin typeface="Arial" panose="020B0604020202020204" pitchFamily="34" charset="0"/>
                <a:cs typeface="Arial" panose="020B0604020202020204" pitchFamily="34" charset="0"/>
              </a:rPr>
              <a:t>GeneSieve</a:t>
            </a:r>
            <a:r>
              <a:rPr lang="en-US" sz="2800" dirty="0">
                <a:solidFill>
                  <a:schemeClr val="tx1"/>
                </a:solidFill>
                <a:latin typeface="Arial" panose="020B0604020202020204" pitchFamily="34" charset="0"/>
                <a:cs typeface="Arial" panose="020B0604020202020204" pitchFamily="34" charset="0"/>
              </a:rPr>
              <a:t> lies in addressing key limitations of existing candidate gene prioritization methods by constructing query-specific heterogeneous graphs that integrate LLM-derived trait similarity, curated trait–gene associations, RNA-seq-derived gene co-expression, and sequence homology into a unified graph framework.</a:t>
            </a:r>
          </a:p>
        </p:txBody>
      </p:sp>
      <p:sp>
        <p:nvSpPr>
          <p:cNvPr id="5" name="Rounded Rectangle 4">
            <a:extLst>
              <a:ext uri="{FF2B5EF4-FFF2-40B4-BE49-F238E27FC236}">
                <a16:creationId xmlns:a16="http://schemas.microsoft.com/office/drawing/2014/main" id="{95D9919C-91A0-07B2-DEC3-C996F844ACA2}"/>
              </a:ext>
            </a:extLst>
          </p:cNvPr>
          <p:cNvSpPr/>
          <p:nvPr/>
        </p:nvSpPr>
        <p:spPr bwMode="auto">
          <a:xfrm>
            <a:off x="700406" y="4153359"/>
            <a:ext cx="10635949" cy="2082188"/>
          </a:xfrm>
          <a:prstGeom prst="roundRect">
            <a:avLst/>
          </a:prstGeom>
          <a:solidFill>
            <a:srgbClr val="EEEEEE"/>
          </a:solidFill>
          <a:ln>
            <a:solidFill>
              <a:srgbClr val="EEEEE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21920" tIns="60960" rIns="60960" bIns="121920" numCol="1" spcCol="0" rtlCol="0" fromWordArt="0" anchor="ctr" anchorCtr="0" forceAA="0" compatLnSpc="1">
            <a:prstTxWarp prst="textNoShape">
              <a:avLst/>
            </a:prstTxWarp>
            <a:noAutofit/>
          </a:bodyPr>
          <a:lstStyle/>
          <a:p>
            <a:r>
              <a:rPr lang="en-US" sz="2800" dirty="0">
                <a:solidFill>
                  <a:schemeClr val="tx1"/>
                </a:solidFill>
                <a:latin typeface="Arial" panose="020B0604020202020204" pitchFamily="34" charset="0"/>
                <a:cs typeface="Arial" panose="020B0604020202020204" pitchFamily="34" charset="0"/>
              </a:rPr>
              <a:t>This enables evidence-driven R-GCN-based prioritization across diverse monocot and dicot plant species, rather than relying on static knowledge graphs, isolated evidence sources, or direct LLM prediction.</a:t>
            </a:r>
          </a:p>
        </p:txBody>
      </p:sp>
    </p:spTree>
    <p:extLst>
      <p:ext uri="{BB962C8B-B14F-4D97-AF65-F5344CB8AC3E}">
        <p14:creationId xmlns:p14="http://schemas.microsoft.com/office/powerpoint/2010/main" val="7868994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94220-7752-0B99-3964-4DF31F1941B3}"/>
            </a:ext>
          </a:extLst>
        </p:cNvPr>
        <p:cNvGrpSpPr/>
        <p:nvPr/>
      </p:nvGrpSpPr>
      <p:grpSpPr>
        <a:xfrm>
          <a:off x="0" y="0"/>
          <a:ext cx="0" cy="0"/>
          <a:chOff x="0" y="0"/>
          <a:chExt cx="0" cy="0"/>
        </a:xfrm>
      </p:grpSpPr>
      <p:sp>
        <p:nvSpPr>
          <p:cNvPr id="13" name="Title 2">
            <a:extLst>
              <a:ext uri="{FF2B5EF4-FFF2-40B4-BE49-F238E27FC236}">
                <a16:creationId xmlns:a16="http://schemas.microsoft.com/office/drawing/2014/main" id="{98025AE6-4E51-4726-1CCC-A50164818688}"/>
              </a:ext>
            </a:extLst>
          </p:cNvPr>
          <p:cNvSpPr>
            <a:spLocks noGrp="1"/>
          </p:cNvSpPr>
          <p:nvPr>
            <p:ph type="title"/>
          </p:nvPr>
        </p:nvSpPr>
        <p:spPr>
          <a:xfrm>
            <a:off x="3458458" y="2532181"/>
            <a:ext cx="5282344" cy="1790982"/>
          </a:xfrm>
        </p:spPr>
        <p:txBody>
          <a:bodyPr vert="horz" wrap="square" lIns="121920" tIns="60960" rIns="121920" bIns="60960" rtlCol="0" anchor="ctr" anchorCtr="0">
            <a:noAutofit/>
          </a:bodyPr>
          <a:lstStyle/>
          <a:p>
            <a:r>
              <a:rPr lang="en-US" sz="7200">
                <a:latin typeface="Open Sans"/>
                <a:ea typeface="Open Sans"/>
                <a:cs typeface="Open Sans"/>
              </a:rPr>
              <a:t>Thank you!</a:t>
            </a:r>
          </a:p>
        </p:txBody>
      </p:sp>
      <p:sp>
        <p:nvSpPr>
          <p:cNvPr id="4" name="Slide Number Placeholder 3">
            <a:extLst>
              <a:ext uri="{FF2B5EF4-FFF2-40B4-BE49-F238E27FC236}">
                <a16:creationId xmlns:a16="http://schemas.microsoft.com/office/drawing/2014/main" id="{833BFD1E-3CB2-03D4-01A0-113D9D970148}"/>
              </a:ext>
            </a:extLst>
          </p:cNvPr>
          <p:cNvSpPr>
            <a:spLocks noGrp="1"/>
          </p:cNvSpPr>
          <p:nvPr>
            <p:ph type="sldNum" sz="quarter" idx="10"/>
          </p:nvPr>
        </p:nvSpPr>
        <p:spPr/>
        <p:txBody>
          <a:bodyPr/>
          <a:lstStyle/>
          <a:p>
            <a:pPr defTabSz="914661">
              <a:defRPr/>
            </a:pPr>
            <a:fld id="{FC2EED17-1836-6142-A4B1-ABB9C7C22E41}" type="slidenum">
              <a:rPr lang="en-US">
                <a:solidFill>
                  <a:srgbClr val="000000"/>
                </a:solidFill>
                <a:latin typeface="Segoe UI"/>
              </a:rPr>
              <a:pPr defTabSz="914661">
                <a:defRPr/>
              </a:pPr>
              <a:t>110</a:t>
            </a:fld>
            <a:endParaRPr lang="en-US">
              <a:solidFill>
                <a:srgbClr val="000000"/>
              </a:solidFill>
              <a:latin typeface="Segoe UI"/>
            </a:endParaRPr>
          </a:p>
        </p:txBody>
      </p:sp>
    </p:spTree>
    <p:extLst>
      <p:ext uri="{BB962C8B-B14F-4D97-AF65-F5344CB8AC3E}">
        <p14:creationId xmlns:p14="http://schemas.microsoft.com/office/powerpoint/2010/main" val="2806098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wrap="square" lIns="0" tIns="0" rIns="0" bIns="0" numCol="1" rtlCol="0">
        <a:spAutoFit/>
      </a:bodyPr>
      <a:lstStyle>
        <a:defPPr marL="283464" indent="-283464" algn="l" defTabSz="457200">
          <a:lnSpc>
            <a:spcPct val="100000"/>
          </a:lnSpc>
          <a:spcAft>
            <a:spcPts val="200"/>
          </a:spcAft>
          <a:defRPr sz="1600" b="1" spc="0" dirty="0">
            <a:solidFill>
              <a:srgbClr val="C00000"/>
            </a:solidFill>
            <a:latin typeface="Garamond" charset="0"/>
            <a:ea typeface="Garamond" charset="0"/>
            <a:cs typeface="Garamond" charset="0"/>
          </a:defRPr>
        </a:defPPr>
      </a:lstStyle>
    </a:txDef>
  </a:objectDefaults>
  <a:extraClrSchemeLst/>
</a:theme>
</file>

<file path=ppt/theme/theme2.xml><?xml version="1.0" encoding="utf-8"?>
<a:theme xmlns:a="http://schemas.openxmlformats.org/drawingml/2006/main" name="Data Analytics for Computational Journalism">
  <a:themeElements>
    <a:clrScheme name="Microsoft Colors">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06691F1-A28D-9A4A-A770-FE7F223BB6FD}">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423DD9F5215A04891EC56B612466B0F" ma:contentTypeVersion="17" ma:contentTypeDescription="Create a new document." ma:contentTypeScope="" ma:versionID="84545127def35dbca2b95eb4754157cf">
  <xsd:schema xmlns:xsd="http://www.w3.org/2001/XMLSchema" xmlns:xs="http://www.w3.org/2001/XMLSchema" xmlns:p="http://schemas.microsoft.com/office/2006/metadata/properties" xmlns:ns2="aabc6e91-893d-4a40-beaa-c459e2f456ae" xmlns:ns3="a9ec854a-effa-40f6-af34-42d1740ca5d3" targetNamespace="http://schemas.microsoft.com/office/2006/metadata/properties" ma:root="true" ma:fieldsID="8d523fb54cc6b1a34752df8bb2ae4574" ns2:_="" ns3:_="">
    <xsd:import namespace="aabc6e91-893d-4a40-beaa-c459e2f456ae"/>
    <xsd:import namespace="a9ec854a-effa-40f6-af34-42d1740ca5d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lcf76f155ced4ddcb4097134ff3c332f" minOccurs="0"/>
                <xsd:element ref="ns2:TaxCatchAll" minOccurs="0"/>
                <xsd:element ref="ns3:MediaServiceObjectDetectorVersions" minOccurs="0"/>
                <xsd:element ref="ns3:MediaServiceSearchProperties"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bc6e91-893d-4a40-beaa-c459e2f456a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d8496971-f170-486e-ae27-e00ade338c05}" ma:internalName="TaxCatchAll" ma:showField="CatchAllData" ma:web="aabc6e91-893d-4a40-beaa-c459e2f456a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9ec854a-effa-40f6-af34-42d1740ca5d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034b13c-ebbc-4df5-bee6-d4e945db1b4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DateTaken" ma:index="23" nillable="true" ma:displayName="MediaServiceDateTaken" ma:hidden="true" ma:indexed="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9ec854a-effa-40f6-af34-42d1740ca5d3">
      <Terms xmlns="http://schemas.microsoft.com/office/infopath/2007/PartnerControls"/>
    </lcf76f155ced4ddcb4097134ff3c332f>
    <TaxCatchAll xmlns="aabc6e91-893d-4a40-beaa-c459e2f456ae" xsi:nil="true"/>
  </documentManagement>
</p:properties>
</file>

<file path=customXml/itemProps1.xml><?xml version="1.0" encoding="utf-8"?>
<ds:datastoreItem xmlns:ds="http://schemas.openxmlformats.org/officeDocument/2006/customXml" ds:itemID="{0946068B-DDCE-4B8F-B810-AEE39B8133B1}">
  <ds:schemaRefs>
    <ds:schemaRef ds:uri="a9ec854a-effa-40f6-af34-42d1740ca5d3"/>
    <ds:schemaRef ds:uri="aabc6e91-893d-4a40-beaa-c459e2f456a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B7C82C4-23A1-4301-961B-FDAFAD96AA21}">
  <ds:schemaRefs>
    <ds:schemaRef ds:uri="http://schemas.microsoft.com/sharepoint/v3/contenttype/forms"/>
  </ds:schemaRefs>
</ds:datastoreItem>
</file>

<file path=customXml/itemProps3.xml><?xml version="1.0" encoding="utf-8"?>
<ds:datastoreItem xmlns:ds="http://schemas.openxmlformats.org/officeDocument/2006/customXml" ds:itemID="{A98198AD-EC4D-4DCE-A622-943484F44B0B}">
  <ds:schemaRefs>
    <ds:schemaRef ds:uri="http://schemas.microsoft.com/office/2006/metadata/properties"/>
    <ds:schemaRef ds:uri="http://purl.org/dc/elements/1.1/"/>
    <ds:schemaRef ds:uri="http://schemas.openxmlformats.org/package/2006/metadata/core-properties"/>
    <ds:schemaRef ds:uri="http://www.w3.org/XML/1998/namespace"/>
    <ds:schemaRef ds:uri="http://purl.org/dc/terms/"/>
    <ds:schemaRef ds:uri="http://purl.org/dc/dcmitype/"/>
    <ds:schemaRef ds:uri="http://schemas.microsoft.com/office/2006/documentManagement/types"/>
    <ds:schemaRef ds:uri="http://schemas.microsoft.com/office/infopath/2007/PartnerControls"/>
    <ds:schemaRef ds:uri="a9ec854a-effa-40f6-af34-42d1740ca5d3"/>
    <ds:schemaRef ds:uri="aabc6e91-893d-4a40-beaa-c459e2f456ae"/>
  </ds:schemaRefs>
</ds:datastoreItem>
</file>

<file path=docProps/app.xml><?xml version="1.0" encoding="utf-8"?>
<Properties xmlns="http://schemas.openxmlformats.org/officeDocument/2006/extended-properties" xmlns:vt="http://schemas.openxmlformats.org/officeDocument/2006/docPropsVTypes">
  <Template/>
  <TotalTime>9</TotalTime>
  <Words>4451</Words>
  <Application>Microsoft Macintosh PowerPoint</Application>
  <PresentationFormat>Widescreen</PresentationFormat>
  <Paragraphs>917</Paragraphs>
  <Slides>110</Slides>
  <Notes>110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110</vt:i4>
      </vt:variant>
    </vt:vector>
  </HeadingPairs>
  <TitlesOfParts>
    <vt:vector size="122" baseType="lpstr">
      <vt:lpstr>Apple Symbols</vt:lpstr>
      <vt:lpstr>Arial</vt:lpstr>
      <vt:lpstr>Calibri</vt:lpstr>
      <vt:lpstr>Courier New</vt:lpstr>
      <vt:lpstr>Garamond</vt:lpstr>
      <vt:lpstr>Helvetica</vt:lpstr>
      <vt:lpstr>Open Sans</vt:lpstr>
      <vt:lpstr>Segoe UI</vt:lpstr>
      <vt:lpstr>Segoe UI Light</vt:lpstr>
      <vt:lpstr>System Font Regular</vt:lpstr>
      <vt:lpstr>Office Theme</vt:lpstr>
      <vt:lpstr>Data Analytics for Computational Journalism</vt:lpstr>
      <vt:lpstr>PowerPoint Presentation</vt:lpstr>
      <vt:lpstr>PowerPoint Presentation</vt:lpstr>
      <vt:lpstr>PowerPoint Presentation</vt:lpstr>
      <vt:lpstr>Outline</vt:lpstr>
      <vt:lpstr>Outline</vt:lpstr>
      <vt:lpstr>PowerPoint Presentation</vt:lpstr>
      <vt:lpstr>PowerPoint Presentation</vt:lpstr>
      <vt:lpstr>PowerPoint Presentation</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Outline</vt:lpstr>
      <vt:lpstr>PowerPoint Presentation</vt:lpstr>
      <vt:lpstr>PowerPoint Presentation</vt:lpstr>
      <vt:lpstr>PowerPoint Presentation</vt:lpstr>
      <vt:lpstr>PowerPoint Presentation</vt:lpstr>
      <vt:lpstr>PowerPoint Presentation</vt:lpstr>
      <vt:lpstr>PowerPoint Presentation</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Outline</vt:lpstr>
      <vt:lpstr>PowerPoint Presentation</vt:lpstr>
      <vt:lpstr>PowerPoint Presentation</vt:lpstr>
      <vt:lpstr>PowerPoint Presentation</vt:lpstr>
      <vt:lpstr>Fine-tuned LLM </vt:lpstr>
      <vt:lpstr>Fine-tuned LLM </vt:lpstr>
      <vt:lpstr>Fine-tuned LLM </vt:lpstr>
      <vt:lpstr>Fine-tuned LLM </vt:lpstr>
      <vt:lpstr>Fine-tuned LLM </vt:lpstr>
      <vt:lpstr>Fine-tuned LLM </vt:lpstr>
      <vt:lpstr>Fine-tuned LLM </vt:lpstr>
      <vt:lpstr>Fine-tuned LLM </vt:lpstr>
      <vt:lpstr>Fine-tuned LLM </vt:lpstr>
      <vt:lpstr>Fine-tuned LLM </vt:lpstr>
      <vt:lpstr>Fine-tuned LLM </vt:lpstr>
      <vt:lpstr>Fine-tuned LLM </vt:lpstr>
      <vt:lpstr>Fine-tuned LLM – Evaluation </vt:lpstr>
      <vt:lpstr>Fine-tuned LLM </vt:lpstr>
      <vt:lpstr>Fine-tuned LLM </vt:lpstr>
      <vt:lpstr>Fine-tuned LLM </vt:lpstr>
      <vt:lpstr>PowerPoint Presentation</vt:lpstr>
      <vt:lpstr>PowerPoint Presentation</vt:lpstr>
      <vt:lpstr>Outline</vt:lpstr>
      <vt:lpstr>PowerPoint Presentation</vt:lpstr>
      <vt:lpstr>Outline</vt:lpstr>
      <vt:lpstr>PowerPoint Presentation</vt:lpstr>
      <vt:lpstr>Thank you!</vt:lpstr>
    </vt:vector>
  </TitlesOfParts>
  <Company>University of Texas at Arlington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Mike Tackett</dc:creator>
  <cp:lastModifiedBy>Pujar, Pranav Umakant</cp:lastModifiedBy>
  <cp:revision>3</cp:revision>
  <cp:lastPrinted>2018-09-28T18:05:19Z</cp:lastPrinted>
  <dcterms:created xsi:type="dcterms:W3CDTF">2013-10-16T17:47:49Z</dcterms:created>
  <dcterms:modified xsi:type="dcterms:W3CDTF">2026-08-12T21:22:22Z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0x010100F423DD9F5215A04891EC56B612466B0F</vt:lpwstr>
  </property>
  <property fmtid="{D5CDD505-2E9C-101B-9397-08002B2CF9AE}" pid="3" name="MediaServiceImageTags">
    <vt:lpwstr/>
  </property>
</Properties>
</file>